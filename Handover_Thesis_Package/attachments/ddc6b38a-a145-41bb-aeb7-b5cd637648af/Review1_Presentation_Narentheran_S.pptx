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D3D"/>
                </a:solidFill>
                <a:latin typeface="Calibri"/>
              </a:rPr>
              <a:t>AI-Driven Transformation in Banking GRC: Implications for Workforce Management in UK and EU Banks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79476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dirty="0">
                <a:solidFill>
                  <a:srgbClr val="444A52"/>
                </a:solidFill>
                <a:latin typeface="Calibri"/>
              </a:rPr>
              <a:t>First Review Presentation</a:t>
            </a:r>
          </a:p>
          <a:p>
            <a:pPr>
              <a:spcAft>
                <a:spcPts val="600"/>
              </a:spcAft>
            </a:pPr>
            <a:r>
              <a:rPr sz="1600" dirty="0" err="1">
                <a:solidFill>
                  <a:srgbClr val="444A52"/>
                </a:solidFill>
                <a:latin typeface="Calibri"/>
              </a:rPr>
              <a:t>Narentheran</a:t>
            </a:r>
            <a:r>
              <a:rPr sz="1600" dirty="0">
                <a:solidFill>
                  <a:srgbClr val="444A52"/>
                </a:solidFill>
                <a:latin typeface="Calibri"/>
              </a:rPr>
              <a:t> S   |   Roll No: 2406OBA0034   |   Reg No: 69124100089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444A52"/>
                </a:solidFill>
                <a:latin typeface="Calibri"/>
              </a:rPr>
              <a:t>MBA (CY 2024 – BA &amp; GM), Semester IV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444A52"/>
                </a:solidFill>
                <a:latin typeface="Calibri"/>
              </a:rPr>
              <a:t>Guide: Dr. Ramya Jayaram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1. Need for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Banks in the UK and EU are investing heavily in AI across Governance, Risk and Compliance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monitoring, screening, risk scoring, control testing, reporting.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Returns depend less on the technology than on the readiness of the workforce operating alongside it.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This is a management problem, not a technical one: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Which GRC roles are redesigned, reduced or newly created?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What skills must be built internally or bought in the market?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How are teams structured and staffed?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How is employee trust in AI-enabled controls secured?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Regulation raises the stakes: DORA, the EU AI Act, PRA SS1/23 and the UK SM&amp;CR make staff competence and human oversight conditions of compliance, not HR preferences.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 bank that automates a control without capable people to challenge the output has not reduced its risk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it has relocated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F2D3D"/>
                </a:solidFill>
                <a:latin typeface="Calibri"/>
              </a:rPr>
              <a:t>2. Review of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79" y="1110828"/>
            <a:ext cx="11200821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Eight sources from management,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organisational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and financial regulation literature.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Technology acceptance and trust: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Davis (1989), MIS Quarterly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perceived usefulness and ease of use determine use; usefulness is the stronger determinant.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</a:t>
            </a:r>
            <a:r>
              <a:rPr sz="1500" b="0" dirty="0" err="1">
                <a:solidFill>
                  <a:srgbClr val="444A52"/>
                </a:solidFill>
                <a:latin typeface="Calibri"/>
              </a:rPr>
              <a:t>Glikson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&amp; Woolley (2020), Academy of Management Annals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integrating AI depends critically on workers’ trust; cognitive trust rests on transparency, reliability and immediacy.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Automation and the </a:t>
            </a:r>
            <a:r>
              <a:rPr sz="1800" b="1" dirty="0" err="1">
                <a:solidFill>
                  <a:srgbClr val="1F2D3D"/>
                </a:solidFill>
                <a:latin typeface="Calibri"/>
              </a:rPr>
              <a:t>recomposition</a:t>
            </a:r>
            <a:r>
              <a:rPr sz="1800" b="1" dirty="0">
                <a:solidFill>
                  <a:srgbClr val="1F2D3D"/>
                </a:solidFill>
                <a:latin typeface="Calibri"/>
              </a:rPr>
              <a:t> of work: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Autor (2015), Journal of Economic Perspectives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automation substitutes for some tasks and complements others; roles are recomposed, not simply eliminated.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Frey &amp; Osborne (2017), Technological Forecasting and Social Change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~47% of US employment at risk; routine, codifiable tasks most exposed.</a:t>
            </a:r>
            <a:endParaRPr lang="en-US" sz="1500" dirty="0">
              <a:solidFill>
                <a:srgbClr val="444A52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lang="en-US" sz="1800" b="1" dirty="0">
                <a:solidFill>
                  <a:srgbClr val="1F2D3D"/>
                </a:solidFill>
                <a:latin typeface="Calibri"/>
              </a:rPr>
              <a:t>Work, skills and </a:t>
            </a:r>
            <a:r>
              <a:rPr lang="en-US" sz="1800" b="1" dirty="0" err="1">
                <a:solidFill>
                  <a:srgbClr val="1F2D3D"/>
                </a:solidFill>
                <a:latin typeface="Calibri"/>
              </a:rPr>
              <a:t>organisational</a:t>
            </a:r>
            <a:r>
              <a:rPr lang="en-US" sz="1800" b="1" dirty="0">
                <a:solidFill>
                  <a:srgbClr val="1F2D3D"/>
                </a:solidFill>
                <a:latin typeface="Calibri"/>
              </a:rPr>
              <a:t> design:</a:t>
            </a:r>
          </a:p>
          <a:p>
            <a:pPr lvl="1" algn="l">
              <a:spcAft>
                <a:spcPts val="400"/>
              </a:spcAft>
            </a:pPr>
            <a:r>
              <a:rPr lang="en-US" sz="1500" b="0" dirty="0">
                <a:solidFill>
                  <a:srgbClr val="444A52"/>
                </a:solidFill>
                <a:latin typeface="Calibri"/>
              </a:rPr>
              <a:t>– Cascio &amp;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Montealegre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(2016), Annual Review of Organizational Psychology and Organizational Behavior - technological change as an HR and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organisational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design problem, with implications across six HR areas.</a:t>
            </a:r>
          </a:p>
          <a:p>
            <a:pPr lvl="1" algn="l">
              <a:spcAft>
                <a:spcPts val="400"/>
              </a:spcAft>
            </a:pPr>
            <a:r>
              <a:rPr lang="en-US" sz="1500" b="0" dirty="0">
                <a:solidFill>
                  <a:srgbClr val="444A52"/>
                </a:solidFill>
                <a:latin typeface="Calibri"/>
              </a:rPr>
              <a:t>– Brougham &amp;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Haar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(2018), Journal of Management &amp; Organization - STARA awareness (n=120): higher awareness lowers commitment and career satisfaction, raises turnover intention and cynicism.</a:t>
            </a:r>
          </a:p>
          <a:p>
            <a:pPr algn="l">
              <a:spcAft>
                <a:spcPts val="800"/>
              </a:spcAft>
            </a:pPr>
            <a:r>
              <a:rPr lang="en-US" sz="1800" b="1" dirty="0" err="1">
                <a:solidFill>
                  <a:srgbClr val="1F2D3D"/>
                </a:solidFill>
                <a:latin typeface="Calibri"/>
              </a:rPr>
              <a:t>RegTech</a:t>
            </a:r>
            <a:r>
              <a:rPr lang="en-US" sz="1800" b="1" dirty="0">
                <a:solidFill>
                  <a:srgbClr val="1F2D3D"/>
                </a:solidFill>
                <a:latin typeface="Calibri"/>
              </a:rPr>
              <a:t> and the restructuring of compliance:</a:t>
            </a:r>
          </a:p>
          <a:p>
            <a:pPr lvl="1" algn="l">
              <a:spcAft>
                <a:spcPts val="400"/>
              </a:spcAft>
            </a:pPr>
            <a:r>
              <a:rPr lang="en-US" sz="1500" b="0" dirty="0">
                <a:solidFill>
                  <a:srgbClr val="444A52"/>
                </a:solidFill>
                <a:latin typeface="Calibri"/>
              </a:rPr>
              <a:t>–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Arner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,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Barberis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&amp; Buckley (2017) -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RegTech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reconceptualises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financial regulation; compliance work itself is restructured, not merely supported.</a:t>
            </a:r>
          </a:p>
          <a:p>
            <a:pPr lvl="1" algn="l">
              <a:spcAft>
                <a:spcPts val="400"/>
              </a:spcAft>
            </a:pPr>
            <a:r>
              <a:rPr lang="en-US" sz="1500" b="0" dirty="0">
                <a:solidFill>
                  <a:srgbClr val="444A52"/>
                </a:solidFill>
                <a:latin typeface="Calibri"/>
              </a:rPr>
              <a:t>– Buckley,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Arner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,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Zetzsche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&amp; Weber (2020), Journal of Banking Regulation - four EU pillars unintentionally drove </a:t>
            </a:r>
            <a:r>
              <a:rPr lang="en-US" sz="1500" b="0" dirty="0" err="1">
                <a:solidFill>
                  <a:srgbClr val="444A52"/>
                </a:solidFill>
                <a:latin typeface="Calibri"/>
              </a:rPr>
              <a:t>RegTech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 adoption; regulation as driver, not only constraint.</a:t>
            </a:r>
          </a:p>
          <a:p>
            <a:pPr lvl="1" algn="l">
              <a:spcAft>
                <a:spcPts val="400"/>
              </a:spcAft>
            </a:pPr>
            <a:endParaRPr lang="en-US" sz="1500" dirty="0">
              <a:solidFill>
                <a:srgbClr val="444A5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 err="1">
                <a:solidFill>
                  <a:srgbClr val="1F2D3D"/>
                </a:solidFill>
                <a:latin typeface="Calibri"/>
              </a:rPr>
              <a:t>RegTech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literature explains how compliance and regulation are being transformed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but treats the workforce only implicitly.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Work and employment literature explains how automation recomposes jobs and how employees react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but cross-industry, not within regulated banking functions.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Acceptance and trust literature explains individual adoption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but, as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Glikson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and Woolley themselves note, rests largely on short-term experimental studies rather than longer-term, higher-stakes field environments.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The gap: how AI-driven transformation of GRC in UK and EU banks reshapes workforce management decisions on role design, skills and staffing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and how employees in a regulated, accountability-bound function adapt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44A52"/>
                </a:solidFill>
                <a:latin typeface="Calibri"/>
              </a:rPr>
              <a:t>Banking GRC under SM&amp;CR personal accountability is precisely the high-stakes field setting the trust literature identifies as under-researched.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3.1 Primary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To examine how AI-driven transformation in the GRC functions of UK and EU banks is reshaping workforce management decisions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role structure, skill requirements, staffing and employee adaptation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endParaRPr sz="1800" b="0" dirty="0">
              <a:solidFill>
                <a:srgbClr val="1F2D3D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and to develop a practical framework enabling banking management to plan GRC workforce transformation while sustaining compliance effectiveness and employee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3.2 Secondary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(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) Map which GRC activities are being automated or augmented by AI, and how this changes demand for compliance and risk roles.  [Autor; Frey &amp; Osborne]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(ii)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Analyse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how UK and EU requirements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DORA, EU AI Act, SS1/23, SM&amp;CR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shape role design, human oversight and competence obligations.  [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Arner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et al.; Buckley et al.]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(iii) Identify emerging skill gaps and reskilling strategies, and how management is addressing them.  [Cascio &amp;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Montealegre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]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(iv) Examine employee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behavioural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responses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perceived usefulness, trust, perceived replaceability, readiness to adapt.  [Davis; Brougham &amp;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Haar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;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Glikson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&amp; Woolley]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(v) Develop an integrated workforce transformation framework and recommendations for GRC and HR 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44A52"/>
                </a:solidFill>
                <a:latin typeface="Calibri"/>
              </a:rPr>
              <a:t>Each objective is derived from specific reviewed literature.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F2D3D"/>
                </a:solidFill>
                <a:latin typeface="Calibri"/>
              </a:rPr>
              <a:t>4. Methodology </a:t>
            </a:r>
            <a:r>
              <a:rPr lang="en-US" sz="2600" b="1" dirty="0">
                <a:solidFill>
                  <a:srgbClr val="1F2D3D"/>
                </a:solidFill>
                <a:latin typeface="Calibri"/>
              </a:rPr>
              <a:t>-</a:t>
            </a:r>
            <a:r>
              <a:rPr sz="2600" b="1" dirty="0">
                <a:solidFill>
                  <a:srgbClr val="1F2D3D"/>
                </a:solidFill>
                <a:latin typeface="Calibri"/>
              </a:rPr>
              <a:t> Data Requirement and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Mixed-methods design, qualitatively dominant.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Data required: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Evidence of AI adoption in GRC activities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Evidence of role, structure and skill change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UK and EU regulatory requirements on competence and human oversight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Employee and managerial perceptions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Secondary sources (all publicly available):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Annual reports, Pillar 3 and operational resilience disclosures of 8–10 large UK and EU banks over a common three-year window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DORA, EU AI Act, EBA and ECB publications, PRA SS1/23, FCA publications on AI and the SM&amp;CR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Publicly advertised GRC job postings, coded for stated skill requirements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observable evidence of changing skill demand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Publicly available industry surveys on AI adoption and compliance workforce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F2D3D"/>
                </a:solidFill>
                <a:latin typeface="Calibri"/>
              </a:rPr>
              <a:t>4. Methodology </a:t>
            </a:r>
            <a:r>
              <a:rPr lang="en-US" sz="2600" b="1" dirty="0">
                <a:solidFill>
                  <a:srgbClr val="1F2D3D"/>
                </a:solidFill>
                <a:latin typeface="Calibri"/>
              </a:rPr>
              <a:t>-</a:t>
            </a:r>
            <a:r>
              <a:rPr sz="2600" b="1" dirty="0">
                <a:solidFill>
                  <a:srgbClr val="1F2D3D"/>
                </a:solidFill>
                <a:latin typeface="Calibri"/>
              </a:rPr>
              <a:t> Instruments, Sampling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2D3D"/>
                </a:solidFill>
                <a:latin typeface="Calibri"/>
              </a:rPr>
              <a:t>Instruments: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Semi-structured interview guide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~10 open questions across AI use, task and role change, skills, and team response</a:t>
            </a:r>
          </a:p>
          <a:p>
            <a:pPr lvl="1" algn="l">
              <a:spcAft>
                <a:spcPts val="400"/>
              </a:spcAft>
            </a:pPr>
            <a:r>
              <a:rPr sz="1500" b="0" dirty="0">
                <a:solidFill>
                  <a:srgbClr val="444A52"/>
                </a:solidFill>
                <a:latin typeface="Calibri"/>
              </a:rPr>
              <a:t>– Structured questionnaire </a:t>
            </a:r>
            <a:r>
              <a:rPr lang="en-US" sz="1500" b="0" dirty="0">
                <a:solidFill>
                  <a:srgbClr val="444A52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~24 five-point Likert items, derived from interview themes, with constructs adapted from Davis (1989), Brougham &amp; </a:t>
            </a:r>
            <a:r>
              <a:rPr sz="1500" b="0" dirty="0" err="1">
                <a:solidFill>
                  <a:srgbClr val="444A52"/>
                </a:solidFill>
                <a:latin typeface="Calibri"/>
              </a:rPr>
              <a:t>Haar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(2018) and </a:t>
            </a:r>
            <a:r>
              <a:rPr sz="1500" b="0" dirty="0" err="1">
                <a:solidFill>
                  <a:srgbClr val="444A52"/>
                </a:solidFill>
                <a:latin typeface="Calibri"/>
              </a:rPr>
              <a:t>Glikson</a:t>
            </a:r>
            <a:r>
              <a:rPr sz="1500" b="0" dirty="0">
                <a:solidFill>
                  <a:srgbClr val="444A52"/>
                </a:solidFill>
                <a:latin typeface="Calibri"/>
              </a:rPr>
              <a:t> &amp; Woolley (2020)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Sampling framework: purposive with snowball referral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risk, compliance, audit, financial crime, GRC technology and HR roles in UK and EU banking entities; minimum two years’ experience and direct exposure to AI-enabled GRC processes.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Sample size: 12 semi-structured interviews to thematic saturation; 30 questionnaire responses as validation of the themes.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Tools: thematic analysis; content analysis of disclosures and job postings; descriptive statistics in Excel or SPSS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 or python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; reliability via Cronbach’s alpha; triangulation of the three evidence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44A52"/>
                </a:solidFill>
                <a:latin typeface="Calibri"/>
              </a:rPr>
              <a:t>Ethics: voluntary participation, informed consent, full anonymity, and no confidential, proprietary or client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5. Work Done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Review of literature completed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eight sources obtained in full text and reviewed, written up in narrative form, and the research gap identified.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Objectives derived from the literature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primary and five secondary objectives, each traceable to specific reviewed sources.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Research design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finalised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data requirements, sampling framework, sample sizes and analysis tools established.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Secondary data sources identified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bank set, disclosure types and reporting window, regulatory sources and job-posting data, all confirmed publicly accessible.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Research instruments drafted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interview guide and questionnaire, with constructs adapted from the reviewed literature.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6. Work To Be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Collect the primary data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by early September 2026: conduct the 12 interviews and circulate the questionnaire for 30 responses.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Assemble and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analyse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the secondary data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by early September 2026: content analysis of disclosures, regulatory publications and job postings.</a:t>
            </a:r>
          </a:p>
          <a:p>
            <a:pPr algn="l">
              <a:spcAft>
                <a:spcPts val="800"/>
              </a:spcAft>
            </a:pPr>
            <a:r>
              <a:rPr sz="1800" b="0" dirty="0" err="1">
                <a:solidFill>
                  <a:srgbClr val="1F2D3D"/>
                </a:solidFill>
                <a:latin typeface="Calibri"/>
              </a:rPr>
              <a:t>Analyse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the primary data and submit the Second Review report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by 23 September 2026: thematic coding, descriptive statistics, reliability, and triangulation.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Develop the outputs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during October 2026: GRC role-impact map, workforce transformation framework, and recommendations.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Complete the project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by 26 October 2026, with the viva voce in November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8. Expected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Analysis of how AI adoption is changing GRC activities, role structures and skill demand in UK and EU banks.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Mapping of DORA, the EU AI Act, SS1/23 and the SM&amp;CR to workforce competence and human oversight obligations.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GRC role-impact map </a:t>
            </a:r>
            <a:r>
              <a:rPr lang="en-US" sz="1800" b="0" dirty="0">
                <a:solidFill>
                  <a:srgbClr val="1F2D3D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activities and roles classified as automated, augmented or newly created.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Assessment of skill gaps and reskilling strategies, including build-versus-buy for GRC talent.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Analysis of employee </a:t>
            </a:r>
            <a:r>
              <a:rPr sz="1800" b="0" dirty="0" err="1">
                <a:solidFill>
                  <a:srgbClr val="1F2D3D"/>
                </a:solidFill>
                <a:latin typeface="Calibri"/>
              </a:rPr>
              <a:t>behavioural</a:t>
            </a:r>
            <a:r>
              <a:rPr sz="1800" b="0" dirty="0">
                <a:solidFill>
                  <a:srgbClr val="1F2D3D"/>
                </a:solidFill>
                <a:latin typeface="Calibri"/>
              </a:rPr>
              <a:t> responses and their implications for adoption and retention.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Integrated workforce transformation framework linking AI adoption to role redesign, reskilling and employee adaptation.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1F2D3D"/>
                </a:solidFill>
                <a:latin typeface="Calibri"/>
              </a:rPr>
              <a:t>Evidence-based recommendations for GRC and HR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Arner, D. W., Barberis, J., &amp; Buckley, R. P. (2017). FinTech, RegTech, and the reconceptualization of financial regulation. Northwestern Journal of International Law &amp; Business, 37(3), 371–413.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Autor, D. H. (2015). Why are there still so many jobs? Journal of Economic Perspectives, 29(3), 3–30.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Brougham, D., &amp; Haar, J. (2018). Smart technology, artificial intelligence, robotics, and algorithms (STARA). Journal of Management &amp; Organization, 24(2), 239–257.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Buckley, R. P., Arner, D. W., Zetzsche, D. A., &amp; Weber, R. H. (2020). The road to RegTech. Journal of Banking Regulation, 21(1), 26–36.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Cascio, W. F., &amp; Montealegre, R. (2016). How technology is changing work and organizations. Annual Review of Organizational Psychology and Organizational Behavior, 3(1), 349–375.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Davis, F. D. (1989). Perceived usefulness, perceived ease of use, and user acceptance of information technology. MIS Quarterly, 13(3), 319–340.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Frey, C. B., &amp; Osborne, M. A. (2017). The future of employment. Technological Forecasting and Social Change, 114, 254–280.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Glikson, E., &amp; Woolley, A. W. (2020). Human trust in artificial intelligence. Academy of Management Annals, 14(2), 627–660.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D3D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794760"/>
            <a:ext cx="10881360" cy="1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4A52"/>
                </a:solidFill>
                <a:latin typeface="Calibri"/>
              </a:rPr>
              <a:t>Questions and guidance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1772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Deep Dreamer</cp:lastModifiedBy>
  <cp:revision>5</cp:revision>
  <dcterms:created xsi:type="dcterms:W3CDTF">2013-01-27T09:14:16Z</dcterms:created>
  <dcterms:modified xsi:type="dcterms:W3CDTF">2026-08-22T06:16:09Z</dcterms:modified>
  <cp:category/>
</cp:coreProperties>
</file>