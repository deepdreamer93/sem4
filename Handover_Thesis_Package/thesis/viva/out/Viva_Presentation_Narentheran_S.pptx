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is titled "AI-Driven Transformation in Banking GRC: Implications for Workforce Management in UK and EU Banks", carried out under the guidance of Dr. Ramya J. In one line: I studied what happens to the people in banks' governance, risk and compliance functions when AI comes in, and what management should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why this matters. The Bank of England and FCA survey of 2024 found that 75% of UK financial firms already use AI. But look at the number in red: 46% of firms say they only partly understand the AI they use, and 57% say talent and skills are a constraint. So adoption is not the problem. The problem is that the technology is moving faster than the people who have to govern it. In risk and compliance that gap is dangerous, because these are the people who answer to regulators.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AI takes over routine monitoring and reporting, managers face four decisions: which roles to redesign, reduce or create; whether to build, buy or borrow skills; how to shape the team; and how to get staff to trust AI appropriately, neither blindly nor not at all. On the right are four regulations. DORA requires board and staff ICT competence. The EU AI Act requires AI literacy and human oversight. The PRA's SS1/23 requires skilled model validators, and SM&amp;CR makes named senior managers personally accountable. Together they make competence and human oversight a legal obligation, not just an HR preference. A bank that automates a control without people who can challenge it hasn't removed the risk; it has moved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primary objective was to examine how AI is reshaping workforce decisions in GRC (roles, skills, staffing and employee adaptation) and to build a practical framework for management. The five secondary objectives follow from it: which activities are automated or augmented, how regulation shapes oversight and competence, where the skill gaps are, how employees respond, and finally, in red, the framework. The first four build the evidence; the fifth turns it into something a bank can use.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reviewed eight core sources in three streams. First, technology acceptance and trust: Davis's Technology Acceptance Model says people use technology they find useful and easy to use, and Glikson and Woolley show that trust in AI depends on transparency and reliability. Second, automation and work: Autor argues that automation replaces routine tasks but complements judgement, so jobs are recomposed rather than eliminated; Frey and Osborne show routine work is most exposed; Cascio and Montealegre frame technology change as an HR and organisation-design problem; and Brougham and Haar show that employees who feel replaceable become less committed and more likely to leave. Third, RegTech: Arner and colleagues, and Buckley and colleagues, show that technology and regulation are reshaping compliance work itself. The gap, in red, is the overlap: none of them studies workforce management inside regulated banking GRC.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that review I set four propositions. P1, from Autor and Frey and Osborne: routine GRC tasks are automated first and judgement work is augmented. P2, from Buckley and colleagues and the regulations: regulation turns competence and oversight into obligations. P3, from Cascio and Montealegre: AI needs a hybrid profile of technical and regulatory skills. P4 is marked "emergent" because it was not in my original plan. It came out of the interviews: losing experienced people's knowledge is a hidden risk of restructuring.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design has three steps. Step one, listen: written interviews with GRC practitioners and senior professionals gave ten themes, and a questionnaire measured how strongly practitioners agree with them. Step two, test: I turned each testable theme into a hypothesis and tested it on public industry data. Step three, compare: I triangulated everything against the four propositions and built the framework. The key point is this. The interviews decided *what* to test; the public data showed *whether it holds* across the industry. The public datasets are independent sources and were not produced from my interviews. This is a recognised design called sequential exploratory mixed methods: qualitative first, quantitative second.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primary side, the interview form had eleven open questions in five sections, done in writing because the respondents were senior and busy. The questionnaire had 25 Likert items in seven constructs, adapted from Davis, Glikson and Woolley, and Brougham and Haar. Sampling was purposive with snowball referral, because I needed people with real exposure to AI in GRC. On the secondary side, four public datasets each answer a different question. D1, Eurostat, covers the economy: AI adoption in 27 EU countries. D2 covers the banks: annual reports of large UK and EU banks for FY2022 and FY2025, with 19 banks having both years. D3 covers the job market: 163 UK GRC job adverts. D4 covers the profession: published surveys from the Bank of England and FCA, the IIA and Thomson Reuters.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bridge in my design. Take the first row. Practitioners said AI is spreading but still pilot-heavy, and the questionnaire showed strong agreement that roles will change, at 4.33. That became H5a and H8: is AI adoption actually rising? Row two: routine work is being absorbed, which became H10a on AI mentions in bank reports and H6 on the skill mix in job adverts. Practitioners said humans must be able to challenge AI, which became H10b: are banks setting up AI governance bodies? Regulation is felt unevenly, which became H10d: do UK and EU banks differ? Hybrid skills became H5b, H6 and H7. And the row in red: practitioners rated training adequacy lowest, at 3.33, which became H9 and H10c: is reskilling keeping up with AI? Every test exists because a theme pointed to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chose each test by asking what the data looks like. Where the same countries or banks are measured twice, I used a paired t-test, with a Wilcoxon signed-rank test as a check that doesn't assume normality, because bank data is small and skewed. Friedman covers all four Eurostat years. Where the outcome is yes or no for the same banks in two years, does the bank name an AI governance body, I used the exact McNemar test. For two independent, skewed groups, UK versus EU banks or salaries, I used Mann–Whitney U. For yes/no skill flags across two groups of adverts, I used chi-square, or Fisher where counts are small, with a Holm correction because I tested six skills at once. Where I only have published percentages, I used z-tests. For the strength of a link, I used Pearson, Spearman and a simple regression. Finally, in red: the questionnaire is descriptive only. On a small purposive sample, significance tests are not meaningful, so I compare means with the neutral point of 3 and let the public data carry the statistics.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findings, starting with what practitioners told me. Three quotes capture it. "GRC testing roles have disappeared": routine execution work goes first. "C-level execs really do not understand what the AI is, and thus are likely to simply trust it": the people formally accountable may understand AI least, which is a real risk under SM&amp;CR. And "too much business knowledge exists in people's heads… prioritise knowledge capture before any significant workforce reductions". That last quote became proposition P4. Underneath are the ten themes grouped by objective.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seven constructs sit above the neutral point of 3. Ease of use is highest, at 4.00. But the gaps tell the real story. On the right: the tools are easy to use, 4.33, but understanding what the tool is doing is only 3.33. That is a usability–transparency gap, exactly the transparency dimension of trust in Glikson and Woolley. And while practitioners say data skills are more important, at 4.00, training adequacy is the lowest skills item, at 3.33. I report these as means and standard deviations only, descriptive and not generalised.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public data confirm the first theme from three independent directions. On the left, Eurostat: AI adoption among large EU firms nearly doubled, from 27.5% in 2021 to 53.6% in 2025, and it rose in all 27 countries, p below 0.0001. UK financial firms using AI rose from 58% to 75%, p = 0.008. On the right, each grey line is one bank. AI mentions per 10,000 words rose about tenfold between FY2022 and FY2025, and in every one of the 19 paired banks. That is why the Wilcoxon statistic is at its maximum possible value of 190. Three sources, one direction.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regulation and governance, banks are clearly building structures. The share of paired banks naming a dedicated AI governance body (an AI committee, a chief data or AI officer, a responsible-AI office) went from 5% to 42%. Seven banks added one and none dropped one; the exact McNemar test gives p = 0.016. Mentions of the AI Act, DORA and SS1/23 went from almost zero to routine. But in red: broader AI-governance wording, such as human oversight, explainability and model risk, did not rise significantly, p about 0.07. And UK banks talk about AI and AI governance more than EU banks, consistent with the UK's accountability regime. So structures are ahead of practice, which matches the practitioner view that oversight exists on paper but is not yet embedded.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job adverts, AI-exposed roles ask for data skills about twice as often, 51% versus 25%; automation nearly four times as often; and cyber skills more often. But they ask for regulatory skills far less often, 40% versus 78%. All of these are significant after Holm correction. That is the hybrid gap: employers hire technical profiles for AI work, while practitioners and regulators say regulatory judgement still matters. Roles with AI in the title pay a median of £90,000 against £60,000, but that group is small, so I treat it as indicative. And in red: bank reports' reskilling mentions are not linked to AI intensity, with a Spearman rho of minus 0.16, not significant. AI talk has grown far faster than reskilling talk.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full scorecard. Most hypotheses are supported: adoption, the ICT-skills link, the skill mix, the governance bodies and the rise in AI, reskilling and regulation disclosure. Four are partly supported: conditional trust, the pay premium, the skills constraint and the UK–EU difference. Two are not supported, in red: AI-governance wording did not rise, and reskilling is not linked to AI intensity. I want to stress that the unsupported results are findings too. They show exactly where banks are lagging.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Bringing the three streams together: P1, routine work automated first, is supported by the interviews, the job descriptions and the adoption tests. P2, regulation creating obligations, is supported in regulatory texts and governance structures, but only partly in day-to-day practice. P3, the hybrid skill profile, is supported by the interviews, the adverts and the surveys. P4, knowledge loss, is supported qualitatively, because public data cannot measure tacit knowledge directly, so I present it as an emergent contribution. Where practitioners and public data agree, I'm confident; where only practitioners speak, I say so.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output: the GRC role-impact map. Automated: data consolidation, reconciliation and first-level alert triage. Augmented: investigation, KYC judgement and model validation. Newly created: AI governance leads, AI model-risk validators and supervisors of AI agents. And in red, human-retained: interpreting regulatory intent, challenging decisions and final accountability. Jobs are recomposed, not simply removed, which is Autor's argument, now observed inside a regulated bank.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output, and the answer to objective five, is a seven-stage framework: diagnose which activities are exposed; protect knowledge; redesign roles; build oversight competence; reskill and source through build, buy or borrow; secure trust and adoption; and lead change and retain talent. The most important design choice is the order, shown in red. Knowledge protection comes before any restructuring, because the experts whose routine work is automated are the same people needed to validate the AI. Three enablers run across all stages: data quality, a clear accountability map, and tracking workforce indicators alongside AI indicators.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recommendations go to three audiences. GRC leaders should map exposure at the level of activities, not job titles, and capture knowledge before cutting roles. HR should close the training gap with role-tiered AI literacy and create visible career paths for junior staff. Boards and senior managers should close the AI-understanding gap at the top and pair every AI plan with a people plan. On limits: the primary sample is small and purposive, so it supports analytical rather than statistical generalisation; disclosure counts measure words, not actions; I have 19 paired banks and one UK job board. Future work should use larger surveys, track banks over time and add EU job data. My conclusion: AI in GRC succeeds only if the people who answer for it can understand and challenge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I'm happy to take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if asked which banks were included or how mentions were counted. Nineteen banks have both years, three have FY2025 only and one has FY2022 only; six were not coded because no full English report was available or the site blocked automated access. Counting used fixed keyword lists, divided by report length and multiplied by 10,000.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if asked for exact statistics. Point out that the t-test and Wilcoxon agree on every measure, and that the Holm correction was applied to the four UK–EU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if asked about individual items. Point to items 11 vs 12 (usability vs transparency), 15 vs 17 (H4) and 23 (training).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if asked about P2 or the regulatory analysis. Each regulation is linked to who must know what, and what evidence the bank must hold.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if asked about sample size or the absence of Cronbach's alpha. A small purposive sample cannot support significance tests or reliability coefficients, so the design uses it to validate themes. The public datasets provide large, independent samples for the statistics.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3" name="TextBox 2"/>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1</a:t>
            </a:r>
          </a:p>
        </p:txBody>
      </p:sp>
      <p:sp>
        <p:nvSpPr>
          <p:cNvPr id="4" name="TextBox 3"/>
          <p:cNvSpPr txBox="1"/>
          <p:nvPr/>
        </p:nvSpPr>
        <p:spPr>
          <a:xfrm>
            <a:off x="822960" y="1463040"/>
            <a:ext cx="10515600" cy="1828800"/>
          </a:xfrm>
          <a:prstGeom prst="rect">
            <a:avLst/>
          </a:prstGeom>
          <a:noFill/>
        </p:spPr>
        <p:txBody>
          <a:bodyPr wrap="square" anchor="t" lIns="45720" rIns="45720">
            <a:spAutoFit/>
          </a:bodyPr>
          <a:lstStyle/>
          <a:p>
            <a:pPr algn="l">
              <a:spcAft>
                <a:spcPts val="800"/>
              </a:spcAft>
            </a:pPr>
            <a:r>
              <a:rPr sz="3600" b="1">
                <a:solidFill>
                  <a:srgbClr val="1A1A1A"/>
                </a:solidFill>
                <a:latin typeface="Arial"/>
              </a:rPr>
              <a:t>AI-Driven Transformation in Banking GRC:
Implications for Workforce Management in UK and EU Banks</a:t>
            </a:r>
          </a:p>
        </p:txBody>
      </p:sp>
      <p:sp>
        <p:nvSpPr>
          <p:cNvPr id="5" name="Rectangle 4"/>
          <p:cNvSpPr/>
          <p:nvPr/>
        </p:nvSpPr>
        <p:spPr>
          <a:xfrm>
            <a:off x="868680" y="3429000"/>
            <a:ext cx="2011680" cy="640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6" name="TextBox 5"/>
          <p:cNvSpPr txBox="1"/>
          <p:nvPr/>
        </p:nvSpPr>
        <p:spPr>
          <a:xfrm>
            <a:off x="822960" y="3749039"/>
            <a:ext cx="10515600" cy="2194560"/>
          </a:xfrm>
          <a:prstGeom prst="rect">
            <a:avLst/>
          </a:prstGeom>
          <a:noFill/>
        </p:spPr>
        <p:txBody>
          <a:bodyPr wrap="square" anchor="t" lIns="45720" rIns="45720">
            <a:spAutoFit/>
          </a:bodyPr>
          <a:lstStyle/>
          <a:p>
            <a:pPr algn="l">
              <a:spcAft>
                <a:spcPts val="800"/>
              </a:spcAft>
            </a:pPr>
            <a:r>
              <a:rPr sz="1800" b="1">
                <a:solidFill>
                  <a:srgbClr val="6E6E6E"/>
                </a:solidFill>
                <a:latin typeface="Arial"/>
              </a:rPr>
              <a:t>Narentheran S</a:t>
            </a:r>
            <a:r>
              <a:rPr sz="1800" b="0">
                <a:solidFill>
                  <a:srgbClr val="6E6E6E"/>
                </a:solidFill>
                <a:latin typeface="Arial"/>
              </a:rPr>
              <a:t>  |  Roll No. 2406OBA0034  |  Reg. No. 69124100089</a:t>
            </a:r>
          </a:p>
          <a:p>
            <a:pPr algn="l">
              <a:spcAft>
                <a:spcPts val="800"/>
              </a:spcAft>
            </a:pPr>
            <a:r>
              <a:rPr sz="1800" b="0">
                <a:solidFill>
                  <a:srgbClr val="6E6E6E"/>
                </a:solidFill>
                <a:latin typeface="Arial"/>
              </a:rPr>
              <a:t>Online MBA, Centre for Distance and Online Education, Anna University, Chennai</a:t>
            </a:r>
          </a:p>
          <a:p>
            <a:pPr algn="l">
              <a:spcAft>
                <a:spcPts val="800"/>
              </a:spcAft>
            </a:pPr>
            <a:r>
              <a:rPr sz="1800" b="0">
                <a:solidFill>
                  <a:srgbClr val="6E6E6E"/>
                </a:solidFill>
                <a:latin typeface="Arial"/>
              </a:rPr>
              <a:t>Guide: Dr. RAMYA J, Associate Professor &amp; Head, Department of Management Studies</a:t>
            </a:r>
          </a:p>
          <a:p>
            <a:pPr algn="l">
              <a:spcAft>
                <a:spcPts val="800"/>
              </a:spcAft>
            </a:pPr>
            <a:r>
              <a:rPr sz="1800" b="0">
                <a:solidFill>
                  <a:srgbClr val="6E6E6E"/>
                </a:solidFill>
                <a:latin typeface="Arial"/>
              </a:rPr>
              <a:t>Viva voce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AI is entering bank risk and compliance faster than people can govern it</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2</a:t>
            </a:r>
          </a:p>
        </p:txBody>
      </p:sp>
      <p:sp>
        <p:nvSpPr>
          <p:cNvPr id="6" name="TextBox 5"/>
          <p:cNvSpPr txBox="1"/>
          <p:nvPr/>
        </p:nvSpPr>
        <p:spPr>
          <a:xfrm>
            <a:off x="731520" y="1828800"/>
            <a:ext cx="3291840" cy="1371600"/>
          </a:xfrm>
          <a:prstGeom prst="rect">
            <a:avLst/>
          </a:prstGeom>
          <a:noFill/>
        </p:spPr>
        <p:txBody>
          <a:bodyPr wrap="square" anchor="t" lIns="45720" rIns="45720">
            <a:spAutoFit/>
          </a:bodyPr>
          <a:lstStyle/>
          <a:p>
            <a:pPr algn="ctr">
              <a:spcAft>
                <a:spcPts val="800"/>
              </a:spcAft>
            </a:pPr>
            <a:r>
              <a:rPr sz="8000" b="1">
                <a:solidFill>
                  <a:srgbClr val="1A1A1A"/>
                </a:solidFill>
                <a:latin typeface="Arial"/>
              </a:rPr>
              <a:t>75%</a:t>
            </a:r>
          </a:p>
        </p:txBody>
      </p:sp>
      <p:sp>
        <p:nvSpPr>
          <p:cNvPr id="7" name="TextBox 6"/>
          <p:cNvSpPr txBox="1"/>
          <p:nvPr/>
        </p:nvSpPr>
        <p:spPr>
          <a:xfrm>
            <a:off x="731520" y="3383280"/>
            <a:ext cx="3291840" cy="1097280"/>
          </a:xfrm>
          <a:prstGeom prst="rect">
            <a:avLst/>
          </a:prstGeom>
          <a:noFill/>
        </p:spPr>
        <p:txBody>
          <a:bodyPr wrap="square" anchor="t" lIns="45720" rIns="45720">
            <a:spAutoFit/>
          </a:bodyPr>
          <a:lstStyle/>
          <a:p>
            <a:pPr algn="ctr">
              <a:spcAft>
                <a:spcPts val="800"/>
              </a:spcAft>
            </a:pPr>
            <a:r>
              <a:rPr sz="2000" b="0">
                <a:solidFill>
                  <a:srgbClr val="6E6E6E"/>
                </a:solidFill>
                <a:latin typeface="Arial"/>
              </a:rPr>
              <a:t>of UK financial firms
already use AI</a:t>
            </a:r>
          </a:p>
        </p:txBody>
      </p:sp>
      <p:sp>
        <p:nvSpPr>
          <p:cNvPr id="8" name="TextBox 7"/>
          <p:cNvSpPr txBox="1"/>
          <p:nvPr/>
        </p:nvSpPr>
        <p:spPr>
          <a:xfrm>
            <a:off x="4389120" y="1828800"/>
            <a:ext cx="3291840" cy="1371600"/>
          </a:xfrm>
          <a:prstGeom prst="rect">
            <a:avLst/>
          </a:prstGeom>
          <a:noFill/>
        </p:spPr>
        <p:txBody>
          <a:bodyPr wrap="square" anchor="t" lIns="45720" rIns="45720">
            <a:spAutoFit/>
          </a:bodyPr>
          <a:lstStyle/>
          <a:p>
            <a:pPr algn="ctr">
              <a:spcAft>
                <a:spcPts val="800"/>
              </a:spcAft>
            </a:pPr>
            <a:r>
              <a:rPr sz="8000" b="1">
                <a:solidFill>
                  <a:srgbClr val="C00000"/>
                </a:solidFill>
                <a:latin typeface="Arial"/>
              </a:rPr>
              <a:t>46%</a:t>
            </a:r>
          </a:p>
        </p:txBody>
      </p:sp>
      <p:sp>
        <p:nvSpPr>
          <p:cNvPr id="9" name="TextBox 8"/>
          <p:cNvSpPr txBox="1"/>
          <p:nvPr/>
        </p:nvSpPr>
        <p:spPr>
          <a:xfrm>
            <a:off x="4389120" y="3383280"/>
            <a:ext cx="3291840" cy="1097280"/>
          </a:xfrm>
          <a:prstGeom prst="rect">
            <a:avLst/>
          </a:prstGeom>
          <a:noFill/>
        </p:spPr>
        <p:txBody>
          <a:bodyPr wrap="square" anchor="t" lIns="45720" rIns="45720">
            <a:spAutoFit/>
          </a:bodyPr>
          <a:lstStyle/>
          <a:p>
            <a:pPr algn="ctr">
              <a:spcAft>
                <a:spcPts val="800"/>
              </a:spcAft>
            </a:pPr>
            <a:r>
              <a:rPr sz="2000" b="0">
                <a:solidFill>
                  <a:srgbClr val="1A1A1A"/>
                </a:solidFill>
                <a:latin typeface="Arial"/>
              </a:rPr>
              <a:t>have only a partial understanding
of the AI they use</a:t>
            </a:r>
          </a:p>
        </p:txBody>
      </p:sp>
      <p:sp>
        <p:nvSpPr>
          <p:cNvPr id="10" name="TextBox 9"/>
          <p:cNvSpPr txBox="1"/>
          <p:nvPr/>
        </p:nvSpPr>
        <p:spPr>
          <a:xfrm>
            <a:off x="8046720" y="1828800"/>
            <a:ext cx="3291840" cy="1371600"/>
          </a:xfrm>
          <a:prstGeom prst="rect">
            <a:avLst/>
          </a:prstGeom>
          <a:noFill/>
        </p:spPr>
        <p:txBody>
          <a:bodyPr wrap="square" anchor="t" lIns="45720" rIns="45720">
            <a:spAutoFit/>
          </a:bodyPr>
          <a:lstStyle/>
          <a:p>
            <a:pPr algn="ctr">
              <a:spcAft>
                <a:spcPts val="800"/>
              </a:spcAft>
            </a:pPr>
            <a:r>
              <a:rPr sz="8000" b="1">
                <a:solidFill>
                  <a:srgbClr val="1A1A1A"/>
                </a:solidFill>
                <a:latin typeface="Arial"/>
              </a:rPr>
              <a:t>57%</a:t>
            </a:r>
          </a:p>
        </p:txBody>
      </p:sp>
      <p:sp>
        <p:nvSpPr>
          <p:cNvPr id="11" name="TextBox 10"/>
          <p:cNvSpPr txBox="1"/>
          <p:nvPr/>
        </p:nvSpPr>
        <p:spPr>
          <a:xfrm>
            <a:off x="8046720" y="3383280"/>
            <a:ext cx="3291840" cy="1097280"/>
          </a:xfrm>
          <a:prstGeom prst="rect">
            <a:avLst/>
          </a:prstGeom>
          <a:noFill/>
        </p:spPr>
        <p:txBody>
          <a:bodyPr wrap="square" anchor="t" lIns="45720" rIns="45720">
            <a:spAutoFit/>
          </a:bodyPr>
          <a:lstStyle/>
          <a:p>
            <a:pPr algn="ctr">
              <a:spcAft>
                <a:spcPts val="800"/>
              </a:spcAft>
            </a:pPr>
            <a:r>
              <a:rPr sz="2000" b="0">
                <a:solidFill>
                  <a:srgbClr val="6E6E6E"/>
                </a:solidFill>
                <a:latin typeface="Arial"/>
              </a:rPr>
              <a:t>say talent and skills
are a constraint</a:t>
            </a:r>
          </a:p>
        </p:txBody>
      </p:sp>
      <p:sp>
        <p:nvSpPr>
          <p:cNvPr id="12" name="TextBox 11"/>
          <p:cNvSpPr txBox="1"/>
          <p:nvPr/>
        </p:nvSpPr>
        <p:spPr>
          <a:xfrm>
            <a:off x="731520" y="5029200"/>
            <a:ext cx="10789920" cy="731520"/>
          </a:xfrm>
          <a:prstGeom prst="rect">
            <a:avLst/>
          </a:prstGeom>
          <a:noFill/>
        </p:spPr>
        <p:txBody>
          <a:bodyPr wrap="square" anchor="t" lIns="45720" rIns="45720">
            <a:spAutoFit/>
          </a:bodyPr>
          <a:lstStyle/>
          <a:p>
            <a:pPr algn="ctr">
              <a:spcAft>
                <a:spcPts val="800"/>
              </a:spcAft>
            </a:pPr>
            <a:r>
              <a:rPr sz="2400" b="0">
                <a:solidFill>
                  <a:srgbClr val="1A1A1A"/>
                </a:solidFill>
                <a:latin typeface="Arial"/>
              </a:rPr>
              <a:t>Adoption is not the problem. </a:t>
            </a:r>
            <a:r>
              <a:rPr sz="2400" b="1">
                <a:solidFill>
                  <a:srgbClr val="1A1A1A"/>
                </a:solidFill>
                <a:latin typeface="Arial"/>
              </a:rPr>
              <a:t>Understanding and skills are.</a:t>
            </a:r>
          </a:p>
        </p:txBody>
      </p:sp>
      <p:sp>
        <p:nvSpPr>
          <p:cNvPr id="13" name="TextBox 12"/>
          <p:cNvSpPr txBox="1"/>
          <p:nvPr/>
        </p:nvSpPr>
        <p:spPr>
          <a:xfrm>
            <a:off x="731520" y="5806440"/>
            <a:ext cx="10789920" cy="365760"/>
          </a:xfrm>
          <a:prstGeom prst="rect">
            <a:avLst/>
          </a:prstGeom>
          <a:noFill/>
        </p:spPr>
        <p:txBody>
          <a:bodyPr wrap="square" anchor="t" lIns="45720" rIns="45720">
            <a:spAutoFit/>
          </a:bodyPr>
          <a:lstStyle/>
          <a:p>
            <a:pPr algn="ctr">
              <a:spcAft>
                <a:spcPts val="800"/>
              </a:spcAft>
            </a:pPr>
            <a:r>
              <a:rPr sz="1100" b="0">
                <a:solidFill>
                  <a:srgbClr val="6E6E6E"/>
                </a:solidFill>
                <a:latin typeface="Arial"/>
              </a:rPr>
              <a:t>Source: Bank of England &amp; FCA (2024), Artificial intelligence in UK financial services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This is a management problem, and regulation makes it urgent</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3</a:t>
            </a:r>
          </a:p>
        </p:txBody>
      </p:sp>
      <p:sp>
        <p:nvSpPr>
          <p:cNvPr id="6" name="TextBox 5"/>
          <p:cNvSpPr txBox="1"/>
          <p:nvPr/>
        </p:nvSpPr>
        <p:spPr>
          <a:xfrm>
            <a:off x="548640" y="1463040"/>
            <a:ext cx="5943600" cy="457200"/>
          </a:xfrm>
          <a:prstGeom prst="rect">
            <a:avLst/>
          </a:prstGeom>
          <a:noFill/>
        </p:spPr>
        <p:txBody>
          <a:bodyPr wrap="square" anchor="t" lIns="45720" rIns="45720">
            <a:spAutoFit/>
          </a:bodyPr>
          <a:lstStyle/>
          <a:p>
            <a:pPr algn="l">
              <a:spcAft>
                <a:spcPts val="800"/>
              </a:spcAft>
            </a:pPr>
            <a:r>
              <a:rPr sz="1800" b="1">
                <a:solidFill>
                  <a:srgbClr val="6E6E6E"/>
                </a:solidFill>
                <a:latin typeface="Arial"/>
              </a:rPr>
              <a:t>Four decisions managers now face</a:t>
            </a:r>
          </a:p>
        </p:txBody>
      </p:sp>
      <p:sp>
        <p:nvSpPr>
          <p:cNvPr id="7" name="Rectangle 6"/>
          <p:cNvSpPr/>
          <p:nvPr/>
        </p:nvSpPr>
        <p:spPr>
          <a:xfrm>
            <a:off x="548640" y="2011680"/>
            <a:ext cx="2788920" cy="1417320"/>
          </a:xfrm>
          <a:prstGeom prst="rect">
            <a:avLst/>
          </a:prstGeom>
          <a:noFill/>
          <a:ln w="1587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0">
                <a:solidFill>
                  <a:srgbClr val="1A1A1A"/>
                </a:solidFill>
                <a:latin typeface="Arial"/>
              </a:rPr>
              <a:t>Which GRC roles to </a:t>
            </a:r>
            <a:r>
              <a:rPr sz="1700" b="1">
                <a:solidFill>
                  <a:srgbClr val="1A1A1A"/>
                </a:solidFill>
                <a:latin typeface="Arial"/>
              </a:rPr>
              <a:t>redesign, reduce or create</a:t>
            </a:r>
          </a:p>
        </p:txBody>
      </p:sp>
      <p:sp>
        <p:nvSpPr>
          <p:cNvPr id="8" name="Rectangle 7"/>
          <p:cNvSpPr/>
          <p:nvPr/>
        </p:nvSpPr>
        <p:spPr>
          <a:xfrm>
            <a:off x="3520440" y="2011680"/>
            <a:ext cx="2788920" cy="1417320"/>
          </a:xfrm>
          <a:prstGeom prst="rect">
            <a:avLst/>
          </a:prstGeom>
          <a:noFill/>
          <a:ln w="1587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0">
                <a:solidFill>
                  <a:srgbClr val="1A1A1A"/>
                </a:solidFill>
                <a:latin typeface="Arial"/>
              </a:rPr>
              <a:t>Whether to </a:t>
            </a:r>
            <a:r>
              <a:rPr sz="1700" b="1">
                <a:solidFill>
                  <a:srgbClr val="1A1A1A"/>
                </a:solidFill>
                <a:latin typeface="Arial"/>
              </a:rPr>
              <a:t>build, buy or borrow</a:t>
            </a:r>
            <a:r>
              <a:rPr sz="1700" b="0">
                <a:solidFill>
                  <a:srgbClr val="1A1A1A"/>
                </a:solidFill>
                <a:latin typeface="Arial"/>
              </a:rPr>
              <a:t> skills</a:t>
            </a:r>
          </a:p>
        </p:txBody>
      </p:sp>
      <p:sp>
        <p:nvSpPr>
          <p:cNvPr id="9" name="Rectangle 8"/>
          <p:cNvSpPr/>
          <p:nvPr/>
        </p:nvSpPr>
        <p:spPr>
          <a:xfrm>
            <a:off x="548640" y="3611880"/>
            <a:ext cx="2788920" cy="1417320"/>
          </a:xfrm>
          <a:prstGeom prst="rect">
            <a:avLst/>
          </a:prstGeom>
          <a:noFill/>
          <a:ln w="1587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0">
                <a:solidFill>
                  <a:srgbClr val="1A1A1A"/>
                </a:solidFill>
                <a:latin typeface="Arial"/>
              </a:rPr>
              <a:t>How to </a:t>
            </a:r>
            <a:r>
              <a:rPr sz="1700" b="1">
                <a:solidFill>
                  <a:srgbClr val="1A1A1A"/>
                </a:solidFill>
                <a:latin typeface="Arial"/>
              </a:rPr>
              <a:t>shape the team</a:t>
            </a:r>
          </a:p>
        </p:txBody>
      </p:sp>
      <p:sp>
        <p:nvSpPr>
          <p:cNvPr id="10" name="Rectangle 9"/>
          <p:cNvSpPr/>
          <p:nvPr/>
        </p:nvSpPr>
        <p:spPr>
          <a:xfrm>
            <a:off x="3520440" y="3611880"/>
            <a:ext cx="2788920" cy="1417320"/>
          </a:xfrm>
          <a:prstGeom prst="rect">
            <a:avLst/>
          </a:prstGeom>
          <a:noFill/>
          <a:ln w="1587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0">
                <a:solidFill>
                  <a:srgbClr val="1A1A1A"/>
                </a:solidFill>
                <a:latin typeface="Arial"/>
              </a:rPr>
              <a:t>How to get staff to </a:t>
            </a:r>
            <a:r>
              <a:rPr sz="1700" b="1">
                <a:solidFill>
                  <a:srgbClr val="1A1A1A"/>
                </a:solidFill>
                <a:latin typeface="Arial"/>
              </a:rPr>
              <a:t>trust AI appropriately</a:t>
            </a:r>
          </a:p>
        </p:txBody>
      </p:sp>
      <p:sp>
        <p:nvSpPr>
          <p:cNvPr id="11" name="TextBox 10"/>
          <p:cNvSpPr txBox="1"/>
          <p:nvPr/>
        </p:nvSpPr>
        <p:spPr>
          <a:xfrm>
            <a:off x="6858000" y="1463040"/>
            <a:ext cx="4754880" cy="457200"/>
          </a:xfrm>
          <a:prstGeom prst="rect">
            <a:avLst/>
          </a:prstGeom>
          <a:noFill/>
        </p:spPr>
        <p:txBody>
          <a:bodyPr wrap="square" anchor="t" lIns="45720" rIns="45720">
            <a:spAutoFit/>
          </a:bodyPr>
          <a:lstStyle/>
          <a:p>
            <a:pPr algn="l">
              <a:spcAft>
                <a:spcPts val="800"/>
              </a:spcAft>
            </a:pPr>
            <a:r>
              <a:rPr sz="1800" b="1">
                <a:solidFill>
                  <a:srgbClr val="6E6E6E"/>
                </a:solidFill>
                <a:latin typeface="Arial"/>
              </a:rPr>
              <a:t>Regulation</a:t>
            </a:r>
          </a:p>
        </p:txBody>
      </p:sp>
      <p:sp>
        <p:nvSpPr>
          <p:cNvPr id="12" name="Rectangle 11"/>
          <p:cNvSpPr/>
          <p:nvPr/>
        </p:nvSpPr>
        <p:spPr>
          <a:xfrm>
            <a:off x="6858000" y="2011680"/>
            <a:ext cx="1554480" cy="5486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A1A1A"/>
                </a:solidFill>
                <a:latin typeface="Arial"/>
              </a:rPr>
              <a:t>DORA</a:t>
            </a:r>
          </a:p>
        </p:txBody>
      </p:sp>
      <p:sp>
        <p:nvSpPr>
          <p:cNvPr id="13" name="TextBox 12"/>
          <p:cNvSpPr txBox="1"/>
          <p:nvPr/>
        </p:nvSpPr>
        <p:spPr>
          <a:xfrm>
            <a:off x="8503920" y="2075688"/>
            <a:ext cx="3108960" cy="502920"/>
          </a:xfrm>
          <a:prstGeom prst="rect">
            <a:avLst/>
          </a:prstGeom>
          <a:noFill/>
        </p:spPr>
        <p:txBody>
          <a:bodyPr wrap="square" anchor="t" lIns="45720" rIns="45720">
            <a:spAutoFit/>
          </a:bodyPr>
          <a:lstStyle/>
          <a:p>
            <a:pPr algn="l">
              <a:spcAft>
                <a:spcPts val="800"/>
              </a:spcAft>
            </a:pPr>
            <a:r>
              <a:rPr sz="1500" b="0">
                <a:solidFill>
                  <a:srgbClr val="6E6E6E"/>
                </a:solidFill>
                <a:latin typeface="Arial"/>
              </a:rPr>
              <a:t>board &amp; staff ICT competence</a:t>
            </a:r>
          </a:p>
        </p:txBody>
      </p:sp>
      <p:sp>
        <p:nvSpPr>
          <p:cNvPr id="14" name="Rectangle 13"/>
          <p:cNvSpPr/>
          <p:nvPr/>
        </p:nvSpPr>
        <p:spPr>
          <a:xfrm>
            <a:off x="6858000" y="2670048"/>
            <a:ext cx="1554480" cy="5486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A1A1A"/>
                </a:solidFill>
                <a:latin typeface="Arial"/>
              </a:rPr>
              <a:t>EU AI Act</a:t>
            </a:r>
          </a:p>
        </p:txBody>
      </p:sp>
      <p:sp>
        <p:nvSpPr>
          <p:cNvPr id="15" name="TextBox 14"/>
          <p:cNvSpPr txBox="1"/>
          <p:nvPr/>
        </p:nvSpPr>
        <p:spPr>
          <a:xfrm>
            <a:off x="8503920" y="2734056"/>
            <a:ext cx="3108960" cy="502920"/>
          </a:xfrm>
          <a:prstGeom prst="rect">
            <a:avLst/>
          </a:prstGeom>
          <a:noFill/>
        </p:spPr>
        <p:txBody>
          <a:bodyPr wrap="square" anchor="t" lIns="45720" rIns="45720">
            <a:spAutoFit/>
          </a:bodyPr>
          <a:lstStyle/>
          <a:p>
            <a:pPr algn="l">
              <a:spcAft>
                <a:spcPts val="800"/>
              </a:spcAft>
            </a:pPr>
            <a:r>
              <a:rPr sz="1500" b="0">
                <a:solidFill>
                  <a:srgbClr val="6E6E6E"/>
                </a:solidFill>
                <a:latin typeface="Arial"/>
              </a:rPr>
              <a:t>AI literacy, human oversight</a:t>
            </a:r>
          </a:p>
        </p:txBody>
      </p:sp>
      <p:sp>
        <p:nvSpPr>
          <p:cNvPr id="16" name="Rectangle 15"/>
          <p:cNvSpPr/>
          <p:nvPr/>
        </p:nvSpPr>
        <p:spPr>
          <a:xfrm>
            <a:off x="6858000" y="3328416"/>
            <a:ext cx="1554480" cy="5486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A1A1A"/>
                </a:solidFill>
                <a:latin typeface="Arial"/>
              </a:rPr>
              <a:t>PRA SS1/23</a:t>
            </a:r>
          </a:p>
        </p:txBody>
      </p:sp>
      <p:sp>
        <p:nvSpPr>
          <p:cNvPr id="17" name="TextBox 16"/>
          <p:cNvSpPr txBox="1"/>
          <p:nvPr/>
        </p:nvSpPr>
        <p:spPr>
          <a:xfrm>
            <a:off x="8503920" y="3392424"/>
            <a:ext cx="3108960" cy="502920"/>
          </a:xfrm>
          <a:prstGeom prst="rect">
            <a:avLst/>
          </a:prstGeom>
          <a:noFill/>
        </p:spPr>
        <p:txBody>
          <a:bodyPr wrap="square" anchor="t" lIns="45720" rIns="45720">
            <a:spAutoFit/>
          </a:bodyPr>
          <a:lstStyle/>
          <a:p>
            <a:pPr algn="l">
              <a:spcAft>
                <a:spcPts val="800"/>
              </a:spcAft>
            </a:pPr>
            <a:r>
              <a:rPr sz="1500" b="0">
                <a:solidFill>
                  <a:srgbClr val="6E6E6E"/>
                </a:solidFill>
                <a:latin typeface="Arial"/>
              </a:rPr>
              <a:t>skilled model validators</a:t>
            </a:r>
          </a:p>
        </p:txBody>
      </p:sp>
      <p:sp>
        <p:nvSpPr>
          <p:cNvPr id="18" name="Rectangle 17"/>
          <p:cNvSpPr/>
          <p:nvPr/>
        </p:nvSpPr>
        <p:spPr>
          <a:xfrm>
            <a:off x="6858000" y="3986784"/>
            <a:ext cx="1554480" cy="5486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A1A1A"/>
                </a:solidFill>
                <a:latin typeface="Arial"/>
              </a:rPr>
              <a:t>SM&amp;CR</a:t>
            </a:r>
          </a:p>
        </p:txBody>
      </p:sp>
      <p:sp>
        <p:nvSpPr>
          <p:cNvPr id="19" name="TextBox 18"/>
          <p:cNvSpPr txBox="1"/>
          <p:nvPr/>
        </p:nvSpPr>
        <p:spPr>
          <a:xfrm>
            <a:off x="8503920" y="4050791"/>
            <a:ext cx="3108960" cy="502920"/>
          </a:xfrm>
          <a:prstGeom prst="rect">
            <a:avLst/>
          </a:prstGeom>
          <a:noFill/>
        </p:spPr>
        <p:txBody>
          <a:bodyPr wrap="square" anchor="t" lIns="45720" rIns="45720">
            <a:spAutoFit/>
          </a:bodyPr>
          <a:lstStyle/>
          <a:p>
            <a:pPr algn="l">
              <a:spcAft>
                <a:spcPts val="800"/>
              </a:spcAft>
            </a:pPr>
            <a:r>
              <a:rPr sz="1500" b="0">
                <a:solidFill>
                  <a:srgbClr val="6E6E6E"/>
                </a:solidFill>
                <a:latin typeface="Arial"/>
              </a:rPr>
              <a:t>named personal accountability</a:t>
            </a:r>
          </a:p>
        </p:txBody>
      </p:sp>
      <p:sp>
        <p:nvSpPr>
          <p:cNvPr id="20" name="Rectangle 19"/>
          <p:cNvSpPr/>
          <p:nvPr/>
        </p:nvSpPr>
        <p:spPr>
          <a:xfrm>
            <a:off x="6858000" y="4754880"/>
            <a:ext cx="4754880" cy="86868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FFFFFF"/>
                </a:solidFill>
                <a:latin typeface="Arial"/>
              </a:rPr>
              <a:t>Competence and human oversight are now legal obligations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Objectives: build the evidence, then turn it into a framework</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4</a:t>
            </a:r>
          </a:p>
        </p:txBody>
      </p:sp>
      <p:sp>
        <p:nvSpPr>
          <p:cNvPr id="6" name="TextBox 5"/>
          <p:cNvSpPr txBox="1"/>
          <p:nvPr/>
        </p:nvSpPr>
        <p:spPr>
          <a:xfrm>
            <a:off x="548640" y="1508760"/>
            <a:ext cx="10972800" cy="914400"/>
          </a:xfrm>
          <a:prstGeom prst="rect">
            <a:avLst/>
          </a:prstGeom>
          <a:noFill/>
        </p:spPr>
        <p:txBody>
          <a:bodyPr wrap="square" anchor="t" lIns="45720" rIns="45720">
            <a:spAutoFit/>
          </a:bodyPr>
          <a:lstStyle/>
          <a:p>
            <a:pPr algn="l">
              <a:spcAft>
                <a:spcPts val="800"/>
              </a:spcAft>
            </a:pPr>
            <a:r>
              <a:rPr sz="1900" b="1">
                <a:solidFill>
                  <a:srgbClr val="1A1A1A"/>
                </a:solidFill>
                <a:latin typeface="Arial"/>
              </a:rPr>
              <a:t>Primary:</a:t>
            </a:r>
            <a:r>
              <a:rPr sz="1900" b="0">
                <a:solidFill>
                  <a:srgbClr val="1A1A1A"/>
                </a:solidFill>
                <a:latin typeface="Arial"/>
              </a:rPr>
              <a:t> examine how AI in GRC is reshaping workforce decisions (role structure, skills, staffing, employee adaptation) and develop a practical framework for management.</a:t>
            </a:r>
          </a:p>
        </p:txBody>
      </p:sp>
      <p:sp>
        <p:nvSpPr>
          <p:cNvPr id="7" name="Oval 6"/>
          <p:cNvSpPr/>
          <p:nvPr/>
        </p:nvSpPr>
        <p:spPr>
          <a:xfrm>
            <a:off x="640080" y="2606040"/>
            <a:ext cx="548640" cy="5486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A1A1A"/>
                </a:solidFill>
                <a:latin typeface="Arial"/>
              </a:rPr>
              <a:t>i</a:t>
            </a:r>
          </a:p>
        </p:txBody>
      </p:sp>
      <p:sp>
        <p:nvSpPr>
          <p:cNvPr id="8" name="TextBox 7"/>
          <p:cNvSpPr txBox="1"/>
          <p:nvPr/>
        </p:nvSpPr>
        <p:spPr>
          <a:xfrm>
            <a:off x="1371600" y="2670048"/>
            <a:ext cx="10058400" cy="548640"/>
          </a:xfrm>
          <a:prstGeom prst="rect">
            <a:avLst/>
          </a:prstGeom>
          <a:noFill/>
        </p:spPr>
        <p:txBody>
          <a:bodyPr wrap="square" anchor="t" lIns="45720" rIns="45720">
            <a:spAutoFit/>
          </a:bodyPr>
          <a:lstStyle/>
          <a:p>
            <a:pPr algn="l">
              <a:spcAft>
                <a:spcPts val="800"/>
              </a:spcAft>
            </a:pPr>
            <a:r>
              <a:rPr sz="1800" b="0">
                <a:solidFill>
                  <a:srgbClr val="1A1A1A"/>
                </a:solidFill>
                <a:latin typeface="Arial"/>
              </a:rPr>
              <a:t>Which GRC activities are automated or augmented, and the effect on role demand</a:t>
            </a:r>
          </a:p>
        </p:txBody>
      </p:sp>
      <p:sp>
        <p:nvSpPr>
          <p:cNvPr id="9" name="Oval 8"/>
          <p:cNvSpPr/>
          <p:nvPr/>
        </p:nvSpPr>
        <p:spPr>
          <a:xfrm>
            <a:off x="640080" y="3319272"/>
            <a:ext cx="548640" cy="5486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A1A1A"/>
                </a:solidFill>
                <a:latin typeface="Arial"/>
              </a:rPr>
              <a:t>ii</a:t>
            </a:r>
          </a:p>
        </p:txBody>
      </p:sp>
      <p:sp>
        <p:nvSpPr>
          <p:cNvPr id="10" name="TextBox 9"/>
          <p:cNvSpPr txBox="1"/>
          <p:nvPr/>
        </p:nvSpPr>
        <p:spPr>
          <a:xfrm>
            <a:off x="1371600" y="3383279"/>
            <a:ext cx="10058400" cy="548640"/>
          </a:xfrm>
          <a:prstGeom prst="rect">
            <a:avLst/>
          </a:prstGeom>
          <a:noFill/>
        </p:spPr>
        <p:txBody>
          <a:bodyPr wrap="square" anchor="t" lIns="45720" rIns="45720">
            <a:spAutoFit/>
          </a:bodyPr>
          <a:lstStyle/>
          <a:p>
            <a:pPr algn="l">
              <a:spcAft>
                <a:spcPts val="800"/>
              </a:spcAft>
            </a:pPr>
            <a:r>
              <a:rPr sz="1800" b="0">
                <a:solidFill>
                  <a:srgbClr val="1A1A1A"/>
                </a:solidFill>
                <a:latin typeface="Arial"/>
              </a:rPr>
              <a:t>How DORA, the AI Act, SS1/23 and SM&amp;CR shape oversight and competence</a:t>
            </a:r>
          </a:p>
        </p:txBody>
      </p:sp>
      <p:sp>
        <p:nvSpPr>
          <p:cNvPr id="11" name="Oval 10"/>
          <p:cNvSpPr/>
          <p:nvPr/>
        </p:nvSpPr>
        <p:spPr>
          <a:xfrm>
            <a:off x="640080" y="4032504"/>
            <a:ext cx="548640" cy="5486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A1A1A"/>
                </a:solidFill>
                <a:latin typeface="Arial"/>
              </a:rPr>
              <a:t>iii</a:t>
            </a:r>
          </a:p>
        </p:txBody>
      </p:sp>
      <p:sp>
        <p:nvSpPr>
          <p:cNvPr id="12" name="TextBox 11"/>
          <p:cNvSpPr txBox="1"/>
          <p:nvPr/>
        </p:nvSpPr>
        <p:spPr>
          <a:xfrm>
            <a:off x="1371600" y="4096512"/>
            <a:ext cx="10058400" cy="548640"/>
          </a:xfrm>
          <a:prstGeom prst="rect">
            <a:avLst/>
          </a:prstGeom>
          <a:noFill/>
        </p:spPr>
        <p:txBody>
          <a:bodyPr wrap="square" anchor="t" lIns="45720" rIns="45720">
            <a:spAutoFit/>
          </a:bodyPr>
          <a:lstStyle/>
          <a:p>
            <a:pPr algn="l">
              <a:spcAft>
                <a:spcPts val="800"/>
              </a:spcAft>
            </a:pPr>
            <a:r>
              <a:rPr sz="1800" b="0">
                <a:solidFill>
                  <a:srgbClr val="1A1A1A"/>
                </a:solidFill>
                <a:latin typeface="Arial"/>
              </a:rPr>
              <a:t>Emerging skill gaps and reskilling strategies</a:t>
            </a:r>
          </a:p>
        </p:txBody>
      </p:sp>
      <p:sp>
        <p:nvSpPr>
          <p:cNvPr id="13" name="Oval 12"/>
          <p:cNvSpPr/>
          <p:nvPr/>
        </p:nvSpPr>
        <p:spPr>
          <a:xfrm>
            <a:off x="640080" y="4745736"/>
            <a:ext cx="548640" cy="548640"/>
          </a:xfrm>
          <a:prstGeom prst="ellipse">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A1A1A"/>
                </a:solidFill>
                <a:latin typeface="Arial"/>
              </a:rPr>
              <a:t>iv</a:t>
            </a:r>
          </a:p>
        </p:txBody>
      </p:sp>
      <p:sp>
        <p:nvSpPr>
          <p:cNvPr id="14" name="TextBox 13"/>
          <p:cNvSpPr txBox="1"/>
          <p:nvPr/>
        </p:nvSpPr>
        <p:spPr>
          <a:xfrm>
            <a:off x="1371600" y="4809744"/>
            <a:ext cx="10058400" cy="548640"/>
          </a:xfrm>
          <a:prstGeom prst="rect">
            <a:avLst/>
          </a:prstGeom>
          <a:noFill/>
        </p:spPr>
        <p:txBody>
          <a:bodyPr wrap="square" anchor="t" lIns="45720" rIns="45720">
            <a:spAutoFit/>
          </a:bodyPr>
          <a:lstStyle/>
          <a:p>
            <a:pPr algn="l">
              <a:spcAft>
                <a:spcPts val="800"/>
              </a:spcAft>
            </a:pPr>
            <a:r>
              <a:rPr sz="1800" b="0">
                <a:solidFill>
                  <a:srgbClr val="1A1A1A"/>
                </a:solidFill>
                <a:latin typeface="Arial"/>
              </a:rPr>
              <a:t>Employee responses: usefulness, trust, replaceability</a:t>
            </a:r>
          </a:p>
        </p:txBody>
      </p:sp>
      <p:sp>
        <p:nvSpPr>
          <p:cNvPr id="15" name="Oval 14"/>
          <p:cNvSpPr/>
          <p:nvPr/>
        </p:nvSpPr>
        <p:spPr>
          <a:xfrm>
            <a:off x="640080" y="5458968"/>
            <a:ext cx="548640" cy="54864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FFFFFF"/>
                </a:solidFill>
                <a:latin typeface="Arial"/>
              </a:rPr>
              <a:t>v</a:t>
            </a:r>
          </a:p>
        </p:txBody>
      </p:sp>
      <p:sp>
        <p:nvSpPr>
          <p:cNvPr id="16" name="TextBox 15"/>
          <p:cNvSpPr txBox="1"/>
          <p:nvPr/>
        </p:nvSpPr>
        <p:spPr>
          <a:xfrm>
            <a:off x="1371600" y="5522976"/>
            <a:ext cx="10058400" cy="548640"/>
          </a:xfrm>
          <a:prstGeom prst="rect">
            <a:avLst/>
          </a:prstGeom>
          <a:noFill/>
        </p:spPr>
        <p:txBody>
          <a:bodyPr wrap="square" anchor="t" lIns="45720" rIns="45720">
            <a:spAutoFit/>
          </a:bodyPr>
          <a:lstStyle/>
          <a:p>
            <a:pPr algn="l">
              <a:spcAft>
                <a:spcPts val="800"/>
              </a:spcAft>
            </a:pPr>
            <a:r>
              <a:rPr sz="1800" b="1">
                <a:solidFill>
                  <a:srgbClr val="C00000"/>
                </a:solidFill>
                <a:latin typeface="Arial"/>
              </a:rPr>
              <a:t>An integrated workforce transformation framework and recommendations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Three bodies of research, and none of them looks at the GRC workforce</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5</a:t>
            </a:r>
          </a:p>
        </p:txBody>
      </p:sp>
      <p:sp>
        <p:nvSpPr>
          <p:cNvPr id="6" name="Oval 5"/>
          <p:cNvSpPr/>
          <p:nvPr/>
        </p:nvSpPr>
        <p:spPr>
          <a:xfrm>
            <a:off x="2926080" y="1600200"/>
            <a:ext cx="3108960" cy="2743200"/>
          </a:xfrm>
          <a:prstGeom prst="ellipse">
            <a:avLst/>
          </a:prstGeom>
          <a:noFill/>
          <a:ln w="3175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7" name="Oval 6"/>
          <p:cNvSpPr/>
          <p:nvPr/>
        </p:nvSpPr>
        <p:spPr>
          <a:xfrm>
            <a:off x="6035040" y="1600200"/>
            <a:ext cx="3108960" cy="2743200"/>
          </a:xfrm>
          <a:prstGeom prst="ellipse">
            <a:avLst/>
          </a:prstGeom>
          <a:noFill/>
          <a:ln w="3175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8" name="Oval 7"/>
          <p:cNvSpPr/>
          <p:nvPr/>
        </p:nvSpPr>
        <p:spPr>
          <a:xfrm>
            <a:off x="4480560" y="3611880"/>
            <a:ext cx="3108960" cy="2743200"/>
          </a:xfrm>
          <a:prstGeom prst="ellipse">
            <a:avLst/>
          </a:prstGeom>
          <a:noFill/>
          <a:ln w="3175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 name="Rectangle 8"/>
          <p:cNvSpPr/>
          <p:nvPr/>
        </p:nvSpPr>
        <p:spPr>
          <a:xfrm>
            <a:off x="3063240" y="2057400"/>
            <a:ext cx="2194560" cy="1188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A1A1A"/>
                </a:solidFill>
                <a:latin typeface="Arial"/>
              </a:rPr>
              <a:t>Technology acceptance &amp; trust</a:t>
            </a:r>
          </a:p>
          <a:p>
            <a:pPr algn="ctr"/>
            <a:r>
              <a:rPr sz="1200" b="0">
                <a:solidFill>
                  <a:srgbClr val="1A1A1A"/>
                </a:solidFill>
                <a:latin typeface="Arial"/>
              </a:rPr>
              <a:t>Davis (1989)</a:t>
            </a:r>
          </a:p>
          <a:p>
            <a:pPr algn="ctr"/>
            <a:r>
              <a:rPr sz="1200" b="0">
                <a:solidFill>
                  <a:srgbClr val="1A1A1A"/>
                </a:solidFill>
                <a:latin typeface="Arial"/>
              </a:rPr>
              <a:t>Glikson &amp; Woolley (2020)</a:t>
            </a:r>
          </a:p>
        </p:txBody>
      </p:sp>
      <p:sp>
        <p:nvSpPr>
          <p:cNvPr id="10" name="Rectangle 9"/>
          <p:cNvSpPr/>
          <p:nvPr/>
        </p:nvSpPr>
        <p:spPr>
          <a:xfrm>
            <a:off x="6812280" y="1965960"/>
            <a:ext cx="2194560" cy="1371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A1A1A"/>
                </a:solidFill>
                <a:latin typeface="Arial"/>
              </a:rPr>
              <a:t>Automation &amp; work</a:t>
            </a:r>
          </a:p>
          <a:p>
            <a:pPr algn="ctr"/>
            <a:r>
              <a:rPr sz="1200" b="0">
                <a:solidFill>
                  <a:srgbClr val="1A1A1A"/>
                </a:solidFill>
                <a:latin typeface="Arial"/>
              </a:rPr>
              <a:t>Autor (2015)</a:t>
            </a:r>
          </a:p>
          <a:p>
            <a:pPr algn="ctr"/>
            <a:r>
              <a:rPr sz="1200" b="0">
                <a:solidFill>
                  <a:srgbClr val="1A1A1A"/>
                </a:solidFill>
                <a:latin typeface="Arial"/>
              </a:rPr>
              <a:t>Frey &amp; Osborne (2017)</a:t>
            </a:r>
          </a:p>
          <a:p>
            <a:pPr algn="ctr"/>
            <a:r>
              <a:rPr sz="1200" b="0">
                <a:solidFill>
                  <a:srgbClr val="1A1A1A"/>
                </a:solidFill>
                <a:latin typeface="Arial"/>
              </a:rPr>
              <a:t>Cascio &amp; Montealegre (2016)</a:t>
            </a:r>
          </a:p>
          <a:p>
            <a:pPr algn="ctr"/>
            <a:r>
              <a:rPr sz="1200" b="0">
                <a:solidFill>
                  <a:srgbClr val="1A1A1A"/>
                </a:solidFill>
                <a:latin typeface="Arial"/>
              </a:rPr>
              <a:t>Brougham &amp; Haar (2018)</a:t>
            </a:r>
          </a:p>
        </p:txBody>
      </p:sp>
      <p:sp>
        <p:nvSpPr>
          <p:cNvPr id="11" name="Rectangle 10"/>
          <p:cNvSpPr/>
          <p:nvPr/>
        </p:nvSpPr>
        <p:spPr>
          <a:xfrm>
            <a:off x="4937760" y="4983480"/>
            <a:ext cx="2194560" cy="10972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A1A1A"/>
                </a:solidFill>
                <a:latin typeface="Arial"/>
              </a:rPr>
              <a:t>RegTech</a:t>
            </a:r>
          </a:p>
          <a:p>
            <a:pPr algn="ctr"/>
            <a:r>
              <a:rPr sz="1200" b="0">
                <a:solidFill>
                  <a:srgbClr val="1A1A1A"/>
                </a:solidFill>
                <a:latin typeface="Arial"/>
              </a:rPr>
              <a:t>Arner et al. (2017)</a:t>
            </a:r>
          </a:p>
          <a:p>
            <a:pPr algn="ctr"/>
            <a:r>
              <a:rPr sz="1200" b="0">
                <a:solidFill>
                  <a:srgbClr val="1A1A1A"/>
                </a:solidFill>
                <a:latin typeface="Arial"/>
              </a:rPr>
              <a:t>Buckley et al. (2020)</a:t>
            </a:r>
          </a:p>
        </p:txBody>
      </p:sp>
      <p:sp>
        <p:nvSpPr>
          <p:cNvPr id="12" name="Oval 11"/>
          <p:cNvSpPr/>
          <p:nvPr/>
        </p:nvSpPr>
        <p:spPr>
          <a:xfrm>
            <a:off x="5074920" y="3246120"/>
            <a:ext cx="1783080" cy="11887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2000" b="1">
                <a:solidFill>
                  <a:srgbClr val="FFFFFF"/>
                </a:solidFill>
                <a:latin typeface="Arial"/>
              </a:rPr>
              <a:t>GAP</a:t>
            </a:r>
          </a:p>
        </p:txBody>
      </p:sp>
      <p:sp>
        <p:nvSpPr>
          <p:cNvPr id="13" name="TextBox 12"/>
          <p:cNvSpPr txBox="1"/>
          <p:nvPr/>
        </p:nvSpPr>
        <p:spPr>
          <a:xfrm>
            <a:off x="9418320" y="2926080"/>
            <a:ext cx="2560320" cy="2011680"/>
          </a:xfrm>
          <a:prstGeom prst="rect">
            <a:avLst/>
          </a:prstGeom>
          <a:noFill/>
        </p:spPr>
        <p:txBody>
          <a:bodyPr wrap="square" anchor="t" lIns="45720" rIns="45720">
            <a:spAutoFit/>
          </a:bodyPr>
          <a:lstStyle/>
          <a:p>
            <a:pPr algn="l">
              <a:spcAft>
                <a:spcPts val="800"/>
              </a:spcAft>
            </a:pPr>
            <a:r>
              <a:rPr sz="1600" b="1">
                <a:solidFill>
                  <a:srgbClr val="C00000"/>
                </a:solidFill>
                <a:latin typeface="Arial"/>
              </a:rPr>
              <a:t>Research gap</a:t>
            </a:r>
          </a:p>
          <a:p>
            <a:pPr algn="l">
              <a:spcAft>
                <a:spcPts val="800"/>
              </a:spcAft>
            </a:pPr>
            <a:r>
              <a:rPr sz="1600" b="0">
                <a:solidFill>
                  <a:srgbClr val="1A1A1A"/>
                </a:solidFill>
                <a:latin typeface="Arial"/>
              </a:rPr>
              <a:t>Workforce management inside regulated banking GRC: roles, skills, staffing and adaptation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The literature gave four propositions to test</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6</a:t>
            </a:r>
          </a:p>
        </p:txBody>
      </p:sp>
      <p:graphicFrame>
        <p:nvGraphicFramePr>
          <p:cNvPr id="6" name="Table 5"/>
          <p:cNvGraphicFramePr>
            <a:graphicFrameLocks noGrp="1"/>
          </p:cNvGraphicFramePr>
          <p:nvPr/>
        </p:nvGraphicFramePr>
        <p:xfrm>
          <a:off x="640080" y="1600200"/>
          <a:ext cx="10881360" cy="3886200"/>
        </p:xfrm>
        <a:graphic>
          <a:graphicData uri="http://schemas.openxmlformats.org/drawingml/2006/table">
            <a:tbl>
              <a:tblPr>
                <a:tableStyleId>{5C22544A-7EE6-4342-B048-85BDC9FD1C3A}</a:tableStyleId>
              </a:tblPr>
              <a:tblGrid>
                <a:gridCol w="731520"/>
                <a:gridCol w="6035040"/>
                <a:gridCol w="4114800"/>
              </a:tblGrid>
              <a:tr h="777240">
                <a:tc>
                  <a:txBody>
                    <a:bodyPr wrap="square"/>
                    <a:lstStyle/>
                    <a:p/>
                  </a:txBody>
                  <a:tcPr marL="54864" marR="54864" marT="27432" marB="27432">
                    <a:solidFill>
                      <a:srgbClr val="D9D9D9"/>
                    </a:solidFill>
                  </a:tcPr>
                </a:tc>
                <a:tc>
                  <a:txBody>
                    <a:bodyPr wrap="square"/>
                    <a:lstStyle/>
                    <a:p>
                      <a:r>
                        <a:rPr sz="1700" b="1">
                          <a:solidFill>
                            <a:srgbClr val="1A1A1A"/>
                          </a:solidFill>
                          <a:latin typeface="Arial"/>
                        </a:rPr>
                        <a:t>Proposition</a:t>
                      </a:r>
                    </a:p>
                  </a:txBody>
                  <a:tcPr marL="54864" marR="54864" marT="27432" marB="27432">
                    <a:solidFill>
                      <a:srgbClr val="D9D9D9"/>
                    </a:solidFill>
                  </a:tcPr>
                </a:tc>
                <a:tc>
                  <a:txBody>
                    <a:bodyPr wrap="square"/>
                    <a:lstStyle/>
                    <a:p>
                      <a:r>
                        <a:rPr sz="1700" b="1">
                          <a:solidFill>
                            <a:srgbClr val="1A1A1A"/>
                          </a:solidFill>
                          <a:latin typeface="Arial"/>
                        </a:rPr>
                        <a:t>Grounded in</a:t>
                      </a:r>
                    </a:p>
                  </a:txBody>
                  <a:tcPr marL="54864" marR="54864" marT="27432" marB="27432">
                    <a:solidFill>
                      <a:srgbClr val="D9D9D9"/>
                    </a:solidFill>
                  </a:tcPr>
                </a:tc>
              </a:tr>
              <a:tr h="777240">
                <a:tc>
                  <a:txBody>
                    <a:bodyPr wrap="square"/>
                    <a:lstStyle/>
                    <a:p>
                      <a:r>
                        <a:rPr sz="1700" b="0">
                          <a:solidFill>
                            <a:srgbClr val="1A1A1A"/>
                          </a:solidFill>
                          <a:latin typeface="Arial"/>
                        </a:rPr>
                        <a:t>P1</a:t>
                      </a:r>
                    </a:p>
                  </a:txBody>
                  <a:tcPr marL="54864" marR="54864" marT="27432" marB="27432">
                    <a:solidFill>
                      <a:srgbClr val="FFFFFF"/>
                    </a:solidFill>
                  </a:tcPr>
                </a:tc>
                <a:tc>
                  <a:txBody>
                    <a:bodyPr wrap="square"/>
                    <a:lstStyle/>
                    <a:p>
                      <a:r>
                        <a:rPr sz="1700" b="0">
                          <a:solidFill>
                            <a:srgbClr val="1A1A1A"/>
                          </a:solidFill>
                          <a:latin typeface="Arial"/>
                        </a:rPr>
                        <a:t>Routine GRC tasks are automated first; judgement work is augmented</a:t>
                      </a:r>
                    </a:p>
                  </a:txBody>
                  <a:tcPr marL="54864" marR="54864" marT="27432" marB="27432">
                    <a:solidFill>
                      <a:srgbClr val="FFFFFF"/>
                    </a:solidFill>
                  </a:tcPr>
                </a:tc>
                <a:tc>
                  <a:txBody>
                    <a:bodyPr wrap="square"/>
                    <a:lstStyle/>
                    <a:p>
                      <a:r>
                        <a:rPr sz="1700" b="0">
                          <a:solidFill>
                            <a:srgbClr val="1A1A1A"/>
                          </a:solidFill>
                          <a:latin typeface="Arial"/>
                        </a:rPr>
                        <a:t>Autor (2015); Frey &amp; Osborne (2017)</a:t>
                      </a:r>
                    </a:p>
                  </a:txBody>
                  <a:tcPr marL="54864" marR="54864" marT="27432" marB="27432">
                    <a:solidFill>
                      <a:srgbClr val="FFFFFF"/>
                    </a:solidFill>
                  </a:tcPr>
                </a:tc>
              </a:tr>
              <a:tr h="777240">
                <a:tc>
                  <a:txBody>
                    <a:bodyPr wrap="square"/>
                    <a:lstStyle/>
                    <a:p>
                      <a:r>
                        <a:rPr sz="1700" b="0">
                          <a:solidFill>
                            <a:srgbClr val="1A1A1A"/>
                          </a:solidFill>
                          <a:latin typeface="Arial"/>
                        </a:rPr>
                        <a:t>P2</a:t>
                      </a:r>
                    </a:p>
                  </a:txBody>
                  <a:tcPr marL="54864" marR="54864" marT="27432" marB="27432">
                    <a:solidFill>
                      <a:srgbClr val="FFFFFF"/>
                    </a:solidFill>
                  </a:tcPr>
                </a:tc>
                <a:tc>
                  <a:txBody>
                    <a:bodyPr wrap="square"/>
                    <a:lstStyle/>
                    <a:p>
                      <a:r>
                        <a:rPr sz="1700" b="0">
                          <a:solidFill>
                            <a:srgbClr val="1A1A1A"/>
                          </a:solidFill>
                          <a:latin typeface="Arial"/>
                        </a:rPr>
                        <a:t>Regulation turns competence and oversight into obligations</a:t>
                      </a:r>
                    </a:p>
                  </a:txBody>
                  <a:tcPr marL="54864" marR="54864" marT="27432" marB="27432">
                    <a:solidFill>
                      <a:srgbClr val="FFFFFF"/>
                    </a:solidFill>
                  </a:tcPr>
                </a:tc>
                <a:tc>
                  <a:txBody>
                    <a:bodyPr wrap="square"/>
                    <a:lstStyle/>
                    <a:p>
                      <a:r>
                        <a:rPr sz="1700" b="0">
                          <a:solidFill>
                            <a:srgbClr val="1A1A1A"/>
                          </a:solidFill>
                          <a:latin typeface="Arial"/>
                        </a:rPr>
                        <a:t>Buckley et al. (2020); DORA, AI Act, SS1/23, SM&amp;CR</a:t>
                      </a:r>
                    </a:p>
                  </a:txBody>
                  <a:tcPr marL="54864" marR="54864" marT="27432" marB="27432">
                    <a:solidFill>
                      <a:srgbClr val="FFFFFF"/>
                    </a:solidFill>
                  </a:tcPr>
                </a:tc>
              </a:tr>
              <a:tr h="777240">
                <a:tc>
                  <a:txBody>
                    <a:bodyPr wrap="square"/>
                    <a:lstStyle/>
                    <a:p>
                      <a:r>
                        <a:rPr sz="1700" b="0">
                          <a:solidFill>
                            <a:srgbClr val="1A1A1A"/>
                          </a:solidFill>
                          <a:latin typeface="Arial"/>
                        </a:rPr>
                        <a:t>P3</a:t>
                      </a:r>
                    </a:p>
                  </a:txBody>
                  <a:tcPr marL="54864" marR="54864" marT="27432" marB="27432">
                    <a:solidFill>
                      <a:srgbClr val="FFFFFF"/>
                    </a:solidFill>
                  </a:tcPr>
                </a:tc>
                <a:tc>
                  <a:txBody>
                    <a:bodyPr wrap="square"/>
                    <a:lstStyle/>
                    <a:p>
                      <a:r>
                        <a:rPr sz="1700" b="0">
                          <a:solidFill>
                            <a:srgbClr val="1A1A1A"/>
                          </a:solidFill>
                          <a:latin typeface="Arial"/>
                        </a:rPr>
                        <a:t>AI needs a hybrid technical + regulatory skill profile</a:t>
                      </a:r>
                    </a:p>
                  </a:txBody>
                  <a:tcPr marL="54864" marR="54864" marT="27432" marB="27432">
                    <a:solidFill>
                      <a:srgbClr val="FFFFFF"/>
                    </a:solidFill>
                  </a:tcPr>
                </a:tc>
                <a:tc>
                  <a:txBody>
                    <a:bodyPr wrap="square"/>
                    <a:lstStyle/>
                    <a:p>
                      <a:r>
                        <a:rPr sz="1700" b="0">
                          <a:solidFill>
                            <a:srgbClr val="1A1A1A"/>
                          </a:solidFill>
                          <a:latin typeface="Arial"/>
                        </a:rPr>
                        <a:t>Cascio &amp; Montealegre (2016)</a:t>
                      </a:r>
                    </a:p>
                  </a:txBody>
                  <a:tcPr marL="54864" marR="54864" marT="27432" marB="27432">
                    <a:solidFill>
                      <a:srgbClr val="FFFFFF"/>
                    </a:solidFill>
                  </a:tcPr>
                </a:tc>
              </a:tr>
              <a:tr h="777240">
                <a:tc>
                  <a:txBody>
                    <a:bodyPr wrap="square"/>
                    <a:lstStyle/>
                    <a:p>
                      <a:r>
                        <a:rPr sz="1700" b="0">
                          <a:solidFill>
                            <a:srgbClr val="1A1A1A"/>
                          </a:solidFill>
                          <a:latin typeface="Arial"/>
                        </a:rPr>
                        <a:t>P4</a:t>
                      </a:r>
                    </a:p>
                  </a:txBody>
                  <a:tcPr marL="54864" marR="54864" marT="27432" marB="27432">
                    <a:solidFill>
                      <a:srgbClr val="FFFFFF"/>
                    </a:solidFill>
                  </a:tcPr>
                </a:tc>
                <a:tc>
                  <a:txBody>
                    <a:bodyPr wrap="square"/>
                    <a:lstStyle/>
                    <a:p>
                      <a:r>
                        <a:rPr sz="1700" b="0">
                          <a:solidFill>
                            <a:srgbClr val="1A1A1A"/>
                          </a:solidFill>
                          <a:latin typeface="Arial"/>
                        </a:rPr>
                        <a:t>Losing expert knowledge is a hidden restructuring risk   </a:t>
                      </a:r>
                      <a:r>
                        <a:rPr sz="1700" b="1">
                          <a:solidFill>
                            <a:srgbClr val="C00000"/>
                          </a:solidFill>
                          <a:latin typeface="Arial"/>
                        </a:rPr>
                        <a:t>EMERGENT</a:t>
                      </a:r>
                    </a:p>
                  </a:txBody>
                  <a:tcPr marL="54864" marR="54864" marT="27432" marB="27432">
                    <a:solidFill>
                      <a:srgbClr val="FFFFFF"/>
                    </a:solidFill>
                  </a:tcPr>
                </a:tc>
                <a:tc>
                  <a:txBody>
                    <a:bodyPr wrap="square"/>
                    <a:lstStyle/>
                    <a:p>
                      <a:r>
                        <a:rPr sz="1700" b="0">
                          <a:solidFill>
                            <a:srgbClr val="1A1A1A"/>
                          </a:solidFill>
                          <a:latin typeface="Arial"/>
                        </a:rPr>
                        <a:t>Interviews (extends Autor, 2015)</a:t>
                      </a:r>
                    </a:p>
                  </a:txBody>
                  <a:tcPr marL="54864" marR="54864"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A sequential exploratory mixed-methods design</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7</a:t>
            </a:r>
          </a:p>
        </p:txBody>
      </p:sp>
      <p:sp>
        <p:nvSpPr>
          <p:cNvPr id="6" name="Chevron 5"/>
          <p:cNvSpPr/>
          <p:nvPr/>
        </p:nvSpPr>
        <p:spPr>
          <a:xfrm>
            <a:off x="640080" y="1828800"/>
            <a:ext cx="3657600" cy="2011680"/>
          </a:xfrm>
          <a:prstGeom prst="chevron">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900" b="1">
                <a:solidFill>
                  <a:srgbClr val="1A1A1A"/>
                </a:solidFill>
                <a:latin typeface="Arial"/>
              </a:rPr>
              <a:t>1  LISTEN</a:t>
            </a:r>
          </a:p>
          <a:p>
            <a:pPr algn="ctr"/>
            <a:r>
              <a:rPr sz="1900" b="0">
                <a:solidFill>
                  <a:srgbClr val="1A1A1A"/>
                </a:solidFill>
                <a:latin typeface="Arial"/>
              </a:rPr>
              <a:t>Interviews + questionnaire</a:t>
            </a:r>
          </a:p>
          <a:p>
            <a:pPr algn="ctr"/>
            <a:r>
              <a:rPr sz="1900" b="0">
                <a:solidFill>
                  <a:srgbClr val="1A1A1A"/>
                </a:solidFill>
                <a:latin typeface="Arial"/>
              </a:rPr>
              <a:t>Themes T1–T10</a:t>
            </a:r>
          </a:p>
        </p:txBody>
      </p:sp>
      <p:sp>
        <p:nvSpPr>
          <p:cNvPr id="7" name="Chevron 6"/>
          <p:cNvSpPr/>
          <p:nvPr/>
        </p:nvSpPr>
        <p:spPr>
          <a:xfrm>
            <a:off x="4389120" y="1828800"/>
            <a:ext cx="3657600" cy="2011680"/>
          </a:xfrm>
          <a:prstGeom prst="chevron">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900" b="1">
                <a:solidFill>
                  <a:srgbClr val="FFFFFF"/>
                </a:solidFill>
                <a:latin typeface="Arial"/>
              </a:rPr>
              <a:t>2  TEST</a:t>
            </a:r>
          </a:p>
          <a:p>
            <a:pPr algn="ctr"/>
            <a:r>
              <a:rPr sz="1900" b="0">
                <a:solidFill>
                  <a:srgbClr val="FFFFFF"/>
                </a:solidFill>
                <a:latin typeface="Arial"/>
              </a:rPr>
              <a:t>Hypotheses H5–H10</a:t>
            </a:r>
          </a:p>
          <a:p>
            <a:pPr algn="ctr"/>
            <a:r>
              <a:rPr sz="1900" b="0">
                <a:solidFill>
                  <a:srgbClr val="FFFFFF"/>
                </a:solidFill>
                <a:latin typeface="Arial"/>
              </a:rPr>
              <a:t>on public data D1–D4</a:t>
            </a:r>
          </a:p>
        </p:txBody>
      </p:sp>
      <p:sp>
        <p:nvSpPr>
          <p:cNvPr id="8" name="Chevron 7"/>
          <p:cNvSpPr/>
          <p:nvPr/>
        </p:nvSpPr>
        <p:spPr>
          <a:xfrm>
            <a:off x="8138159" y="1828800"/>
            <a:ext cx="3657600" cy="2011680"/>
          </a:xfrm>
          <a:prstGeom prst="chevron">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900" b="1">
                <a:solidFill>
                  <a:srgbClr val="1A1A1A"/>
                </a:solidFill>
                <a:latin typeface="Arial"/>
              </a:rPr>
              <a:t>3  COMPARE</a:t>
            </a:r>
          </a:p>
          <a:p>
            <a:pPr algn="ctr"/>
            <a:r>
              <a:rPr sz="1900" b="0">
                <a:solidFill>
                  <a:srgbClr val="1A1A1A"/>
                </a:solidFill>
                <a:latin typeface="Arial"/>
              </a:rPr>
              <a:t>Triangulation</a:t>
            </a:r>
          </a:p>
          <a:p>
            <a:pPr algn="ctr"/>
            <a:r>
              <a:rPr sz="1900" b="0">
                <a:solidFill>
                  <a:srgbClr val="1A1A1A"/>
                </a:solidFill>
                <a:latin typeface="Arial"/>
              </a:rPr>
              <a:t>P1–P4 verdicts + framework</a:t>
            </a:r>
          </a:p>
        </p:txBody>
      </p:sp>
      <p:sp>
        <p:nvSpPr>
          <p:cNvPr id="9" name="TextBox 8"/>
          <p:cNvSpPr txBox="1"/>
          <p:nvPr/>
        </p:nvSpPr>
        <p:spPr>
          <a:xfrm>
            <a:off x="822960" y="4343400"/>
            <a:ext cx="10607040" cy="1463040"/>
          </a:xfrm>
          <a:prstGeom prst="rect">
            <a:avLst/>
          </a:prstGeom>
          <a:noFill/>
        </p:spPr>
        <p:txBody>
          <a:bodyPr wrap="square" anchor="t" lIns="45720" rIns="45720">
            <a:spAutoFit/>
          </a:bodyPr>
          <a:lstStyle/>
          <a:p>
            <a:pPr algn="ctr">
              <a:spcAft>
                <a:spcPts val="1400"/>
              </a:spcAft>
            </a:pPr>
            <a:r>
              <a:rPr sz="1900" b="0">
                <a:solidFill>
                  <a:srgbClr val="1A1A1A"/>
                </a:solidFill>
                <a:latin typeface="Arial"/>
              </a:rPr>
              <a:t>The interviews decided </a:t>
            </a:r>
            <a:r>
              <a:rPr sz="1900" b="1">
                <a:solidFill>
                  <a:srgbClr val="1A1A1A"/>
                </a:solidFill>
                <a:latin typeface="Arial"/>
              </a:rPr>
              <a:t>what</a:t>
            </a:r>
            <a:r>
              <a:rPr sz="1900" b="0">
                <a:solidFill>
                  <a:srgbClr val="1A1A1A"/>
                </a:solidFill>
                <a:latin typeface="Arial"/>
              </a:rPr>
              <a:t> to test. The public data showed </a:t>
            </a:r>
            <a:r>
              <a:rPr sz="1900" b="1">
                <a:solidFill>
                  <a:srgbClr val="1A1A1A"/>
                </a:solidFill>
                <a:latin typeface="Arial"/>
              </a:rPr>
              <a:t>whether it holds</a:t>
            </a:r>
            <a:r>
              <a:rPr sz="1900" b="0">
                <a:solidFill>
                  <a:srgbClr val="1A1A1A"/>
                </a:solidFill>
                <a:latin typeface="Arial"/>
              </a:rPr>
              <a:t> across the industry.</a:t>
            </a:r>
          </a:p>
          <a:p>
            <a:pPr algn="ctr">
              <a:spcAft>
                <a:spcPts val="1400"/>
              </a:spcAft>
            </a:pPr>
            <a:r>
              <a:rPr sz="1900" b="1">
                <a:solidFill>
                  <a:srgbClr val="C00000"/>
                </a:solidFill>
                <a:latin typeface="Arial"/>
              </a:rPr>
              <a:t>The public datasets are independent sources; they were not produced from the interviews.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Two kinds of evidence: practitioners, and four public datasets</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8</a:t>
            </a:r>
          </a:p>
        </p:txBody>
      </p:sp>
      <p:sp>
        <p:nvSpPr>
          <p:cNvPr id="6" name="TextBox 5"/>
          <p:cNvSpPr txBox="1"/>
          <p:nvPr/>
        </p:nvSpPr>
        <p:spPr>
          <a:xfrm>
            <a:off x="548640" y="1463040"/>
            <a:ext cx="4206240" cy="457200"/>
          </a:xfrm>
          <a:prstGeom prst="rect">
            <a:avLst/>
          </a:prstGeom>
          <a:noFill/>
        </p:spPr>
        <p:txBody>
          <a:bodyPr wrap="square" anchor="t" lIns="45720" rIns="45720">
            <a:spAutoFit/>
          </a:bodyPr>
          <a:lstStyle/>
          <a:p>
            <a:pPr algn="l">
              <a:spcAft>
                <a:spcPts val="800"/>
              </a:spcAft>
            </a:pPr>
            <a:r>
              <a:rPr sz="2000" b="1">
                <a:solidFill>
                  <a:srgbClr val="6E6E6E"/>
                </a:solidFill>
                <a:latin typeface="Arial"/>
              </a:rPr>
              <a:t>Primary</a:t>
            </a:r>
          </a:p>
        </p:txBody>
      </p:sp>
      <p:sp>
        <p:nvSpPr>
          <p:cNvPr id="7" name="TextBox 6"/>
          <p:cNvSpPr txBox="1"/>
          <p:nvPr/>
        </p:nvSpPr>
        <p:spPr>
          <a:xfrm>
            <a:off x="548640" y="1965960"/>
            <a:ext cx="4206240" cy="4114800"/>
          </a:xfrm>
          <a:prstGeom prst="rect">
            <a:avLst/>
          </a:prstGeom>
          <a:noFill/>
        </p:spPr>
        <p:txBody>
          <a:bodyPr wrap="square" anchor="t" lIns="45720" rIns="45720">
            <a:spAutoFit/>
          </a:bodyPr>
          <a:lstStyle/>
          <a:p>
            <a:pPr algn="l">
              <a:spcAft>
                <a:spcPts val="1400"/>
              </a:spcAft>
            </a:pPr>
            <a:r>
              <a:rPr sz="1600" b="1">
                <a:solidFill>
                  <a:srgbClr val="1A1A1A"/>
                </a:solidFill>
                <a:latin typeface="Arial"/>
              </a:rPr>
              <a:t>Written semi-structured interviews:</a:t>
            </a:r>
            <a:r>
              <a:rPr sz="1600" b="0">
                <a:solidFill>
                  <a:srgbClr val="1A1A1A"/>
                </a:solidFill>
                <a:latin typeface="Arial"/>
              </a:rPr>
              <a:t> 11 questions, 5 sections</a:t>
            </a:r>
          </a:p>
          <a:p>
            <a:pPr algn="l">
              <a:spcAft>
                <a:spcPts val="1400"/>
              </a:spcAft>
            </a:pPr>
            <a:r>
              <a:rPr sz="1600" b="1">
                <a:solidFill>
                  <a:srgbClr val="1A1A1A"/>
                </a:solidFill>
                <a:latin typeface="Arial"/>
              </a:rPr>
              <a:t>Questionnaire:</a:t>
            </a:r>
            <a:r>
              <a:rPr sz="1600" b="0">
                <a:solidFill>
                  <a:srgbClr val="1A1A1A"/>
                </a:solidFill>
                <a:latin typeface="Arial"/>
              </a:rPr>
              <a:t> 25 Likert items, 7 constructs adapted from Davis; Glikson &amp; Woolley; Brougham &amp; Haar</a:t>
            </a:r>
          </a:p>
          <a:p>
            <a:pPr algn="l">
              <a:spcAft>
                <a:spcPts val="1400"/>
              </a:spcAft>
            </a:pPr>
            <a:r>
              <a:rPr sz="1600" b="1">
                <a:solidFill>
                  <a:srgbClr val="1A1A1A"/>
                </a:solidFill>
                <a:latin typeface="Arial"/>
              </a:rPr>
              <a:t>Sampling:</a:t>
            </a:r>
            <a:r>
              <a:rPr sz="1600" b="0">
                <a:solidFill>
                  <a:srgbClr val="1A1A1A"/>
                </a:solidFill>
                <a:latin typeface="Arial"/>
              </a:rPr>
              <a:t> purposive + snowball; GRC professionals exposed to AI</a:t>
            </a:r>
          </a:p>
        </p:txBody>
      </p:sp>
      <p:sp>
        <p:nvSpPr>
          <p:cNvPr id="8" name="TextBox 7"/>
          <p:cNvSpPr txBox="1"/>
          <p:nvPr/>
        </p:nvSpPr>
        <p:spPr>
          <a:xfrm>
            <a:off x="5120640" y="1463040"/>
            <a:ext cx="6400800" cy="457200"/>
          </a:xfrm>
          <a:prstGeom prst="rect">
            <a:avLst/>
          </a:prstGeom>
          <a:noFill/>
        </p:spPr>
        <p:txBody>
          <a:bodyPr wrap="square" anchor="t" lIns="45720" rIns="45720">
            <a:spAutoFit/>
          </a:bodyPr>
          <a:lstStyle/>
          <a:p>
            <a:pPr algn="l">
              <a:spcAft>
                <a:spcPts val="800"/>
              </a:spcAft>
            </a:pPr>
            <a:r>
              <a:rPr sz="2000" b="1">
                <a:solidFill>
                  <a:srgbClr val="6E6E6E"/>
                </a:solidFill>
                <a:latin typeface="Arial"/>
              </a:rPr>
              <a:t>Secondary (public)</a:t>
            </a:r>
          </a:p>
        </p:txBody>
      </p:sp>
      <p:sp>
        <p:nvSpPr>
          <p:cNvPr id="9" name="Rectangle 8"/>
          <p:cNvSpPr/>
          <p:nvPr/>
        </p:nvSpPr>
        <p:spPr>
          <a:xfrm>
            <a:off x="5120640" y="1965960"/>
            <a:ext cx="868680" cy="82296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1A1A1A"/>
                </a:solidFill>
                <a:latin typeface="Arial"/>
              </a:rPr>
              <a:t>D1</a:t>
            </a:r>
          </a:p>
        </p:txBody>
      </p:sp>
      <p:sp>
        <p:nvSpPr>
          <p:cNvPr id="10" name="TextBox 9"/>
          <p:cNvSpPr txBox="1"/>
          <p:nvPr/>
        </p:nvSpPr>
        <p:spPr>
          <a:xfrm>
            <a:off x="6126480" y="1965960"/>
            <a:ext cx="5577840" cy="868680"/>
          </a:xfrm>
          <a:prstGeom prst="rect">
            <a:avLst/>
          </a:prstGeom>
          <a:noFill/>
        </p:spPr>
        <p:txBody>
          <a:bodyPr wrap="square" anchor="t" lIns="45720" rIns="45720">
            <a:spAutoFit/>
          </a:bodyPr>
          <a:lstStyle/>
          <a:p>
            <a:pPr algn="l">
              <a:spcAft>
                <a:spcPts val="200"/>
              </a:spcAft>
            </a:pPr>
            <a:r>
              <a:rPr sz="1600" b="1">
                <a:solidFill>
                  <a:srgbClr val="1A1A1A"/>
                </a:solidFill>
                <a:latin typeface="Arial"/>
              </a:rPr>
              <a:t>Eurostat</a:t>
            </a:r>
          </a:p>
          <a:p>
            <a:pPr algn="l">
              <a:spcAft>
                <a:spcPts val="200"/>
              </a:spcAft>
            </a:pPr>
            <a:r>
              <a:rPr sz="1500" b="0">
                <a:solidFill>
                  <a:srgbClr val="1A1A1A"/>
                </a:solidFill>
                <a:latin typeface="Arial"/>
              </a:rPr>
              <a:t>AI adoption, 27 EU countries, 2021–2025</a:t>
            </a:r>
          </a:p>
        </p:txBody>
      </p:sp>
      <p:sp>
        <p:nvSpPr>
          <p:cNvPr id="11" name="Rectangle 10"/>
          <p:cNvSpPr/>
          <p:nvPr/>
        </p:nvSpPr>
        <p:spPr>
          <a:xfrm>
            <a:off x="5120640" y="2990088"/>
            <a:ext cx="868680" cy="82296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1A1A1A"/>
                </a:solidFill>
                <a:latin typeface="Arial"/>
              </a:rPr>
              <a:t>D2</a:t>
            </a:r>
          </a:p>
        </p:txBody>
      </p:sp>
      <p:sp>
        <p:nvSpPr>
          <p:cNvPr id="12" name="TextBox 11"/>
          <p:cNvSpPr txBox="1"/>
          <p:nvPr/>
        </p:nvSpPr>
        <p:spPr>
          <a:xfrm>
            <a:off x="6126480" y="2990088"/>
            <a:ext cx="5577840" cy="868680"/>
          </a:xfrm>
          <a:prstGeom prst="rect">
            <a:avLst/>
          </a:prstGeom>
          <a:noFill/>
        </p:spPr>
        <p:txBody>
          <a:bodyPr wrap="square" anchor="t" lIns="45720" rIns="45720">
            <a:spAutoFit/>
          </a:bodyPr>
          <a:lstStyle/>
          <a:p>
            <a:pPr algn="l">
              <a:spcAft>
                <a:spcPts val="200"/>
              </a:spcAft>
            </a:pPr>
            <a:r>
              <a:rPr sz="1600" b="1">
                <a:solidFill>
                  <a:srgbClr val="1A1A1A"/>
                </a:solidFill>
                <a:latin typeface="Arial"/>
              </a:rPr>
              <a:t>Bank annual reports</a:t>
            </a:r>
          </a:p>
          <a:p>
            <a:pPr algn="l">
              <a:spcAft>
                <a:spcPts val="200"/>
              </a:spcAft>
            </a:pPr>
            <a:r>
              <a:rPr sz="1500" b="0">
                <a:solidFill>
                  <a:srgbClr val="1A1A1A"/>
                </a:solidFill>
                <a:latin typeface="Arial"/>
              </a:rPr>
              <a:t>Large UK/EU banks, FY2022 vs FY2025; 19 paired</a:t>
            </a:r>
          </a:p>
        </p:txBody>
      </p:sp>
      <p:sp>
        <p:nvSpPr>
          <p:cNvPr id="13" name="Rectangle 12"/>
          <p:cNvSpPr/>
          <p:nvPr/>
        </p:nvSpPr>
        <p:spPr>
          <a:xfrm>
            <a:off x="5120640" y="4014216"/>
            <a:ext cx="868680" cy="82296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1A1A1A"/>
                </a:solidFill>
                <a:latin typeface="Arial"/>
              </a:rPr>
              <a:t>D3</a:t>
            </a:r>
          </a:p>
        </p:txBody>
      </p:sp>
      <p:sp>
        <p:nvSpPr>
          <p:cNvPr id="14" name="TextBox 13"/>
          <p:cNvSpPr txBox="1"/>
          <p:nvPr/>
        </p:nvSpPr>
        <p:spPr>
          <a:xfrm>
            <a:off x="6126480" y="4014216"/>
            <a:ext cx="5577840" cy="868680"/>
          </a:xfrm>
          <a:prstGeom prst="rect">
            <a:avLst/>
          </a:prstGeom>
          <a:noFill/>
        </p:spPr>
        <p:txBody>
          <a:bodyPr wrap="square" anchor="t" lIns="45720" rIns="45720">
            <a:spAutoFit/>
          </a:bodyPr>
          <a:lstStyle/>
          <a:p>
            <a:pPr algn="l">
              <a:spcAft>
                <a:spcPts val="200"/>
              </a:spcAft>
            </a:pPr>
            <a:r>
              <a:rPr sz="1600" b="1">
                <a:solidFill>
                  <a:srgbClr val="1A1A1A"/>
                </a:solidFill>
                <a:latin typeface="Arial"/>
              </a:rPr>
              <a:t>Reed job adverts</a:t>
            </a:r>
          </a:p>
          <a:p>
            <a:pPr algn="l">
              <a:spcAft>
                <a:spcPts val="200"/>
              </a:spcAft>
            </a:pPr>
            <a:r>
              <a:rPr sz="1500" b="0">
                <a:solidFill>
                  <a:srgbClr val="1A1A1A"/>
                </a:solidFill>
                <a:latin typeface="Arial"/>
              </a:rPr>
              <a:t>163 UK financial-services GRC adverts</a:t>
            </a:r>
          </a:p>
        </p:txBody>
      </p:sp>
      <p:sp>
        <p:nvSpPr>
          <p:cNvPr id="15" name="Rectangle 14"/>
          <p:cNvSpPr/>
          <p:nvPr/>
        </p:nvSpPr>
        <p:spPr>
          <a:xfrm>
            <a:off x="5120640" y="5038344"/>
            <a:ext cx="868680" cy="82296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1A1A1A"/>
                </a:solidFill>
                <a:latin typeface="Arial"/>
              </a:rPr>
              <a:t>D4</a:t>
            </a:r>
          </a:p>
        </p:txBody>
      </p:sp>
      <p:sp>
        <p:nvSpPr>
          <p:cNvPr id="16" name="TextBox 15"/>
          <p:cNvSpPr txBox="1"/>
          <p:nvPr/>
        </p:nvSpPr>
        <p:spPr>
          <a:xfrm>
            <a:off x="6126480" y="5038344"/>
            <a:ext cx="5577840" cy="868680"/>
          </a:xfrm>
          <a:prstGeom prst="rect">
            <a:avLst/>
          </a:prstGeom>
          <a:noFill/>
        </p:spPr>
        <p:txBody>
          <a:bodyPr wrap="square" anchor="t" lIns="45720" rIns="45720">
            <a:spAutoFit/>
          </a:bodyPr>
          <a:lstStyle/>
          <a:p>
            <a:pPr algn="l">
              <a:spcAft>
                <a:spcPts val="200"/>
              </a:spcAft>
            </a:pPr>
            <a:r>
              <a:rPr sz="1600" b="1">
                <a:solidFill>
                  <a:srgbClr val="1A1A1A"/>
                </a:solidFill>
                <a:latin typeface="Arial"/>
              </a:rPr>
              <a:t>Published surveys</a:t>
            </a:r>
          </a:p>
          <a:p>
            <a:pPr algn="l">
              <a:spcAft>
                <a:spcPts val="200"/>
              </a:spcAft>
            </a:pPr>
            <a:r>
              <a:rPr sz="1500" b="0">
                <a:solidFill>
                  <a:srgbClr val="1A1A1A"/>
                </a:solidFill>
                <a:latin typeface="Arial"/>
              </a:rPr>
              <a:t>BoE/FCA 2022 &amp; 2024, IIA, Thomson Reuters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Every hypothesis traces back to something practitioners said</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9</a:t>
            </a:r>
          </a:p>
        </p:txBody>
      </p:sp>
      <p:graphicFrame>
        <p:nvGraphicFramePr>
          <p:cNvPr id="6" name="Table 5"/>
          <p:cNvGraphicFramePr>
            <a:graphicFrameLocks noGrp="1"/>
          </p:cNvGraphicFramePr>
          <p:nvPr/>
        </p:nvGraphicFramePr>
        <p:xfrm>
          <a:off x="457200" y="1463040"/>
          <a:ext cx="11247120" cy="4389120"/>
        </p:xfrm>
        <a:graphic>
          <a:graphicData uri="http://schemas.openxmlformats.org/drawingml/2006/table">
            <a:tbl>
              <a:tblPr>
                <a:tableStyleId>{5C22544A-7EE6-4342-B048-85BDC9FD1C3A}</a:tableStyleId>
              </a:tblPr>
              <a:tblGrid>
                <a:gridCol w="3931920"/>
                <a:gridCol w="3291840"/>
                <a:gridCol w="4023360"/>
              </a:tblGrid>
              <a:tr h="548640">
                <a:tc>
                  <a:txBody>
                    <a:bodyPr wrap="square"/>
                    <a:lstStyle/>
                    <a:p>
                      <a:r>
                        <a:rPr sz="1500" b="1">
                          <a:solidFill>
                            <a:srgbClr val="1A1A1A"/>
                          </a:solidFill>
                          <a:latin typeface="Arial"/>
                        </a:rPr>
                        <a:t>Interview theme</a:t>
                      </a:r>
                    </a:p>
                  </a:txBody>
                  <a:tcPr marL="54864" marR="54864" marT="27432" marB="27432">
                    <a:solidFill>
                      <a:srgbClr val="D9D9D9"/>
                    </a:solidFill>
                  </a:tcPr>
                </a:tc>
                <a:tc>
                  <a:txBody>
                    <a:bodyPr wrap="square"/>
                    <a:lstStyle/>
                    <a:p>
                      <a:r>
                        <a:rPr sz="1500" b="1">
                          <a:solidFill>
                            <a:srgbClr val="1A1A1A"/>
                          </a:solidFill>
                          <a:latin typeface="Arial"/>
                        </a:rPr>
                        <a:t>Questionnaire signal</a:t>
                      </a:r>
                    </a:p>
                  </a:txBody>
                  <a:tcPr marL="54864" marR="54864" marT="27432" marB="27432">
                    <a:solidFill>
                      <a:srgbClr val="D9D9D9"/>
                    </a:solidFill>
                  </a:tcPr>
                </a:tc>
                <a:tc>
                  <a:txBody>
                    <a:bodyPr wrap="square"/>
                    <a:lstStyle/>
                    <a:p>
                      <a:r>
                        <a:rPr sz="1500" b="1">
                          <a:solidFill>
                            <a:srgbClr val="1A1A1A"/>
                          </a:solidFill>
                          <a:latin typeface="Arial"/>
                        </a:rPr>
                        <a:t>Public-data hypothesis</a:t>
                      </a:r>
                    </a:p>
                  </a:txBody>
                  <a:tcPr marL="54864" marR="54864" marT="27432" marB="27432">
                    <a:solidFill>
                      <a:srgbClr val="D9D9D9"/>
                    </a:solidFill>
                  </a:tcPr>
                </a:tc>
              </a:tr>
              <a:tr h="548640">
                <a:tc>
                  <a:txBody>
                    <a:bodyPr wrap="square"/>
                    <a:lstStyle/>
                    <a:p>
                      <a:r>
                        <a:rPr sz="1500" b="0">
                          <a:solidFill>
                            <a:srgbClr val="1A1A1A"/>
                          </a:solidFill>
                          <a:latin typeface="Arial"/>
                        </a:rPr>
                        <a:t>T1  AI spreading, still pilot-heavy</a:t>
                      </a:r>
                    </a:p>
                  </a:txBody>
                  <a:tcPr marL="54864" marR="54864" marT="27432" marB="27432">
                    <a:solidFill>
                      <a:srgbClr val="FFFFFF"/>
                    </a:solidFill>
                  </a:tcPr>
                </a:tc>
                <a:tc>
                  <a:txBody>
                    <a:bodyPr wrap="square"/>
                    <a:lstStyle/>
                    <a:p>
                      <a:r>
                        <a:rPr sz="1500" b="0">
                          <a:solidFill>
                            <a:srgbClr val="1A1A1A"/>
                          </a:solidFill>
                          <a:latin typeface="Arial"/>
                        </a:rPr>
                        <a:t>Role will change: 4.33</a:t>
                      </a:r>
                    </a:p>
                  </a:txBody>
                  <a:tcPr marL="54864" marR="54864" marT="27432" marB="27432">
                    <a:solidFill>
                      <a:srgbClr val="FFFFFF"/>
                    </a:solidFill>
                  </a:tcPr>
                </a:tc>
                <a:tc>
                  <a:txBody>
                    <a:bodyPr wrap="square"/>
                    <a:lstStyle/>
                    <a:p>
                      <a:r>
                        <a:rPr sz="1500" b="0">
                          <a:solidFill>
                            <a:srgbClr val="1A1A1A"/>
                          </a:solidFill>
                          <a:latin typeface="Arial"/>
                        </a:rPr>
                        <a:t>H5a, H8: adoption is rising</a:t>
                      </a:r>
                    </a:p>
                  </a:txBody>
                  <a:tcPr marL="54864" marR="54864" marT="27432" marB="27432">
                    <a:solidFill>
                      <a:srgbClr val="FFFFFF"/>
                    </a:solidFill>
                  </a:tcPr>
                </a:tc>
              </a:tr>
              <a:tr h="548640">
                <a:tc>
                  <a:txBody>
                    <a:bodyPr wrap="square"/>
                    <a:lstStyle/>
                    <a:p>
                      <a:r>
                        <a:rPr sz="1500" b="0">
                          <a:solidFill>
                            <a:srgbClr val="1A1A1A"/>
                          </a:solidFill>
                          <a:latin typeface="Arial"/>
                        </a:rPr>
                        <a:t>T2/T3  Routine work absorbed</a:t>
                      </a:r>
                    </a:p>
                  </a:txBody>
                  <a:tcPr marL="54864" marR="54864" marT="27432" marB="27432">
                    <a:solidFill>
                      <a:srgbClr val="FFFFFF"/>
                    </a:solidFill>
                  </a:tcPr>
                </a:tc>
                <a:tc>
                  <a:txBody>
                    <a:bodyPr wrap="square"/>
                    <a:lstStyle/>
                    <a:p>
                      <a:r>
                        <a:rPr sz="1500" b="0">
                          <a:solidFill>
                            <a:srgbClr val="1A1A1A"/>
                          </a:solidFill>
                          <a:latin typeface="Arial"/>
                        </a:rPr>
                        <a:t>Usefulness: 3.58</a:t>
                      </a:r>
                    </a:p>
                  </a:txBody>
                  <a:tcPr marL="54864" marR="54864" marT="27432" marB="27432">
                    <a:solidFill>
                      <a:srgbClr val="FFFFFF"/>
                    </a:solidFill>
                  </a:tcPr>
                </a:tc>
                <a:tc>
                  <a:txBody>
                    <a:bodyPr wrap="square"/>
                    <a:lstStyle/>
                    <a:p>
                      <a:r>
                        <a:rPr sz="1500" b="0">
                          <a:solidFill>
                            <a:srgbClr val="1A1A1A"/>
                          </a:solidFill>
                          <a:latin typeface="Arial"/>
                        </a:rPr>
                        <a:t>H10a AI mentions; H6 skill mix in adverts</a:t>
                      </a:r>
                    </a:p>
                  </a:txBody>
                  <a:tcPr marL="54864" marR="54864" marT="27432" marB="27432">
                    <a:solidFill>
                      <a:srgbClr val="FFFFFF"/>
                    </a:solidFill>
                  </a:tcPr>
                </a:tc>
              </a:tr>
              <a:tr h="548640">
                <a:tc>
                  <a:txBody>
                    <a:bodyPr wrap="square"/>
                    <a:lstStyle/>
                    <a:p>
                      <a:r>
                        <a:rPr sz="1500" b="0">
                          <a:solidFill>
                            <a:srgbClr val="1A1A1A"/>
                          </a:solidFill>
                          <a:latin typeface="Arial"/>
                        </a:rPr>
                        <a:t>T4/T5  Humans must challenge AI</a:t>
                      </a:r>
                    </a:p>
                  </a:txBody>
                  <a:tcPr marL="54864" marR="54864" marT="27432" marB="27432">
                    <a:solidFill>
                      <a:srgbClr val="FFFFFF"/>
                    </a:solidFill>
                  </a:tcPr>
                </a:tc>
                <a:tc>
                  <a:txBody>
                    <a:bodyPr wrap="square"/>
                    <a:lstStyle/>
                    <a:p>
                      <a:r>
                        <a:rPr sz="1500" b="0">
                          <a:solidFill>
                            <a:srgbClr val="1A1A1A"/>
                          </a:solidFill>
                          <a:latin typeface="Arial"/>
                        </a:rPr>
                        <a:t>Can defend AI decision: 4.33</a:t>
                      </a:r>
                    </a:p>
                  </a:txBody>
                  <a:tcPr marL="54864" marR="54864" marT="27432" marB="27432">
                    <a:solidFill>
                      <a:srgbClr val="FFFFFF"/>
                    </a:solidFill>
                  </a:tcPr>
                </a:tc>
                <a:tc>
                  <a:txBody>
                    <a:bodyPr wrap="square"/>
                    <a:lstStyle/>
                    <a:p>
                      <a:r>
                        <a:rPr sz="1500" b="0">
                          <a:solidFill>
                            <a:srgbClr val="1A1A1A"/>
                          </a:solidFill>
                          <a:latin typeface="Arial"/>
                        </a:rPr>
                        <a:t>H10b: AI governance bodies</a:t>
                      </a:r>
                    </a:p>
                  </a:txBody>
                  <a:tcPr marL="54864" marR="54864" marT="27432" marB="27432">
                    <a:solidFill>
                      <a:srgbClr val="FFFFFF"/>
                    </a:solidFill>
                  </a:tcPr>
                </a:tc>
              </a:tr>
              <a:tr h="548640">
                <a:tc>
                  <a:txBody>
                    <a:bodyPr wrap="square"/>
                    <a:lstStyle/>
                    <a:p>
                      <a:r>
                        <a:rPr sz="1500" b="0">
                          <a:solidFill>
                            <a:srgbClr val="1A1A1A"/>
                          </a:solidFill>
                          <a:latin typeface="Arial"/>
                        </a:rPr>
                        <a:t>T6  Regulation felt unevenly</a:t>
                      </a:r>
                    </a:p>
                  </a:txBody>
                  <a:tcPr marL="54864" marR="54864" marT="27432" marB="27432">
                    <a:solidFill>
                      <a:srgbClr val="FFFFFF"/>
                    </a:solidFill>
                  </a:tcPr>
                </a:tc>
                <a:tc>
                  <a:txBody>
                    <a:bodyPr wrap="square"/>
                    <a:lstStyle/>
                    <a:p>
                      <a:r>
                        <a:rPr sz="1500" b="0">
                          <a:solidFill>
                            <a:srgbClr val="1A1A1A"/>
                          </a:solidFill>
                          <a:latin typeface="Arial"/>
                        </a:rPr>
                        <a:t>Oversight clear: 3.67</a:t>
                      </a:r>
                    </a:p>
                  </a:txBody>
                  <a:tcPr marL="54864" marR="54864" marT="27432" marB="27432">
                    <a:solidFill>
                      <a:srgbClr val="FFFFFF"/>
                    </a:solidFill>
                  </a:tcPr>
                </a:tc>
                <a:tc>
                  <a:txBody>
                    <a:bodyPr wrap="square"/>
                    <a:lstStyle/>
                    <a:p>
                      <a:r>
                        <a:rPr sz="1500" b="0">
                          <a:solidFill>
                            <a:srgbClr val="1A1A1A"/>
                          </a:solidFill>
                          <a:latin typeface="Arial"/>
                        </a:rPr>
                        <a:t>H10a regulation mentions; H10d UK vs EU</a:t>
                      </a:r>
                    </a:p>
                  </a:txBody>
                  <a:tcPr marL="54864" marR="54864" marT="27432" marB="27432">
                    <a:solidFill>
                      <a:srgbClr val="FFFFFF"/>
                    </a:solidFill>
                  </a:tcPr>
                </a:tc>
              </a:tr>
              <a:tr h="548640">
                <a:tc>
                  <a:txBody>
                    <a:bodyPr wrap="square"/>
                    <a:lstStyle/>
                    <a:p>
                      <a:r>
                        <a:rPr sz="1500" b="0">
                          <a:solidFill>
                            <a:srgbClr val="1A1A1A"/>
                          </a:solidFill>
                          <a:latin typeface="Arial"/>
                        </a:rPr>
                        <a:t>T7  Hybrid skills</a:t>
                      </a:r>
                    </a:p>
                  </a:txBody>
                  <a:tcPr marL="54864" marR="54864" marT="27432" marB="27432">
                    <a:solidFill>
                      <a:srgbClr val="FFFFFF"/>
                    </a:solidFill>
                  </a:tcPr>
                </a:tc>
                <a:tc>
                  <a:txBody>
                    <a:bodyPr wrap="square"/>
                    <a:lstStyle/>
                    <a:p>
                      <a:r>
                        <a:rPr sz="1500" b="0">
                          <a:solidFill>
                            <a:srgbClr val="1A1A1A"/>
                          </a:solidFill>
                          <a:latin typeface="Arial"/>
                        </a:rPr>
                        <a:t>Data skills more important: 4.00</a:t>
                      </a:r>
                    </a:p>
                  </a:txBody>
                  <a:tcPr marL="54864" marR="54864" marT="27432" marB="27432">
                    <a:solidFill>
                      <a:srgbClr val="FFFFFF"/>
                    </a:solidFill>
                  </a:tcPr>
                </a:tc>
                <a:tc>
                  <a:txBody>
                    <a:bodyPr wrap="square"/>
                    <a:lstStyle/>
                    <a:p>
                      <a:r>
                        <a:rPr sz="1500" b="0">
                          <a:solidFill>
                            <a:srgbClr val="1A1A1A"/>
                          </a:solidFill>
                          <a:latin typeface="Arial"/>
                        </a:rPr>
                        <a:t>H5b, H6, H7: skills and pay</a:t>
                      </a:r>
                    </a:p>
                  </a:txBody>
                  <a:tcPr marL="54864" marR="54864" marT="27432" marB="27432">
                    <a:solidFill>
                      <a:srgbClr val="FFFFFF"/>
                    </a:solidFill>
                  </a:tcPr>
                </a:tc>
              </a:tr>
              <a:tr h="548640">
                <a:tc>
                  <a:txBody>
                    <a:bodyPr wrap="square"/>
                    <a:lstStyle/>
                    <a:p>
                      <a:r>
                        <a:rPr sz="1500" b="0">
                          <a:solidFill>
                            <a:srgbClr val="C00000"/>
                          </a:solidFill>
                          <a:latin typeface="Arial"/>
                        </a:rPr>
                        <a:t>T8/T9  Training lags, knowledge at risk</a:t>
                      </a:r>
                    </a:p>
                  </a:txBody>
                  <a:tcPr marL="54864" marR="54864" marT="27432" marB="27432">
                    <a:solidFill>
                      <a:srgbClr val="FFFFFF"/>
                    </a:solidFill>
                  </a:tcPr>
                </a:tc>
                <a:tc>
                  <a:txBody>
                    <a:bodyPr wrap="square"/>
                    <a:lstStyle/>
                    <a:p>
                      <a:r>
                        <a:rPr sz="1500" b="0">
                          <a:solidFill>
                            <a:srgbClr val="C00000"/>
                          </a:solidFill>
                          <a:latin typeface="Arial"/>
                        </a:rPr>
                        <a:t>Training adequate: 3.33</a:t>
                      </a:r>
                    </a:p>
                  </a:txBody>
                  <a:tcPr marL="54864" marR="54864" marT="27432" marB="27432">
                    <a:solidFill>
                      <a:srgbClr val="FFFFFF"/>
                    </a:solidFill>
                  </a:tcPr>
                </a:tc>
                <a:tc>
                  <a:txBody>
                    <a:bodyPr wrap="square"/>
                    <a:lstStyle/>
                    <a:p>
                      <a:r>
                        <a:rPr sz="1500" b="0">
                          <a:solidFill>
                            <a:srgbClr val="C00000"/>
                          </a:solidFill>
                          <a:latin typeface="Arial"/>
                        </a:rPr>
                        <a:t>H9 skills constraint; H10c reskilling vs AI</a:t>
                      </a:r>
                    </a:p>
                  </a:txBody>
                  <a:tcPr marL="54864" marR="54864" marT="27432" marB="27432">
                    <a:solidFill>
                      <a:srgbClr val="FFFFFF"/>
                    </a:solidFill>
                  </a:tcPr>
                </a:tc>
              </a:tr>
              <a:tr h="548640">
                <a:tc>
                  <a:txBody>
                    <a:bodyPr wrap="square"/>
                    <a:lstStyle/>
                    <a:p>
                      <a:r>
                        <a:rPr sz="1500" b="0">
                          <a:solidFill>
                            <a:srgbClr val="1A1A1A"/>
                          </a:solidFill>
                          <a:latin typeface="Arial"/>
                        </a:rPr>
                        <a:t>T10  Anxiety, weak change management</a:t>
                      </a:r>
                    </a:p>
                  </a:txBody>
                  <a:tcPr marL="54864" marR="54864" marT="27432" marB="27432">
                    <a:solidFill>
                      <a:srgbClr val="FFFFFF"/>
                    </a:solidFill>
                  </a:tcPr>
                </a:tc>
                <a:tc>
                  <a:txBody>
                    <a:bodyPr wrap="square"/>
                    <a:lstStyle/>
                    <a:p>
                      <a:r>
                        <a:rPr sz="1500" b="0">
                          <a:solidFill>
                            <a:srgbClr val="1A1A1A"/>
                          </a:solidFill>
                          <a:latin typeface="Arial"/>
                        </a:rPr>
                        <a:t>Replaceability concern: 3.89</a:t>
                      </a:r>
                    </a:p>
                  </a:txBody>
                  <a:tcPr marL="54864" marR="54864" marT="27432" marB="27432">
                    <a:solidFill>
                      <a:srgbClr val="FFFFFF"/>
                    </a:solidFill>
                  </a:tcPr>
                </a:tc>
                <a:tc>
                  <a:txBody>
                    <a:bodyPr wrap="square"/>
                    <a:lstStyle/>
                    <a:p>
                      <a:r>
                        <a:rPr sz="1500" b="0">
                          <a:solidFill>
                            <a:srgbClr val="1A1A1A"/>
                          </a:solidFill>
                          <a:latin typeface="Arial"/>
                        </a:rPr>
                        <a:t>Not testable on public data</a:t>
                      </a:r>
                    </a:p>
                  </a:txBody>
                  <a:tcPr marL="54864" marR="54864"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Each test was chosen by the shape of the data</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10</a:t>
            </a:r>
          </a:p>
        </p:txBody>
      </p:sp>
      <p:sp>
        <p:nvSpPr>
          <p:cNvPr id="6" name="Rectangle 5"/>
          <p:cNvSpPr/>
          <p:nvPr/>
        </p:nvSpPr>
        <p:spPr>
          <a:xfrm>
            <a:off x="548640" y="1508760"/>
            <a:ext cx="4480560" cy="548640"/>
          </a:xfrm>
          <a:prstGeom prst="rect">
            <a:avLst/>
          </a:prstGeom>
          <a:noFill/>
          <a:ln w="1587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500" b="0">
                <a:solidFill>
                  <a:srgbClr val="1A1A1A"/>
                </a:solidFill>
                <a:latin typeface="Arial"/>
              </a:rPr>
              <a:t>Same countries/banks measured twice</a:t>
            </a:r>
          </a:p>
        </p:txBody>
      </p:sp>
      <p:sp>
        <p:nvSpPr>
          <p:cNvPr id="7" name="Right Arrow 6"/>
          <p:cNvSpPr/>
          <p:nvPr/>
        </p:nvSpPr>
        <p:spPr>
          <a:xfrm>
            <a:off x="5138928" y="1645919"/>
            <a:ext cx="411480" cy="27432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8" name="Rectangle 7"/>
          <p:cNvSpPr/>
          <p:nvPr/>
        </p:nvSpPr>
        <p:spPr>
          <a:xfrm>
            <a:off x="5669280" y="1508760"/>
            <a:ext cx="4206240" cy="5486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A1A1A"/>
                </a:solidFill>
                <a:latin typeface="Arial"/>
              </a:rPr>
              <a:t>Paired t-test + Wilcoxon;  Friedman (4 yrs)</a:t>
            </a:r>
          </a:p>
        </p:txBody>
      </p:sp>
      <p:sp>
        <p:nvSpPr>
          <p:cNvPr id="9" name="TextBox 8"/>
          <p:cNvSpPr txBox="1"/>
          <p:nvPr/>
        </p:nvSpPr>
        <p:spPr>
          <a:xfrm>
            <a:off x="10012680" y="1600200"/>
            <a:ext cx="1737360" cy="457200"/>
          </a:xfrm>
          <a:prstGeom prst="rect">
            <a:avLst/>
          </a:prstGeom>
          <a:noFill/>
        </p:spPr>
        <p:txBody>
          <a:bodyPr wrap="square" anchor="t" lIns="45720" rIns="45720">
            <a:spAutoFit/>
          </a:bodyPr>
          <a:lstStyle/>
          <a:p>
            <a:pPr algn="l">
              <a:spcAft>
                <a:spcPts val="800"/>
              </a:spcAft>
            </a:pPr>
            <a:r>
              <a:rPr sz="1500" b="0">
                <a:solidFill>
                  <a:srgbClr val="6E6E6E"/>
                </a:solidFill>
                <a:latin typeface="Arial"/>
              </a:rPr>
              <a:t>H5a, H10a</a:t>
            </a:r>
          </a:p>
        </p:txBody>
      </p:sp>
      <p:sp>
        <p:nvSpPr>
          <p:cNvPr id="10" name="Rectangle 9"/>
          <p:cNvSpPr/>
          <p:nvPr/>
        </p:nvSpPr>
        <p:spPr>
          <a:xfrm>
            <a:off x="548640" y="2194560"/>
            <a:ext cx="4480560" cy="548640"/>
          </a:xfrm>
          <a:prstGeom prst="rect">
            <a:avLst/>
          </a:prstGeom>
          <a:noFill/>
          <a:ln w="1587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500" b="0">
                <a:solidFill>
                  <a:srgbClr val="1A1A1A"/>
                </a:solidFill>
                <a:latin typeface="Arial"/>
              </a:rPr>
              <a:t>Yes/no for the same banks, two years</a:t>
            </a:r>
          </a:p>
        </p:txBody>
      </p:sp>
      <p:sp>
        <p:nvSpPr>
          <p:cNvPr id="11" name="Right Arrow 10"/>
          <p:cNvSpPr/>
          <p:nvPr/>
        </p:nvSpPr>
        <p:spPr>
          <a:xfrm>
            <a:off x="5138928" y="2331720"/>
            <a:ext cx="411480" cy="27432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2" name="Rectangle 11"/>
          <p:cNvSpPr/>
          <p:nvPr/>
        </p:nvSpPr>
        <p:spPr>
          <a:xfrm>
            <a:off x="5669280" y="2194560"/>
            <a:ext cx="4206240" cy="5486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A1A1A"/>
                </a:solidFill>
                <a:latin typeface="Arial"/>
              </a:rPr>
              <a:t>Exact McNemar</a:t>
            </a:r>
          </a:p>
        </p:txBody>
      </p:sp>
      <p:sp>
        <p:nvSpPr>
          <p:cNvPr id="13" name="TextBox 12"/>
          <p:cNvSpPr txBox="1"/>
          <p:nvPr/>
        </p:nvSpPr>
        <p:spPr>
          <a:xfrm>
            <a:off x="10012680" y="2286000"/>
            <a:ext cx="1737360" cy="457200"/>
          </a:xfrm>
          <a:prstGeom prst="rect">
            <a:avLst/>
          </a:prstGeom>
          <a:noFill/>
        </p:spPr>
        <p:txBody>
          <a:bodyPr wrap="square" anchor="t" lIns="45720" rIns="45720">
            <a:spAutoFit/>
          </a:bodyPr>
          <a:lstStyle/>
          <a:p>
            <a:pPr algn="l">
              <a:spcAft>
                <a:spcPts val="800"/>
              </a:spcAft>
            </a:pPr>
            <a:r>
              <a:rPr sz="1500" b="0">
                <a:solidFill>
                  <a:srgbClr val="6E6E6E"/>
                </a:solidFill>
                <a:latin typeface="Arial"/>
              </a:rPr>
              <a:t>H10b</a:t>
            </a:r>
          </a:p>
        </p:txBody>
      </p:sp>
      <p:sp>
        <p:nvSpPr>
          <p:cNvPr id="14" name="Rectangle 13"/>
          <p:cNvSpPr/>
          <p:nvPr/>
        </p:nvSpPr>
        <p:spPr>
          <a:xfrm>
            <a:off x="548640" y="2880360"/>
            <a:ext cx="4480560" cy="548640"/>
          </a:xfrm>
          <a:prstGeom prst="rect">
            <a:avLst/>
          </a:prstGeom>
          <a:noFill/>
          <a:ln w="1587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500" b="0">
                <a:solidFill>
                  <a:srgbClr val="1A1A1A"/>
                </a:solidFill>
                <a:latin typeface="Arial"/>
              </a:rPr>
              <a:t>Two independent, skewed groups</a:t>
            </a:r>
          </a:p>
        </p:txBody>
      </p:sp>
      <p:sp>
        <p:nvSpPr>
          <p:cNvPr id="15" name="Right Arrow 14"/>
          <p:cNvSpPr/>
          <p:nvPr/>
        </p:nvSpPr>
        <p:spPr>
          <a:xfrm>
            <a:off x="5138928" y="3017520"/>
            <a:ext cx="411480" cy="27432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6" name="Rectangle 15"/>
          <p:cNvSpPr/>
          <p:nvPr/>
        </p:nvSpPr>
        <p:spPr>
          <a:xfrm>
            <a:off x="5669280" y="2880360"/>
            <a:ext cx="4206240" cy="5486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A1A1A"/>
                </a:solidFill>
                <a:latin typeface="Arial"/>
              </a:rPr>
              <a:t>Mann–Whitney U</a:t>
            </a:r>
          </a:p>
        </p:txBody>
      </p:sp>
      <p:sp>
        <p:nvSpPr>
          <p:cNvPr id="17" name="TextBox 16"/>
          <p:cNvSpPr txBox="1"/>
          <p:nvPr/>
        </p:nvSpPr>
        <p:spPr>
          <a:xfrm>
            <a:off x="10012680" y="2971800"/>
            <a:ext cx="1737360" cy="457200"/>
          </a:xfrm>
          <a:prstGeom prst="rect">
            <a:avLst/>
          </a:prstGeom>
          <a:noFill/>
        </p:spPr>
        <p:txBody>
          <a:bodyPr wrap="square" anchor="t" lIns="45720" rIns="45720">
            <a:spAutoFit/>
          </a:bodyPr>
          <a:lstStyle/>
          <a:p>
            <a:pPr algn="l">
              <a:spcAft>
                <a:spcPts val="800"/>
              </a:spcAft>
            </a:pPr>
            <a:r>
              <a:rPr sz="1500" b="0">
                <a:solidFill>
                  <a:srgbClr val="6E6E6E"/>
                </a:solidFill>
                <a:latin typeface="Arial"/>
              </a:rPr>
              <a:t>H7, H10d</a:t>
            </a:r>
          </a:p>
        </p:txBody>
      </p:sp>
      <p:sp>
        <p:nvSpPr>
          <p:cNvPr id="18" name="Rectangle 17"/>
          <p:cNvSpPr/>
          <p:nvPr/>
        </p:nvSpPr>
        <p:spPr>
          <a:xfrm>
            <a:off x="548640" y="3566160"/>
            <a:ext cx="4480560" cy="548640"/>
          </a:xfrm>
          <a:prstGeom prst="rect">
            <a:avLst/>
          </a:prstGeom>
          <a:noFill/>
          <a:ln w="1587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500" b="0">
                <a:solidFill>
                  <a:srgbClr val="1A1A1A"/>
                </a:solidFill>
                <a:latin typeface="Arial"/>
              </a:rPr>
              <a:t>Yes/no skill flags across two groups</a:t>
            </a:r>
          </a:p>
        </p:txBody>
      </p:sp>
      <p:sp>
        <p:nvSpPr>
          <p:cNvPr id="19" name="Right Arrow 18"/>
          <p:cNvSpPr/>
          <p:nvPr/>
        </p:nvSpPr>
        <p:spPr>
          <a:xfrm>
            <a:off x="5138928" y="3703320"/>
            <a:ext cx="411480" cy="27432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20" name="Rectangle 19"/>
          <p:cNvSpPr/>
          <p:nvPr/>
        </p:nvSpPr>
        <p:spPr>
          <a:xfrm>
            <a:off x="5669280" y="3566160"/>
            <a:ext cx="4206240" cy="5486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A1A1A"/>
                </a:solidFill>
                <a:latin typeface="Arial"/>
              </a:rPr>
              <a:t>Chi-square / Fisher + Holm</a:t>
            </a:r>
          </a:p>
        </p:txBody>
      </p:sp>
      <p:sp>
        <p:nvSpPr>
          <p:cNvPr id="21" name="TextBox 20"/>
          <p:cNvSpPr txBox="1"/>
          <p:nvPr/>
        </p:nvSpPr>
        <p:spPr>
          <a:xfrm>
            <a:off x="10012680" y="3657600"/>
            <a:ext cx="1737360" cy="457200"/>
          </a:xfrm>
          <a:prstGeom prst="rect">
            <a:avLst/>
          </a:prstGeom>
          <a:noFill/>
        </p:spPr>
        <p:txBody>
          <a:bodyPr wrap="square" anchor="t" lIns="45720" rIns="45720">
            <a:spAutoFit/>
          </a:bodyPr>
          <a:lstStyle/>
          <a:p>
            <a:pPr algn="l">
              <a:spcAft>
                <a:spcPts val="800"/>
              </a:spcAft>
            </a:pPr>
            <a:r>
              <a:rPr sz="1500" b="0">
                <a:solidFill>
                  <a:srgbClr val="6E6E6E"/>
                </a:solidFill>
                <a:latin typeface="Arial"/>
              </a:rPr>
              <a:t>H6</a:t>
            </a:r>
          </a:p>
        </p:txBody>
      </p:sp>
      <p:sp>
        <p:nvSpPr>
          <p:cNvPr id="22" name="Rectangle 21"/>
          <p:cNvSpPr/>
          <p:nvPr/>
        </p:nvSpPr>
        <p:spPr>
          <a:xfrm>
            <a:off x="548640" y="4251960"/>
            <a:ext cx="4480560" cy="548640"/>
          </a:xfrm>
          <a:prstGeom prst="rect">
            <a:avLst/>
          </a:prstGeom>
          <a:noFill/>
          <a:ln w="1587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500" b="0">
                <a:solidFill>
                  <a:srgbClr val="1A1A1A"/>
                </a:solidFill>
                <a:latin typeface="Arial"/>
              </a:rPr>
              <a:t>Only published percentages</a:t>
            </a:r>
          </a:p>
        </p:txBody>
      </p:sp>
      <p:sp>
        <p:nvSpPr>
          <p:cNvPr id="23" name="Right Arrow 22"/>
          <p:cNvSpPr/>
          <p:nvPr/>
        </p:nvSpPr>
        <p:spPr>
          <a:xfrm>
            <a:off x="5138928" y="4389120"/>
            <a:ext cx="411480" cy="27432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24" name="Rectangle 23"/>
          <p:cNvSpPr/>
          <p:nvPr/>
        </p:nvSpPr>
        <p:spPr>
          <a:xfrm>
            <a:off x="5669280" y="4251960"/>
            <a:ext cx="4206240" cy="5486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A1A1A"/>
                </a:solidFill>
                <a:latin typeface="Arial"/>
              </a:rPr>
              <a:t>Two-proportion &amp; one-sample z</a:t>
            </a:r>
          </a:p>
        </p:txBody>
      </p:sp>
      <p:sp>
        <p:nvSpPr>
          <p:cNvPr id="25" name="TextBox 24"/>
          <p:cNvSpPr txBox="1"/>
          <p:nvPr/>
        </p:nvSpPr>
        <p:spPr>
          <a:xfrm>
            <a:off x="10012680" y="4343400"/>
            <a:ext cx="1737360" cy="457200"/>
          </a:xfrm>
          <a:prstGeom prst="rect">
            <a:avLst/>
          </a:prstGeom>
          <a:noFill/>
        </p:spPr>
        <p:txBody>
          <a:bodyPr wrap="square" anchor="t" lIns="45720" rIns="45720">
            <a:spAutoFit/>
          </a:bodyPr>
          <a:lstStyle/>
          <a:p>
            <a:pPr algn="l">
              <a:spcAft>
                <a:spcPts val="800"/>
              </a:spcAft>
            </a:pPr>
            <a:r>
              <a:rPr sz="1500" b="0">
                <a:solidFill>
                  <a:srgbClr val="6E6E6E"/>
                </a:solidFill>
                <a:latin typeface="Arial"/>
              </a:rPr>
              <a:t>H8, H9</a:t>
            </a:r>
          </a:p>
        </p:txBody>
      </p:sp>
      <p:sp>
        <p:nvSpPr>
          <p:cNvPr id="26" name="Rectangle 25"/>
          <p:cNvSpPr/>
          <p:nvPr/>
        </p:nvSpPr>
        <p:spPr>
          <a:xfrm>
            <a:off x="548640" y="4937760"/>
            <a:ext cx="4480560" cy="548640"/>
          </a:xfrm>
          <a:prstGeom prst="rect">
            <a:avLst/>
          </a:prstGeom>
          <a:noFill/>
          <a:ln w="1587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500" b="0">
                <a:solidFill>
                  <a:srgbClr val="1A1A1A"/>
                </a:solidFill>
                <a:latin typeface="Arial"/>
              </a:rPr>
              <a:t>Strength of a link</a:t>
            </a:r>
          </a:p>
        </p:txBody>
      </p:sp>
      <p:sp>
        <p:nvSpPr>
          <p:cNvPr id="27" name="Right Arrow 26"/>
          <p:cNvSpPr/>
          <p:nvPr/>
        </p:nvSpPr>
        <p:spPr>
          <a:xfrm>
            <a:off x="5138928" y="5074920"/>
            <a:ext cx="411480" cy="27432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28" name="Rectangle 27"/>
          <p:cNvSpPr/>
          <p:nvPr/>
        </p:nvSpPr>
        <p:spPr>
          <a:xfrm>
            <a:off x="5669280" y="4937760"/>
            <a:ext cx="4206240" cy="5486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A1A1A"/>
                </a:solidFill>
                <a:latin typeface="Arial"/>
              </a:rPr>
              <a:t>Pearson / Spearman / OLS</a:t>
            </a:r>
          </a:p>
        </p:txBody>
      </p:sp>
      <p:sp>
        <p:nvSpPr>
          <p:cNvPr id="29" name="TextBox 28"/>
          <p:cNvSpPr txBox="1"/>
          <p:nvPr/>
        </p:nvSpPr>
        <p:spPr>
          <a:xfrm>
            <a:off x="10012680" y="5029200"/>
            <a:ext cx="1737360" cy="457200"/>
          </a:xfrm>
          <a:prstGeom prst="rect">
            <a:avLst/>
          </a:prstGeom>
          <a:noFill/>
        </p:spPr>
        <p:txBody>
          <a:bodyPr wrap="square" anchor="t" lIns="45720" rIns="45720">
            <a:spAutoFit/>
          </a:bodyPr>
          <a:lstStyle/>
          <a:p>
            <a:pPr algn="l">
              <a:spcAft>
                <a:spcPts val="800"/>
              </a:spcAft>
            </a:pPr>
            <a:r>
              <a:rPr sz="1500" b="0">
                <a:solidFill>
                  <a:srgbClr val="6E6E6E"/>
                </a:solidFill>
                <a:latin typeface="Arial"/>
              </a:rPr>
              <a:t>H5b, H10c</a:t>
            </a:r>
          </a:p>
        </p:txBody>
      </p:sp>
      <p:sp>
        <p:nvSpPr>
          <p:cNvPr id="30" name="Rectangle 29"/>
          <p:cNvSpPr/>
          <p:nvPr/>
        </p:nvSpPr>
        <p:spPr>
          <a:xfrm>
            <a:off x="548640" y="5715000"/>
            <a:ext cx="11155680" cy="548640"/>
          </a:xfrm>
          <a:prstGeom prst="rect">
            <a:avLst/>
          </a:prstGeom>
          <a:no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C00000"/>
                </a:solidFill>
                <a:latin typeface="Arial"/>
              </a:rPr>
              <a:t>Questionnaire: descriptive only (means/SD vs neutral 3); significance tests are not meaningful on a small purposive sample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Practitioners: routine work goes; judgement and knowledge matter more</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11</a:t>
            </a:r>
          </a:p>
        </p:txBody>
      </p:sp>
      <p:sp>
        <p:nvSpPr>
          <p:cNvPr id="6" name="Rectangle 5"/>
          <p:cNvSpPr/>
          <p:nvPr/>
        </p:nvSpPr>
        <p:spPr>
          <a:xfrm>
            <a:off x="548640" y="1600200"/>
            <a:ext cx="73152" cy="2651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7" name="TextBox 6"/>
          <p:cNvSpPr txBox="1"/>
          <p:nvPr/>
        </p:nvSpPr>
        <p:spPr>
          <a:xfrm>
            <a:off x="731520" y="1600200"/>
            <a:ext cx="3383280" cy="2651760"/>
          </a:xfrm>
          <a:prstGeom prst="rect">
            <a:avLst/>
          </a:prstGeom>
          <a:noFill/>
        </p:spPr>
        <p:txBody>
          <a:bodyPr wrap="square" anchor="ctr" lIns="45720" rIns="45720">
            <a:spAutoFit/>
          </a:bodyPr>
          <a:lstStyle/>
          <a:p>
            <a:pPr algn="l">
              <a:spcAft>
                <a:spcPts val="800"/>
              </a:spcAft>
            </a:pPr>
            <a:r>
              <a:rPr sz="1800" b="0">
                <a:solidFill>
                  <a:srgbClr val="1A1A1A"/>
                </a:solidFill>
                <a:latin typeface="Arial"/>
              </a:rPr>
              <a:t>"GRC testing roles have disappeared."</a:t>
            </a:r>
          </a:p>
        </p:txBody>
      </p:sp>
      <p:sp>
        <p:nvSpPr>
          <p:cNvPr id="8" name="Rectangle 7"/>
          <p:cNvSpPr/>
          <p:nvPr/>
        </p:nvSpPr>
        <p:spPr>
          <a:xfrm>
            <a:off x="4343400" y="1600200"/>
            <a:ext cx="73152" cy="2651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9" name="TextBox 8"/>
          <p:cNvSpPr txBox="1"/>
          <p:nvPr/>
        </p:nvSpPr>
        <p:spPr>
          <a:xfrm>
            <a:off x="4526280" y="1600200"/>
            <a:ext cx="3383280" cy="2651760"/>
          </a:xfrm>
          <a:prstGeom prst="rect">
            <a:avLst/>
          </a:prstGeom>
          <a:noFill/>
        </p:spPr>
        <p:txBody>
          <a:bodyPr wrap="square" anchor="ctr" lIns="45720" rIns="45720">
            <a:spAutoFit/>
          </a:bodyPr>
          <a:lstStyle/>
          <a:p>
            <a:pPr algn="l">
              <a:spcAft>
                <a:spcPts val="800"/>
              </a:spcAft>
            </a:pPr>
            <a:r>
              <a:rPr sz="1800" b="0">
                <a:solidFill>
                  <a:srgbClr val="1A1A1A"/>
                </a:solidFill>
                <a:latin typeface="Arial"/>
              </a:rPr>
              <a:t>"C-level execs really do not understand what the AI is, and thus are likely to simply trust it."</a:t>
            </a:r>
          </a:p>
        </p:txBody>
      </p:sp>
      <p:sp>
        <p:nvSpPr>
          <p:cNvPr id="10" name="Rectangle 9"/>
          <p:cNvSpPr/>
          <p:nvPr/>
        </p:nvSpPr>
        <p:spPr>
          <a:xfrm>
            <a:off x="8138160" y="1600200"/>
            <a:ext cx="73152" cy="265176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1" name="TextBox 10"/>
          <p:cNvSpPr txBox="1"/>
          <p:nvPr/>
        </p:nvSpPr>
        <p:spPr>
          <a:xfrm>
            <a:off x="8321040" y="1600200"/>
            <a:ext cx="3383280" cy="2651760"/>
          </a:xfrm>
          <a:prstGeom prst="rect">
            <a:avLst/>
          </a:prstGeom>
          <a:noFill/>
        </p:spPr>
        <p:txBody>
          <a:bodyPr wrap="square" anchor="ctr" lIns="45720" rIns="45720">
            <a:spAutoFit/>
          </a:bodyPr>
          <a:lstStyle/>
          <a:p>
            <a:pPr algn="l">
              <a:spcAft>
                <a:spcPts val="800"/>
              </a:spcAft>
            </a:pPr>
            <a:r>
              <a:rPr sz="1800" b="0">
                <a:solidFill>
                  <a:srgbClr val="1A1A1A"/>
                </a:solidFill>
                <a:latin typeface="Arial"/>
              </a:rPr>
              <a:t>"Too much business knowledge exists in people's heads… I would prioritise knowledge capture and transfer before any significant workforce reductions."</a:t>
            </a:r>
          </a:p>
        </p:txBody>
      </p:sp>
      <p:sp>
        <p:nvSpPr>
          <p:cNvPr id="12" name="TextBox 11"/>
          <p:cNvSpPr txBox="1"/>
          <p:nvPr/>
        </p:nvSpPr>
        <p:spPr>
          <a:xfrm>
            <a:off x="548640" y="4572000"/>
            <a:ext cx="11155680" cy="1645920"/>
          </a:xfrm>
          <a:prstGeom prst="rect">
            <a:avLst/>
          </a:prstGeom>
          <a:noFill/>
        </p:spPr>
        <p:txBody>
          <a:bodyPr wrap="square" anchor="t" lIns="45720" rIns="45720">
            <a:spAutoFit/>
          </a:bodyPr>
          <a:lstStyle/>
          <a:p>
            <a:pPr algn="l">
              <a:spcAft>
                <a:spcPts val="800"/>
              </a:spcAft>
            </a:pPr>
            <a:r>
              <a:rPr sz="1500" b="1">
                <a:solidFill>
                  <a:srgbClr val="6E6E6E"/>
                </a:solidFill>
                <a:latin typeface="Arial"/>
              </a:rPr>
              <a:t>Ten themes by objective:</a:t>
            </a:r>
            <a:r>
              <a:rPr sz="1500" b="0">
                <a:solidFill>
                  <a:srgbClr val="6E6E6E"/>
                </a:solidFill>
                <a:latin typeface="Arial"/>
              </a:rPr>
              <a:t>  (i) automation precedes AI · routine absorbed · roles recomposed   (ii) expert review · accountability gap · regulation uneven   (iii) hybrid skills · </a:t>
            </a:r>
            <a:r>
              <a:rPr sz="1500" b="1">
                <a:solidFill>
                  <a:srgbClr val="C00000"/>
                </a:solidFill>
                <a:latin typeface="Arial"/>
              </a:rPr>
              <a:t>knowledge loss</a:t>
            </a:r>
            <a:r>
              <a:rPr sz="1500" b="0">
                <a:solidFill>
                  <a:srgbClr val="6E6E6E"/>
                </a:solidFill>
                <a:latin typeface="Arial"/>
              </a:rPr>
              <a:t> · build-buy-borrow   (iv) ease welcomed, anxiety, weak change management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Questionnaire: easy to use but hard to see into, and training lags</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12</a:t>
            </a:r>
          </a:p>
        </p:txBody>
      </p:sp>
      <p:pic>
        <p:nvPicPr>
          <p:cNvPr id="6" name="Picture 5" descr="q_constructs.png"/>
          <p:cNvPicPr>
            <a:picLocks noChangeAspect="1"/>
          </p:cNvPicPr>
          <p:nvPr/>
        </p:nvPicPr>
        <p:blipFill>
          <a:blip r:embed="rId3"/>
          <a:stretch>
            <a:fillRect/>
          </a:stretch>
        </p:blipFill>
        <p:spPr>
          <a:xfrm>
            <a:off x="365760" y="1463040"/>
            <a:ext cx="6035040" cy="3073300"/>
          </a:xfrm>
          <a:prstGeom prst="rect">
            <a:avLst/>
          </a:prstGeom>
        </p:spPr>
      </p:pic>
      <p:pic>
        <p:nvPicPr>
          <p:cNvPr id="7" name="Picture 6" descr="q_gaps.png"/>
          <p:cNvPicPr>
            <a:picLocks noChangeAspect="1"/>
          </p:cNvPicPr>
          <p:nvPr/>
        </p:nvPicPr>
        <p:blipFill>
          <a:blip r:embed="rId4"/>
          <a:stretch>
            <a:fillRect/>
          </a:stretch>
        </p:blipFill>
        <p:spPr>
          <a:xfrm>
            <a:off x="6492240" y="1645920"/>
            <a:ext cx="5303520" cy="3277936"/>
          </a:xfrm>
          <a:prstGeom prst="rect">
            <a:avLst/>
          </a:prstGeom>
        </p:spPr>
      </p:pic>
      <p:sp>
        <p:nvSpPr>
          <p:cNvPr id="8" name="TextBox 7"/>
          <p:cNvSpPr txBox="1"/>
          <p:nvPr/>
        </p:nvSpPr>
        <p:spPr>
          <a:xfrm>
            <a:off x="6583680" y="4846320"/>
            <a:ext cx="5212080" cy="1280160"/>
          </a:xfrm>
          <a:prstGeom prst="rect">
            <a:avLst/>
          </a:prstGeom>
          <a:noFill/>
        </p:spPr>
        <p:txBody>
          <a:bodyPr wrap="square" anchor="t" lIns="45720" rIns="45720">
            <a:spAutoFit/>
          </a:bodyPr>
          <a:lstStyle/>
          <a:p>
            <a:pPr algn="l">
              <a:spcAft>
                <a:spcPts val="600"/>
              </a:spcAft>
            </a:pPr>
            <a:r>
              <a:rPr sz="1500" b="1">
                <a:solidFill>
                  <a:srgbClr val="C00000"/>
                </a:solidFill>
                <a:latin typeface="Arial"/>
              </a:rPr>
              <a:t>Usability–transparency gap</a:t>
            </a:r>
            <a:r>
              <a:rPr sz="1500" b="0">
                <a:solidFill>
                  <a:srgbClr val="1A1A1A"/>
                </a:solidFill>
                <a:latin typeface="Arial"/>
              </a:rPr>
              <a:t>: 4.33 vs 3.33</a:t>
            </a:r>
          </a:p>
          <a:p>
            <a:pPr algn="l">
              <a:spcAft>
                <a:spcPts val="600"/>
              </a:spcAft>
            </a:pPr>
            <a:r>
              <a:rPr sz="1500" b="1">
                <a:solidFill>
                  <a:srgbClr val="C00000"/>
                </a:solidFill>
                <a:latin typeface="Arial"/>
              </a:rPr>
              <a:t>Training gap</a:t>
            </a:r>
            <a:r>
              <a:rPr sz="1500" b="0">
                <a:solidFill>
                  <a:srgbClr val="1A1A1A"/>
                </a:solidFill>
                <a:latin typeface="Arial"/>
              </a:rPr>
              <a:t>: skills matter more (4.00), training adequate 3.33</a:t>
            </a:r>
          </a:p>
          <a:p>
            <a:pPr algn="l">
              <a:spcAft>
                <a:spcPts val="600"/>
              </a:spcAft>
            </a:pPr>
            <a:r>
              <a:rPr sz="1200" b="0">
                <a:solidFill>
                  <a:srgbClr val="1A1A1A"/>
                </a:solidFill>
                <a:latin typeface="Arial"/>
              </a:rPr>
              <a:t>Descriptive means only; not generalised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AI adoption is surging everywhere  (H5a, H8, H10a supported)</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13</a:t>
            </a:r>
          </a:p>
        </p:txBody>
      </p:sp>
      <p:pic>
        <p:nvPicPr>
          <p:cNvPr id="6" name="Picture 5" descr="d1_adoption.png"/>
          <p:cNvPicPr>
            <a:picLocks noChangeAspect="1"/>
          </p:cNvPicPr>
          <p:nvPr/>
        </p:nvPicPr>
        <p:blipFill>
          <a:blip r:embed="rId3"/>
          <a:stretch>
            <a:fillRect/>
          </a:stretch>
        </p:blipFill>
        <p:spPr>
          <a:xfrm>
            <a:off x="365760" y="1463040"/>
            <a:ext cx="5577840" cy="3408147"/>
          </a:xfrm>
          <a:prstGeom prst="rect">
            <a:avLst/>
          </a:prstGeom>
        </p:spPr>
      </p:pic>
      <p:pic>
        <p:nvPicPr>
          <p:cNvPr id="7" name="Picture 6" descr="d2_slope.png"/>
          <p:cNvPicPr>
            <a:picLocks noChangeAspect="1"/>
          </p:cNvPicPr>
          <p:nvPr/>
        </p:nvPicPr>
        <p:blipFill>
          <a:blip r:embed="rId4"/>
          <a:stretch>
            <a:fillRect/>
          </a:stretch>
        </p:blipFill>
        <p:spPr>
          <a:xfrm>
            <a:off x="6309360" y="1417320"/>
            <a:ext cx="4326971" cy="3931920"/>
          </a:xfrm>
          <a:prstGeom prst="rect">
            <a:avLst/>
          </a:prstGeom>
        </p:spPr>
      </p:pic>
      <p:sp>
        <p:nvSpPr>
          <p:cNvPr id="8" name="TextBox 7"/>
          <p:cNvSpPr txBox="1"/>
          <p:nvPr/>
        </p:nvSpPr>
        <p:spPr>
          <a:xfrm>
            <a:off x="548640" y="5349240"/>
            <a:ext cx="11155680" cy="914400"/>
          </a:xfrm>
          <a:prstGeom prst="rect">
            <a:avLst/>
          </a:prstGeom>
          <a:noFill/>
        </p:spPr>
        <p:txBody>
          <a:bodyPr wrap="square" anchor="t" lIns="45720" rIns="45720">
            <a:spAutoFit/>
          </a:bodyPr>
          <a:lstStyle/>
          <a:p>
            <a:pPr algn="ctr">
              <a:spcAft>
                <a:spcPts val="800"/>
              </a:spcAft>
            </a:pPr>
            <a:r>
              <a:rPr sz="1500" b="0">
                <a:solidFill>
                  <a:srgbClr val="1A1A1A"/>
                </a:solidFill>
                <a:latin typeface="Arial"/>
              </a:rPr>
              <a:t>EU large firms </a:t>
            </a:r>
            <a:r>
              <a:rPr sz="1500" b="1">
                <a:solidFill>
                  <a:srgbClr val="1A1A1A"/>
                </a:solidFill>
                <a:latin typeface="Arial"/>
              </a:rPr>
              <a:t>27.5% → 53.6%</a:t>
            </a:r>
            <a:r>
              <a:rPr sz="1500" b="0">
                <a:solidFill>
                  <a:srgbClr val="1A1A1A"/>
                </a:solidFill>
                <a:latin typeface="Arial"/>
              </a:rPr>
              <a:t>, up in 27/27 countries (p &lt; 0.0001)   |   UK FS firms </a:t>
            </a:r>
            <a:r>
              <a:rPr sz="1500" b="1">
                <a:solidFill>
                  <a:srgbClr val="1A1A1A"/>
                </a:solidFill>
                <a:latin typeface="Arial"/>
              </a:rPr>
              <a:t>58% → 75%</a:t>
            </a:r>
            <a:r>
              <a:rPr sz="1500" b="0">
                <a:solidFill>
                  <a:srgbClr val="1A1A1A"/>
                </a:solidFill>
                <a:latin typeface="Arial"/>
              </a:rPr>
              <a:t> (p = 0.008)   |   Bank AI mentions </a:t>
            </a:r>
            <a:r>
              <a:rPr sz="1500" b="1">
                <a:solidFill>
                  <a:srgbClr val="1A1A1A"/>
                </a:solidFill>
                <a:latin typeface="Arial"/>
              </a:rPr>
              <a:t>≈10×</a:t>
            </a:r>
            <a:r>
              <a:rPr sz="1500" b="0">
                <a:solidFill>
                  <a:srgbClr val="1A1A1A"/>
                </a:solidFill>
                <a:latin typeface="Arial"/>
              </a:rPr>
              <a:t>, up in </a:t>
            </a:r>
            <a:r>
              <a:rPr sz="1500" b="1">
                <a:solidFill>
                  <a:srgbClr val="C00000"/>
                </a:solidFill>
                <a:latin typeface="Arial"/>
              </a:rPr>
              <a:t>19 of 19 banks</a:t>
            </a:r>
            <a:r>
              <a:rPr sz="1500" b="0">
                <a:solidFill>
                  <a:srgbClr val="1A1A1A"/>
                </a:solidFill>
                <a:latin typeface="Arial"/>
              </a:rPr>
              <a:t> (p &lt; 0.0001)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Governance structures are growing faster than governance practice</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14</a:t>
            </a:r>
          </a:p>
        </p:txBody>
      </p:sp>
      <p:pic>
        <p:nvPicPr>
          <p:cNvPr id="6" name="Picture 5" descr="d2_govbody.png"/>
          <p:cNvPicPr>
            <a:picLocks noChangeAspect="1"/>
          </p:cNvPicPr>
          <p:nvPr/>
        </p:nvPicPr>
        <p:blipFill>
          <a:blip r:embed="rId3"/>
          <a:stretch>
            <a:fillRect/>
          </a:stretch>
        </p:blipFill>
        <p:spPr>
          <a:xfrm>
            <a:off x="548640" y="1463040"/>
            <a:ext cx="4657749" cy="4023360"/>
          </a:xfrm>
          <a:prstGeom prst="rect">
            <a:avLst/>
          </a:prstGeom>
        </p:spPr>
      </p:pic>
      <p:sp>
        <p:nvSpPr>
          <p:cNvPr id="7" name="TextBox 6"/>
          <p:cNvSpPr txBox="1"/>
          <p:nvPr/>
        </p:nvSpPr>
        <p:spPr>
          <a:xfrm>
            <a:off x="5120640" y="1645920"/>
            <a:ext cx="6583680" cy="4206240"/>
          </a:xfrm>
          <a:prstGeom prst="rect">
            <a:avLst/>
          </a:prstGeom>
          <a:noFill/>
        </p:spPr>
        <p:txBody>
          <a:bodyPr wrap="square" anchor="t" lIns="45720" rIns="45720">
            <a:spAutoFit/>
          </a:bodyPr>
          <a:lstStyle/>
          <a:p>
            <a:pPr algn="l">
              <a:spcAft>
                <a:spcPts val="1800"/>
              </a:spcAft>
            </a:pPr>
            <a:r>
              <a:rPr sz="1800" b="1">
                <a:solidFill>
                  <a:srgbClr val="1A1A1A"/>
                </a:solidFill>
                <a:latin typeface="Arial"/>
              </a:rPr>
              <a:t>Banks naming an AI governance body: 5% → 42%</a:t>
            </a:r>
            <a:r>
              <a:rPr sz="1800" b="0">
                <a:solidFill>
                  <a:srgbClr val="1A1A1A"/>
                </a:solidFill>
                <a:latin typeface="Arial"/>
              </a:rPr>
              <a:t>  (7 added, 0 dropped; exact McNemar p = 0.016)</a:t>
            </a:r>
          </a:p>
          <a:p>
            <a:pPr algn="l">
              <a:spcAft>
                <a:spcPts val="1800"/>
              </a:spcAft>
            </a:pPr>
            <a:r>
              <a:rPr sz="1800" b="1">
                <a:solidFill>
                  <a:srgbClr val="1A1A1A"/>
                </a:solidFill>
                <a:latin typeface="Arial"/>
              </a:rPr>
              <a:t>AI Act / DORA / SS1/23 mentions:</a:t>
            </a:r>
            <a:r>
              <a:rPr sz="1800" b="0">
                <a:solidFill>
                  <a:srgbClr val="1A1A1A"/>
                </a:solidFill>
                <a:latin typeface="Arial"/>
              </a:rPr>
              <a:t> near zero → routine; 18 of 19 banks up (p &lt; 0.0001)</a:t>
            </a:r>
          </a:p>
          <a:p>
            <a:pPr algn="l">
              <a:spcAft>
                <a:spcPts val="1800"/>
              </a:spcAft>
            </a:pPr>
            <a:r>
              <a:rPr sz="1800" b="1">
                <a:solidFill>
                  <a:srgbClr val="C00000"/>
                </a:solidFill>
                <a:latin typeface="Arial"/>
              </a:rPr>
              <a:t>Broader AI-governance wording flat (p ≈ 0.07)</a:t>
            </a:r>
          </a:p>
          <a:p>
            <a:pPr algn="l">
              <a:spcAft>
                <a:spcPts val="1800"/>
              </a:spcAft>
            </a:pPr>
            <a:r>
              <a:rPr sz="1800" b="1">
                <a:solidFill>
                  <a:srgbClr val="1A1A1A"/>
                </a:solidFill>
                <a:latin typeface="Arial"/>
              </a:rPr>
              <a:t>UK &gt; EU</a:t>
            </a:r>
            <a:r>
              <a:rPr sz="1800" b="0">
                <a:solidFill>
                  <a:srgbClr val="1A1A1A"/>
                </a:solidFill>
                <a:latin typeface="Arial"/>
              </a:rPr>
              <a:t> on AI and AI-governance mentions (Holm p = 0.007 and 0.0004)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Skills are shifting, but reskilling is not keeping up</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15</a:t>
            </a:r>
          </a:p>
        </p:txBody>
      </p:sp>
      <p:pic>
        <p:nvPicPr>
          <p:cNvPr id="6" name="Picture 5" descr="d3_skills.png"/>
          <p:cNvPicPr>
            <a:picLocks noChangeAspect="1"/>
          </p:cNvPicPr>
          <p:nvPr/>
        </p:nvPicPr>
        <p:blipFill>
          <a:blip r:embed="rId3"/>
          <a:stretch>
            <a:fillRect/>
          </a:stretch>
        </p:blipFill>
        <p:spPr>
          <a:xfrm>
            <a:off x="365760" y="1463040"/>
            <a:ext cx="6400800" cy="3694771"/>
          </a:xfrm>
          <a:prstGeom prst="rect">
            <a:avLst/>
          </a:prstGeom>
        </p:spPr>
      </p:pic>
      <p:sp>
        <p:nvSpPr>
          <p:cNvPr id="7" name="TextBox 6"/>
          <p:cNvSpPr txBox="1"/>
          <p:nvPr/>
        </p:nvSpPr>
        <p:spPr>
          <a:xfrm>
            <a:off x="7040880" y="1645920"/>
            <a:ext cx="4754880" cy="4389120"/>
          </a:xfrm>
          <a:prstGeom prst="rect">
            <a:avLst/>
          </a:prstGeom>
          <a:noFill/>
        </p:spPr>
        <p:txBody>
          <a:bodyPr wrap="square" anchor="t" lIns="45720" rIns="45720">
            <a:spAutoFit/>
          </a:bodyPr>
          <a:lstStyle/>
          <a:p>
            <a:pPr algn="l">
              <a:spcAft>
                <a:spcPts val="1800"/>
              </a:spcAft>
            </a:pPr>
            <a:r>
              <a:rPr sz="1700" b="0">
                <a:solidFill>
                  <a:srgbClr val="1A1A1A"/>
                </a:solidFill>
                <a:latin typeface="Arial"/>
              </a:rPr>
              <a:t>AI-exposed adverts want </a:t>
            </a:r>
            <a:r>
              <a:rPr sz="1700" b="1">
                <a:solidFill>
                  <a:srgbClr val="1A1A1A"/>
                </a:solidFill>
                <a:latin typeface="Arial"/>
              </a:rPr>
              <a:t>more data, automation and cyber</a:t>
            </a:r>
            <a:r>
              <a:rPr sz="1700" b="0">
                <a:solidFill>
                  <a:srgbClr val="1A1A1A"/>
                </a:solidFill>
                <a:latin typeface="Arial"/>
              </a:rPr>
              <a:t> skills but </a:t>
            </a:r>
            <a:r>
              <a:rPr sz="1700" b="1">
                <a:solidFill>
                  <a:srgbClr val="1A1A1A"/>
                </a:solidFill>
                <a:latin typeface="Arial"/>
              </a:rPr>
              <a:t>fewer regulatory</a:t>
            </a:r>
            <a:r>
              <a:rPr sz="1700" b="0">
                <a:solidFill>
                  <a:srgbClr val="1A1A1A"/>
                </a:solidFill>
                <a:latin typeface="Arial"/>
              </a:rPr>
              <a:t> skills (all Holm p &lt; 0.05): the hybrid gap</a:t>
            </a:r>
          </a:p>
          <a:p>
            <a:pPr algn="l">
              <a:spcAft>
                <a:spcPts val="1800"/>
              </a:spcAft>
            </a:pPr>
            <a:r>
              <a:rPr sz="1700" b="0">
                <a:solidFill>
                  <a:srgbClr val="1A1A1A"/>
                </a:solidFill>
                <a:latin typeface="Arial"/>
              </a:rPr>
              <a:t>AI-titled roles: median </a:t>
            </a:r>
            <a:r>
              <a:rPr sz="1700" b="1">
                <a:solidFill>
                  <a:srgbClr val="1A1A1A"/>
                </a:solidFill>
                <a:latin typeface="Arial"/>
              </a:rPr>
              <a:t>£90k vs £60k</a:t>
            </a:r>
            <a:r>
              <a:rPr sz="1700" b="0">
                <a:solidFill>
                  <a:srgbClr val="1A1A1A"/>
                </a:solidFill>
                <a:latin typeface="Arial"/>
              </a:rPr>
              <a:t> (p = 0.009; small group)</a:t>
            </a:r>
          </a:p>
          <a:p>
            <a:pPr algn="l">
              <a:spcAft>
                <a:spcPts val="1800"/>
              </a:spcAft>
            </a:pPr>
            <a:r>
              <a:rPr sz="1700" b="1">
                <a:solidFill>
                  <a:srgbClr val="C00000"/>
                </a:solidFill>
                <a:latin typeface="Arial"/>
              </a:rPr>
              <a:t>Reskilling mentions not linked to AI intensity (ρ = −0.16, p = 0.49)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Hypothesis scorecard</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16</a:t>
            </a:r>
          </a:p>
        </p:txBody>
      </p:sp>
      <p:graphicFrame>
        <p:nvGraphicFramePr>
          <p:cNvPr id="6" name="Table 5"/>
          <p:cNvGraphicFramePr>
            <a:graphicFrameLocks noGrp="1"/>
          </p:cNvGraphicFramePr>
          <p:nvPr/>
        </p:nvGraphicFramePr>
        <p:xfrm>
          <a:off x="1097280" y="1417320"/>
          <a:ext cx="9966960" cy="4873752"/>
        </p:xfrm>
        <a:graphic>
          <a:graphicData uri="http://schemas.openxmlformats.org/drawingml/2006/table">
            <a:tbl>
              <a:tblPr>
                <a:tableStyleId>{5C22544A-7EE6-4342-B048-85BDC9FD1C3A}</a:tableStyleId>
              </a:tblPr>
              <a:tblGrid>
                <a:gridCol w="6766560"/>
                <a:gridCol w="3200400"/>
              </a:tblGrid>
              <a:tr h="374904">
                <a:tc>
                  <a:txBody>
                    <a:bodyPr wrap="square"/>
                    <a:lstStyle/>
                    <a:p>
                      <a:r>
                        <a:rPr sz="1400" b="1">
                          <a:solidFill>
                            <a:srgbClr val="1A1A1A"/>
                          </a:solidFill>
                          <a:latin typeface="Arial"/>
                        </a:rPr>
                        <a:t>Hypothesis</a:t>
                      </a:r>
                    </a:p>
                  </a:txBody>
                  <a:tcPr marL="54864" marR="54864" marT="27432" marB="27432">
                    <a:solidFill>
                      <a:srgbClr val="D9D9D9"/>
                    </a:solidFill>
                  </a:tcPr>
                </a:tc>
                <a:tc>
                  <a:txBody>
                    <a:bodyPr wrap="square"/>
                    <a:lstStyle/>
                    <a:p>
                      <a:r>
                        <a:rPr sz="1400" b="1">
                          <a:solidFill>
                            <a:srgbClr val="1A1A1A"/>
                          </a:solidFill>
                          <a:latin typeface="Arial"/>
                        </a:rPr>
                        <a:t>Verdict</a:t>
                      </a:r>
                    </a:p>
                  </a:txBody>
                  <a:tcPr marL="54864" marR="54864" marT="27432" marB="27432">
                    <a:solidFill>
                      <a:srgbClr val="D9D9D9"/>
                    </a:solidFill>
                  </a:tcPr>
                </a:tc>
              </a:tr>
              <a:tr h="374904">
                <a:tc>
                  <a:txBody>
                    <a:bodyPr wrap="square"/>
                    <a:lstStyle/>
                    <a:p>
                      <a:r>
                        <a:rPr sz="1400" b="0">
                          <a:solidFill>
                            <a:srgbClr val="1A1A1A"/>
                          </a:solidFill>
                          <a:latin typeface="Arial"/>
                        </a:rPr>
                        <a:t>H1–H3  Useful, easy to use, roles will change (questionnaire)</a:t>
                      </a:r>
                    </a:p>
                  </a:txBody>
                  <a:tcPr marL="54864" marR="54864" marT="27432" marB="27432">
                    <a:solidFill>
                      <a:srgbClr val="FFFFFF"/>
                    </a:solidFill>
                  </a:tcPr>
                </a:tc>
                <a:tc>
                  <a:txBody>
                    <a:bodyPr wrap="square"/>
                    <a:lstStyle/>
                    <a:p>
                      <a:r>
                        <a:rPr sz="1400" b="0">
                          <a:solidFill>
                            <a:srgbClr val="1A1A1A"/>
                          </a:solidFill>
                          <a:latin typeface="Arial"/>
                        </a:rPr>
                        <a:t>●  Supported (descriptive)</a:t>
                      </a:r>
                    </a:p>
                  </a:txBody>
                  <a:tcPr marL="54864" marR="54864" marT="27432" marB="27432">
                    <a:solidFill>
                      <a:srgbClr val="FFFFFF"/>
                    </a:solidFill>
                  </a:tcPr>
                </a:tc>
              </a:tr>
              <a:tr h="374904">
                <a:tc>
                  <a:txBody>
                    <a:bodyPr wrap="square"/>
                    <a:lstStyle/>
                    <a:p>
                      <a:r>
                        <a:rPr sz="1400" b="0">
                          <a:solidFill>
                            <a:srgbClr val="1A1A1A"/>
                          </a:solidFill>
                          <a:latin typeface="Arial"/>
                        </a:rPr>
                        <a:t>H4  Trust is conditional</a:t>
                      </a:r>
                    </a:p>
                  </a:txBody>
                  <a:tcPr marL="54864" marR="54864" marT="27432" marB="27432">
                    <a:solidFill>
                      <a:srgbClr val="FFFFFF"/>
                    </a:solidFill>
                  </a:tcPr>
                </a:tc>
                <a:tc>
                  <a:txBody>
                    <a:bodyPr wrap="square"/>
                    <a:lstStyle/>
                    <a:p>
                      <a:r>
                        <a:rPr sz="1400" b="0">
                          <a:solidFill>
                            <a:srgbClr val="1A1A1A"/>
                          </a:solidFill>
                          <a:latin typeface="Arial"/>
                        </a:rPr>
                        <a:t>◐  Partly</a:t>
                      </a:r>
                    </a:p>
                  </a:txBody>
                  <a:tcPr marL="54864" marR="54864" marT="27432" marB="27432">
                    <a:solidFill>
                      <a:srgbClr val="FFFFFF"/>
                    </a:solidFill>
                  </a:tcPr>
                </a:tc>
              </a:tr>
              <a:tr h="374904">
                <a:tc>
                  <a:txBody>
                    <a:bodyPr wrap="square"/>
                    <a:lstStyle/>
                    <a:p>
                      <a:r>
                        <a:rPr sz="1400" b="0">
                          <a:solidFill>
                            <a:srgbClr val="1A1A1A"/>
                          </a:solidFill>
                          <a:latin typeface="Arial"/>
                        </a:rPr>
                        <a:t>H5a, H5b  EU adoption rising; ICT skills linked</a:t>
                      </a:r>
                    </a:p>
                  </a:txBody>
                  <a:tcPr marL="54864" marR="54864" marT="27432" marB="27432">
                    <a:solidFill>
                      <a:srgbClr val="FFFFFF"/>
                    </a:solidFill>
                  </a:tcPr>
                </a:tc>
                <a:tc>
                  <a:txBody>
                    <a:bodyPr wrap="square"/>
                    <a:lstStyle/>
                    <a:p>
                      <a:r>
                        <a:rPr sz="1400" b="0">
                          <a:solidFill>
                            <a:srgbClr val="1A1A1A"/>
                          </a:solidFill>
                          <a:latin typeface="Arial"/>
                        </a:rPr>
                        <a:t>●  Supported</a:t>
                      </a:r>
                    </a:p>
                  </a:txBody>
                  <a:tcPr marL="54864" marR="54864" marT="27432" marB="27432">
                    <a:solidFill>
                      <a:srgbClr val="FFFFFF"/>
                    </a:solidFill>
                  </a:tcPr>
                </a:tc>
              </a:tr>
              <a:tr h="374904">
                <a:tc>
                  <a:txBody>
                    <a:bodyPr wrap="square"/>
                    <a:lstStyle/>
                    <a:p>
                      <a:r>
                        <a:rPr sz="1400" b="0">
                          <a:solidFill>
                            <a:srgbClr val="1A1A1A"/>
                          </a:solidFill>
                          <a:latin typeface="Arial"/>
                        </a:rPr>
                        <a:t>H6  Skill mix differs in AI adverts</a:t>
                      </a:r>
                    </a:p>
                  </a:txBody>
                  <a:tcPr marL="54864" marR="54864" marT="27432" marB="27432">
                    <a:solidFill>
                      <a:srgbClr val="FFFFFF"/>
                    </a:solidFill>
                  </a:tcPr>
                </a:tc>
                <a:tc>
                  <a:txBody>
                    <a:bodyPr wrap="square"/>
                    <a:lstStyle/>
                    <a:p>
                      <a:r>
                        <a:rPr sz="1400" b="0">
                          <a:solidFill>
                            <a:srgbClr val="1A1A1A"/>
                          </a:solidFill>
                          <a:latin typeface="Arial"/>
                        </a:rPr>
                        <a:t>●  Supported</a:t>
                      </a:r>
                    </a:p>
                  </a:txBody>
                  <a:tcPr marL="54864" marR="54864" marT="27432" marB="27432">
                    <a:solidFill>
                      <a:srgbClr val="FFFFFF"/>
                    </a:solidFill>
                  </a:tcPr>
                </a:tc>
              </a:tr>
              <a:tr h="374904">
                <a:tc>
                  <a:txBody>
                    <a:bodyPr wrap="square"/>
                    <a:lstStyle/>
                    <a:p>
                      <a:r>
                        <a:rPr sz="1400" b="0">
                          <a:solidFill>
                            <a:srgbClr val="1A1A1A"/>
                          </a:solidFill>
                          <a:latin typeface="Arial"/>
                        </a:rPr>
                        <a:t>H7  AI roles pay more</a:t>
                      </a:r>
                    </a:p>
                  </a:txBody>
                  <a:tcPr marL="54864" marR="54864" marT="27432" marB="27432">
                    <a:solidFill>
                      <a:srgbClr val="FFFFFF"/>
                    </a:solidFill>
                  </a:tcPr>
                </a:tc>
                <a:tc>
                  <a:txBody>
                    <a:bodyPr wrap="square"/>
                    <a:lstStyle/>
                    <a:p>
                      <a:r>
                        <a:rPr sz="1400" b="0">
                          <a:solidFill>
                            <a:srgbClr val="1A1A1A"/>
                          </a:solidFill>
                          <a:latin typeface="Arial"/>
                        </a:rPr>
                        <a:t>◐  Partly (AI-titled only)</a:t>
                      </a:r>
                    </a:p>
                  </a:txBody>
                  <a:tcPr marL="54864" marR="54864" marT="27432" marB="27432">
                    <a:solidFill>
                      <a:srgbClr val="FFFFFF"/>
                    </a:solidFill>
                  </a:tcPr>
                </a:tc>
              </a:tr>
              <a:tr h="374904">
                <a:tc>
                  <a:txBody>
                    <a:bodyPr wrap="square"/>
                    <a:lstStyle/>
                    <a:p>
                      <a:r>
                        <a:rPr sz="1400" b="0">
                          <a:solidFill>
                            <a:srgbClr val="1A1A1A"/>
                          </a:solidFill>
                          <a:latin typeface="Arial"/>
                        </a:rPr>
                        <a:t>H8  UK FS adoption rose</a:t>
                      </a:r>
                    </a:p>
                  </a:txBody>
                  <a:tcPr marL="54864" marR="54864" marT="27432" marB="27432">
                    <a:solidFill>
                      <a:srgbClr val="FFFFFF"/>
                    </a:solidFill>
                  </a:tcPr>
                </a:tc>
                <a:tc>
                  <a:txBody>
                    <a:bodyPr wrap="square"/>
                    <a:lstStyle/>
                    <a:p>
                      <a:r>
                        <a:rPr sz="1400" b="0">
                          <a:solidFill>
                            <a:srgbClr val="1A1A1A"/>
                          </a:solidFill>
                          <a:latin typeface="Arial"/>
                        </a:rPr>
                        <a:t>●  Supported</a:t>
                      </a:r>
                    </a:p>
                  </a:txBody>
                  <a:tcPr marL="54864" marR="54864" marT="27432" marB="27432">
                    <a:solidFill>
                      <a:srgbClr val="FFFFFF"/>
                    </a:solidFill>
                  </a:tcPr>
                </a:tc>
              </a:tr>
              <a:tr h="374904">
                <a:tc>
                  <a:txBody>
                    <a:bodyPr wrap="square"/>
                    <a:lstStyle/>
                    <a:p>
                      <a:r>
                        <a:rPr sz="1400" b="0">
                          <a:solidFill>
                            <a:srgbClr val="1A1A1A"/>
                          </a:solidFill>
                          <a:latin typeface="Arial"/>
                        </a:rPr>
                        <a:t>H9  Skills a majority constraint</a:t>
                      </a:r>
                    </a:p>
                  </a:txBody>
                  <a:tcPr marL="54864" marR="54864" marT="27432" marB="27432">
                    <a:solidFill>
                      <a:srgbClr val="FFFFFF"/>
                    </a:solidFill>
                  </a:tcPr>
                </a:tc>
                <a:tc>
                  <a:txBody>
                    <a:bodyPr wrap="square"/>
                    <a:lstStyle/>
                    <a:p>
                      <a:r>
                        <a:rPr sz="1400" b="0">
                          <a:solidFill>
                            <a:srgbClr val="1A1A1A"/>
                          </a:solidFill>
                          <a:latin typeface="Arial"/>
                        </a:rPr>
                        <a:t>◐  Partly</a:t>
                      </a:r>
                    </a:p>
                  </a:txBody>
                  <a:tcPr marL="54864" marR="54864" marT="27432" marB="27432">
                    <a:solidFill>
                      <a:srgbClr val="FFFFFF"/>
                    </a:solidFill>
                  </a:tcPr>
                </a:tc>
              </a:tr>
              <a:tr h="374904">
                <a:tc>
                  <a:txBody>
                    <a:bodyPr wrap="square"/>
                    <a:lstStyle/>
                    <a:p>
                      <a:r>
                        <a:rPr sz="1400" b="0">
                          <a:solidFill>
                            <a:srgbClr val="1A1A1A"/>
                          </a:solidFill>
                          <a:latin typeface="Arial"/>
                        </a:rPr>
                        <a:t>H10a  AI, reskilling, regulation mentions rose</a:t>
                      </a:r>
                    </a:p>
                  </a:txBody>
                  <a:tcPr marL="54864" marR="54864" marT="27432" marB="27432">
                    <a:solidFill>
                      <a:srgbClr val="FFFFFF"/>
                    </a:solidFill>
                  </a:tcPr>
                </a:tc>
                <a:tc>
                  <a:txBody>
                    <a:bodyPr wrap="square"/>
                    <a:lstStyle/>
                    <a:p>
                      <a:r>
                        <a:rPr sz="1400" b="0">
                          <a:solidFill>
                            <a:srgbClr val="1A1A1A"/>
                          </a:solidFill>
                          <a:latin typeface="Arial"/>
                        </a:rPr>
                        <a:t>●  Supported</a:t>
                      </a:r>
                    </a:p>
                  </a:txBody>
                  <a:tcPr marL="54864" marR="54864" marT="27432" marB="27432">
                    <a:solidFill>
                      <a:srgbClr val="FFFFFF"/>
                    </a:solidFill>
                  </a:tcPr>
                </a:tc>
              </a:tr>
              <a:tr h="374904">
                <a:tc>
                  <a:txBody>
                    <a:bodyPr wrap="square"/>
                    <a:lstStyle/>
                    <a:p>
                      <a:r>
                        <a:rPr sz="1400" b="0">
                          <a:solidFill>
                            <a:srgbClr val="C00000"/>
                          </a:solidFill>
                          <a:latin typeface="Arial"/>
                        </a:rPr>
                        <a:t>H10a  AI-governance wording rose</a:t>
                      </a:r>
                    </a:p>
                  </a:txBody>
                  <a:tcPr marL="54864" marR="54864" marT="27432" marB="27432">
                    <a:solidFill>
                      <a:srgbClr val="FFFFFF"/>
                    </a:solidFill>
                  </a:tcPr>
                </a:tc>
                <a:tc>
                  <a:txBody>
                    <a:bodyPr wrap="square"/>
                    <a:lstStyle/>
                    <a:p>
                      <a:r>
                        <a:rPr sz="1400" b="0">
                          <a:solidFill>
                            <a:srgbClr val="C00000"/>
                          </a:solidFill>
                          <a:latin typeface="Arial"/>
                        </a:rPr>
                        <a:t>○  Not supported</a:t>
                      </a:r>
                    </a:p>
                  </a:txBody>
                  <a:tcPr marL="54864" marR="54864" marT="27432" marB="27432">
                    <a:solidFill>
                      <a:srgbClr val="FFFFFF"/>
                    </a:solidFill>
                  </a:tcPr>
                </a:tc>
              </a:tr>
              <a:tr h="374904">
                <a:tc>
                  <a:txBody>
                    <a:bodyPr wrap="square"/>
                    <a:lstStyle/>
                    <a:p>
                      <a:r>
                        <a:rPr sz="1400" b="0">
                          <a:solidFill>
                            <a:srgbClr val="1A1A1A"/>
                          </a:solidFill>
                          <a:latin typeface="Arial"/>
                        </a:rPr>
                        <a:t>H10b  More AI governance bodies</a:t>
                      </a:r>
                    </a:p>
                  </a:txBody>
                  <a:tcPr marL="54864" marR="54864" marT="27432" marB="27432">
                    <a:solidFill>
                      <a:srgbClr val="FFFFFF"/>
                    </a:solidFill>
                  </a:tcPr>
                </a:tc>
                <a:tc>
                  <a:txBody>
                    <a:bodyPr wrap="square"/>
                    <a:lstStyle/>
                    <a:p>
                      <a:r>
                        <a:rPr sz="1400" b="0">
                          <a:solidFill>
                            <a:srgbClr val="1A1A1A"/>
                          </a:solidFill>
                          <a:latin typeface="Arial"/>
                        </a:rPr>
                        <a:t>●  Supported</a:t>
                      </a:r>
                    </a:p>
                  </a:txBody>
                  <a:tcPr marL="54864" marR="54864" marT="27432" marB="27432">
                    <a:solidFill>
                      <a:srgbClr val="FFFFFF"/>
                    </a:solidFill>
                  </a:tcPr>
                </a:tc>
              </a:tr>
              <a:tr h="374904">
                <a:tc>
                  <a:txBody>
                    <a:bodyPr wrap="square"/>
                    <a:lstStyle/>
                    <a:p>
                      <a:r>
                        <a:rPr sz="1400" b="0">
                          <a:solidFill>
                            <a:srgbClr val="C00000"/>
                          </a:solidFill>
                          <a:latin typeface="Arial"/>
                        </a:rPr>
                        <a:t>H10c  AI and reskilling linked</a:t>
                      </a:r>
                    </a:p>
                  </a:txBody>
                  <a:tcPr marL="54864" marR="54864" marT="27432" marB="27432">
                    <a:solidFill>
                      <a:srgbClr val="FFFFFF"/>
                    </a:solidFill>
                  </a:tcPr>
                </a:tc>
                <a:tc>
                  <a:txBody>
                    <a:bodyPr wrap="square"/>
                    <a:lstStyle/>
                    <a:p>
                      <a:r>
                        <a:rPr sz="1400" b="0">
                          <a:solidFill>
                            <a:srgbClr val="C00000"/>
                          </a:solidFill>
                          <a:latin typeface="Arial"/>
                        </a:rPr>
                        <a:t>○  Not supported</a:t>
                      </a:r>
                    </a:p>
                  </a:txBody>
                  <a:tcPr marL="54864" marR="54864" marT="27432" marB="27432">
                    <a:solidFill>
                      <a:srgbClr val="FFFFFF"/>
                    </a:solidFill>
                  </a:tcPr>
                </a:tc>
              </a:tr>
              <a:tr h="374904">
                <a:tc>
                  <a:txBody>
                    <a:bodyPr wrap="square"/>
                    <a:lstStyle/>
                    <a:p>
                      <a:r>
                        <a:rPr sz="1400" b="0">
                          <a:solidFill>
                            <a:srgbClr val="1A1A1A"/>
                          </a:solidFill>
                          <a:latin typeface="Arial"/>
                        </a:rPr>
                        <a:t>H10d  UK and EU differ</a:t>
                      </a:r>
                    </a:p>
                  </a:txBody>
                  <a:tcPr marL="54864" marR="54864" marT="27432" marB="27432">
                    <a:solidFill>
                      <a:srgbClr val="FFFFFF"/>
                    </a:solidFill>
                  </a:tcPr>
                </a:tc>
                <a:tc>
                  <a:txBody>
                    <a:bodyPr wrap="square"/>
                    <a:lstStyle/>
                    <a:p>
                      <a:r>
                        <a:rPr sz="1400" b="0">
                          <a:solidFill>
                            <a:srgbClr val="1A1A1A"/>
                          </a:solidFill>
                          <a:latin typeface="Arial"/>
                        </a:rPr>
                        <a:t>◐  Partly (AI, AI governance)</a:t>
                      </a:r>
                    </a:p>
                  </a:txBody>
                  <a:tcPr marL="54864" marR="54864" marT="27432" marB="27432">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Triangulation: all four propositions hold</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17</a:t>
            </a:r>
          </a:p>
        </p:txBody>
      </p:sp>
      <p:graphicFrame>
        <p:nvGraphicFramePr>
          <p:cNvPr id="6" name="Table 5"/>
          <p:cNvGraphicFramePr>
            <a:graphicFrameLocks noGrp="1"/>
          </p:cNvGraphicFramePr>
          <p:nvPr/>
        </p:nvGraphicFramePr>
        <p:xfrm>
          <a:off x="457200" y="1554480"/>
          <a:ext cx="11247120" cy="3886200"/>
        </p:xfrm>
        <a:graphic>
          <a:graphicData uri="http://schemas.openxmlformats.org/drawingml/2006/table">
            <a:tbl>
              <a:tblPr>
                <a:tableStyleId>{5C22544A-7EE6-4342-B048-85BDC9FD1C3A}</a:tableStyleId>
              </a:tblPr>
              <a:tblGrid>
                <a:gridCol w="2743200"/>
                <a:gridCol w="1463040"/>
                <a:gridCol w="2011680"/>
                <a:gridCol w="2468880"/>
                <a:gridCol w="2560320"/>
              </a:tblGrid>
              <a:tr h="777240">
                <a:tc>
                  <a:txBody>
                    <a:bodyPr wrap="square"/>
                    <a:lstStyle/>
                    <a:p/>
                  </a:txBody>
                  <a:tcPr marL="54864" marR="54864" marT="27432" marB="27432">
                    <a:solidFill>
                      <a:srgbClr val="D9D9D9"/>
                    </a:solidFill>
                  </a:tcPr>
                </a:tc>
                <a:tc>
                  <a:txBody>
                    <a:bodyPr wrap="square"/>
                    <a:lstStyle/>
                    <a:p>
                      <a:r>
                        <a:rPr sz="1500" b="1">
                          <a:solidFill>
                            <a:srgbClr val="1A1A1A"/>
                          </a:solidFill>
                          <a:latin typeface="Arial"/>
                        </a:rPr>
                        <a:t>Interviews</a:t>
                      </a:r>
                    </a:p>
                  </a:txBody>
                  <a:tcPr marL="54864" marR="54864" marT="27432" marB="27432">
                    <a:solidFill>
                      <a:srgbClr val="D9D9D9"/>
                    </a:solidFill>
                  </a:tcPr>
                </a:tc>
                <a:tc>
                  <a:txBody>
                    <a:bodyPr wrap="square"/>
                    <a:lstStyle/>
                    <a:p>
                      <a:r>
                        <a:rPr sz="1500" b="1">
                          <a:solidFill>
                            <a:srgbClr val="1A1A1A"/>
                          </a:solidFill>
                          <a:latin typeface="Arial"/>
                        </a:rPr>
                        <a:t>Questionnaire</a:t>
                      </a:r>
                    </a:p>
                  </a:txBody>
                  <a:tcPr marL="54864" marR="54864" marT="27432" marB="27432">
                    <a:solidFill>
                      <a:srgbClr val="D9D9D9"/>
                    </a:solidFill>
                  </a:tcPr>
                </a:tc>
                <a:tc>
                  <a:txBody>
                    <a:bodyPr wrap="square"/>
                    <a:lstStyle/>
                    <a:p>
                      <a:r>
                        <a:rPr sz="1500" b="1">
                          <a:solidFill>
                            <a:srgbClr val="1A1A1A"/>
                          </a:solidFill>
                          <a:latin typeface="Arial"/>
                        </a:rPr>
                        <a:t>Public data</a:t>
                      </a:r>
                    </a:p>
                  </a:txBody>
                  <a:tcPr marL="54864" marR="54864" marT="27432" marB="27432">
                    <a:solidFill>
                      <a:srgbClr val="D9D9D9"/>
                    </a:solidFill>
                  </a:tcPr>
                </a:tc>
                <a:tc>
                  <a:txBody>
                    <a:bodyPr wrap="square"/>
                    <a:lstStyle/>
                    <a:p>
                      <a:r>
                        <a:rPr sz="1500" b="1">
                          <a:solidFill>
                            <a:srgbClr val="1A1A1A"/>
                          </a:solidFill>
                          <a:latin typeface="Arial"/>
                        </a:rPr>
                        <a:t>Verdict</a:t>
                      </a:r>
                    </a:p>
                  </a:txBody>
                  <a:tcPr marL="54864" marR="54864" marT="27432" marB="27432">
                    <a:solidFill>
                      <a:srgbClr val="D9D9D9"/>
                    </a:solidFill>
                  </a:tcPr>
                </a:tc>
              </a:tr>
              <a:tr h="777240">
                <a:tc>
                  <a:txBody>
                    <a:bodyPr wrap="square"/>
                    <a:lstStyle/>
                    <a:p>
                      <a:r>
                        <a:rPr sz="1500" b="0">
                          <a:solidFill>
                            <a:srgbClr val="1A1A1A"/>
                          </a:solidFill>
                          <a:latin typeface="Arial"/>
                        </a:rPr>
                        <a:t>P1 Routine automated first</a:t>
                      </a:r>
                    </a:p>
                  </a:txBody>
                  <a:tcPr marL="54864" marR="54864" marT="27432" marB="27432">
                    <a:solidFill>
                      <a:srgbClr val="FFFFFF"/>
                    </a:solidFill>
                  </a:tcPr>
                </a:tc>
                <a:tc>
                  <a:txBody>
                    <a:bodyPr wrap="square"/>
                    <a:lstStyle/>
                    <a:p>
                      <a:r>
                        <a:rPr sz="1500" b="0">
                          <a:solidFill>
                            <a:srgbClr val="1A1A1A"/>
                          </a:solidFill>
                          <a:latin typeface="Arial"/>
                        </a:rPr>
                        <a:t>T1–T3</a:t>
                      </a:r>
                    </a:p>
                  </a:txBody>
                  <a:tcPr marL="54864" marR="54864" marT="27432" marB="27432">
                    <a:solidFill>
                      <a:srgbClr val="FFFFFF"/>
                    </a:solidFill>
                  </a:tcPr>
                </a:tc>
                <a:tc>
                  <a:txBody>
                    <a:bodyPr wrap="square"/>
                    <a:lstStyle/>
                    <a:p>
                      <a:r>
                        <a:rPr sz="1500" b="0">
                          <a:solidFill>
                            <a:srgbClr val="1A1A1A"/>
                          </a:solidFill>
                          <a:latin typeface="Arial"/>
                        </a:rPr>
                        <a:t>Role change 4.33</a:t>
                      </a:r>
                    </a:p>
                  </a:txBody>
                  <a:tcPr marL="54864" marR="54864" marT="27432" marB="27432">
                    <a:solidFill>
                      <a:srgbClr val="FFFFFF"/>
                    </a:solidFill>
                  </a:tcPr>
                </a:tc>
                <a:tc>
                  <a:txBody>
                    <a:bodyPr wrap="square"/>
                    <a:lstStyle/>
                    <a:p>
                      <a:r>
                        <a:rPr sz="1500" b="0">
                          <a:solidFill>
                            <a:srgbClr val="1A1A1A"/>
                          </a:solidFill>
                          <a:latin typeface="Arial"/>
                        </a:rPr>
                        <a:t>H5a, H8, H10a</a:t>
                      </a:r>
                    </a:p>
                  </a:txBody>
                  <a:tcPr marL="54864" marR="54864" marT="27432" marB="27432">
                    <a:solidFill>
                      <a:srgbClr val="FFFFFF"/>
                    </a:solidFill>
                  </a:tcPr>
                </a:tc>
                <a:tc>
                  <a:txBody>
                    <a:bodyPr wrap="square"/>
                    <a:lstStyle/>
                    <a:p>
                      <a:r>
                        <a:rPr sz="1500" b="0">
                          <a:solidFill>
                            <a:srgbClr val="1A1A1A"/>
                          </a:solidFill>
                          <a:latin typeface="Arial"/>
                        </a:rPr>
                        <a:t>Supported</a:t>
                      </a:r>
                    </a:p>
                  </a:txBody>
                  <a:tcPr marL="54864" marR="54864" marT="27432" marB="27432">
                    <a:solidFill>
                      <a:srgbClr val="FFFFFF"/>
                    </a:solidFill>
                  </a:tcPr>
                </a:tc>
              </a:tr>
              <a:tr h="777240">
                <a:tc>
                  <a:txBody>
                    <a:bodyPr wrap="square"/>
                    <a:lstStyle/>
                    <a:p>
                      <a:r>
                        <a:rPr sz="1500" b="0">
                          <a:solidFill>
                            <a:srgbClr val="1A1A1A"/>
                          </a:solidFill>
                          <a:latin typeface="Arial"/>
                        </a:rPr>
                        <a:t>P2 Regulation → obligations</a:t>
                      </a:r>
                    </a:p>
                  </a:txBody>
                  <a:tcPr marL="54864" marR="54864" marT="27432" marB="27432">
                    <a:solidFill>
                      <a:srgbClr val="FFFFFF"/>
                    </a:solidFill>
                  </a:tcPr>
                </a:tc>
                <a:tc>
                  <a:txBody>
                    <a:bodyPr wrap="square"/>
                    <a:lstStyle/>
                    <a:p>
                      <a:r>
                        <a:rPr sz="1500" b="0">
                          <a:solidFill>
                            <a:srgbClr val="1A1A1A"/>
                          </a:solidFill>
                          <a:latin typeface="Arial"/>
                        </a:rPr>
                        <a:t>T4–T6</a:t>
                      </a:r>
                    </a:p>
                  </a:txBody>
                  <a:tcPr marL="54864" marR="54864" marT="27432" marB="27432">
                    <a:solidFill>
                      <a:srgbClr val="FFFFFF"/>
                    </a:solidFill>
                  </a:tcPr>
                </a:tc>
                <a:tc>
                  <a:txBody>
                    <a:bodyPr wrap="square"/>
                    <a:lstStyle/>
                    <a:p>
                      <a:r>
                        <a:rPr sz="1500" b="0">
                          <a:solidFill>
                            <a:srgbClr val="1A1A1A"/>
                          </a:solidFill>
                          <a:latin typeface="Arial"/>
                        </a:rPr>
                        <a:t>Items 26–27</a:t>
                      </a:r>
                    </a:p>
                  </a:txBody>
                  <a:tcPr marL="54864" marR="54864" marT="27432" marB="27432">
                    <a:solidFill>
                      <a:srgbClr val="FFFFFF"/>
                    </a:solidFill>
                  </a:tcPr>
                </a:tc>
                <a:tc>
                  <a:txBody>
                    <a:bodyPr wrap="square"/>
                    <a:lstStyle/>
                    <a:p>
                      <a:r>
                        <a:rPr sz="1500" b="0">
                          <a:solidFill>
                            <a:srgbClr val="1A1A1A"/>
                          </a:solidFill>
                          <a:latin typeface="Arial"/>
                        </a:rPr>
                        <a:t>H10a reg, H10b, H10d</a:t>
                      </a:r>
                    </a:p>
                  </a:txBody>
                  <a:tcPr marL="54864" marR="54864" marT="27432" marB="27432">
                    <a:solidFill>
                      <a:srgbClr val="FFFFFF"/>
                    </a:solidFill>
                  </a:tcPr>
                </a:tc>
                <a:tc>
                  <a:txBody>
                    <a:bodyPr wrap="square"/>
                    <a:lstStyle/>
                    <a:p>
                      <a:r>
                        <a:rPr sz="1500" b="0">
                          <a:solidFill>
                            <a:srgbClr val="1A1A1A"/>
                          </a:solidFill>
                          <a:latin typeface="Arial"/>
                        </a:rPr>
                        <a:t>Texts &amp; structures; partly in practice</a:t>
                      </a:r>
                    </a:p>
                  </a:txBody>
                  <a:tcPr marL="54864" marR="54864" marT="27432" marB="27432">
                    <a:solidFill>
                      <a:srgbClr val="FFFFFF"/>
                    </a:solidFill>
                  </a:tcPr>
                </a:tc>
              </a:tr>
              <a:tr h="777240">
                <a:tc>
                  <a:txBody>
                    <a:bodyPr wrap="square"/>
                    <a:lstStyle/>
                    <a:p>
                      <a:r>
                        <a:rPr sz="1500" b="0">
                          <a:solidFill>
                            <a:srgbClr val="1A1A1A"/>
                          </a:solidFill>
                          <a:latin typeface="Arial"/>
                        </a:rPr>
                        <a:t>P3 Hybrid skills</a:t>
                      </a:r>
                    </a:p>
                  </a:txBody>
                  <a:tcPr marL="54864" marR="54864" marT="27432" marB="27432">
                    <a:solidFill>
                      <a:srgbClr val="FFFFFF"/>
                    </a:solidFill>
                  </a:tcPr>
                </a:tc>
                <a:tc>
                  <a:txBody>
                    <a:bodyPr wrap="square"/>
                    <a:lstStyle/>
                    <a:p>
                      <a:r>
                        <a:rPr sz="1500" b="0">
                          <a:solidFill>
                            <a:srgbClr val="1A1A1A"/>
                          </a:solidFill>
                          <a:latin typeface="Arial"/>
                        </a:rPr>
                        <a:t>T7, T9</a:t>
                      </a:r>
                    </a:p>
                  </a:txBody>
                  <a:tcPr marL="54864" marR="54864" marT="27432" marB="27432">
                    <a:solidFill>
                      <a:srgbClr val="FFFFFF"/>
                    </a:solidFill>
                  </a:tcPr>
                </a:tc>
                <a:tc>
                  <a:txBody>
                    <a:bodyPr wrap="square"/>
                    <a:lstStyle/>
                    <a:p>
                      <a:r>
                        <a:rPr sz="1500" b="0">
                          <a:solidFill>
                            <a:srgbClr val="1A1A1A"/>
                          </a:solidFill>
                          <a:latin typeface="Arial"/>
                        </a:rPr>
                        <a:t>Items 24–25</a:t>
                      </a:r>
                    </a:p>
                  </a:txBody>
                  <a:tcPr marL="54864" marR="54864" marT="27432" marB="27432">
                    <a:solidFill>
                      <a:srgbClr val="FFFFFF"/>
                    </a:solidFill>
                  </a:tcPr>
                </a:tc>
                <a:tc>
                  <a:txBody>
                    <a:bodyPr wrap="square"/>
                    <a:lstStyle/>
                    <a:p>
                      <a:r>
                        <a:rPr sz="1500" b="0">
                          <a:solidFill>
                            <a:srgbClr val="1A1A1A"/>
                          </a:solidFill>
                          <a:latin typeface="Arial"/>
                        </a:rPr>
                        <a:t>H6, H5b, H9</a:t>
                      </a:r>
                    </a:p>
                  </a:txBody>
                  <a:tcPr marL="54864" marR="54864" marT="27432" marB="27432">
                    <a:solidFill>
                      <a:srgbClr val="FFFFFF"/>
                    </a:solidFill>
                  </a:tcPr>
                </a:tc>
                <a:tc>
                  <a:txBody>
                    <a:bodyPr wrap="square"/>
                    <a:lstStyle/>
                    <a:p>
                      <a:r>
                        <a:rPr sz="1500" b="0">
                          <a:solidFill>
                            <a:srgbClr val="1A1A1A"/>
                          </a:solidFill>
                          <a:latin typeface="Arial"/>
                        </a:rPr>
                        <a:t>Supported</a:t>
                      </a:r>
                    </a:p>
                  </a:txBody>
                  <a:tcPr marL="54864" marR="54864" marT="27432" marB="27432">
                    <a:solidFill>
                      <a:srgbClr val="FFFFFF"/>
                    </a:solidFill>
                  </a:tcPr>
                </a:tc>
              </a:tr>
              <a:tr h="777240">
                <a:tc>
                  <a:txBody>
                    <a:bodyPr wrap="square"/>
                    <a:lstStyle/>
                    <a:p>
                      <a:r>
                        <a:rPr sz="1500" b="0">
                          <a:solidFill>
                            <a:srgbClr val="C00000"/>
                          </a:solidFill>
                          <a:latin typeface="Arial"/>
                        </a:rPr>
                        <a:t>P4 Knowledge-loss risk</a:t>
                      </a:r>
                    </a:p>
                  </a:txBody>
                  <a:tcPr marL="54864" marR="54864" marT="27432" marB="27432">
                    <a:solidFill>
                      <a:srgbClr val="FFFFFF"/>
                    </a:solidFill>
                  </a:tcPr>
                </a:tc>
                <a:tc>
                  <a:txBody>
                    <a:bodyPr wrap="square"/>
                    <a:lstStyle/>
                    <a:p>
                      <a:r>
                        <a:rPr sz="1500" b="0">
                          <a:solidFill>
                            <a:srgbClr val="C00000"/>
                          </a:solidFill>
                          <a:latin typeface="Arial"/>
                        </a:rPr>
                        <a:t>T8</a:t>
                      </a:r>
                    </a:p>
                  </a:txBody>
                  <a:tcPr marL="54864" marR="54864" marT="27432" marB="27432">
                    <a:solidFill>
                      <a:srgbClr val="FFFFFF"/>
                    </a:solidFill>
                  </a:tcPr>
                </a:tc>
                <a:tc>
                  <a:txBody>
                    <a:bodyPr wrap="square"/>
                    <a:lstStyle/>
                    <a:p>
                      <a:r>
                        <a:rPr sz="1500" b="0">
                          <a:solidFill>
                            <a:srgbClr val="C00000"/>
                          </a:solidFill>
                          <a:latin typeface="Arial"/>
                        </a:rPr>
                        <a:t>–</a:t>
                      </a:r>
                    </a:p>
                  </a:txBody>
                  <a:tcPr marL="54864" marR="54864" marT="27432" marB="27432">
                    <a:solidFill>
                      <a:srgbClr val="FFFFFF"/>
                    </a:solidFill>
                  </a:tcPr>
                </a:tc>
                <a:tc>
                  <a:txBody>
                    <a:bodyPr wrap="square"/>
                    <a:lstStyle/>
                    <a:p>
                      <a:r>
                        <a:rPr sz="1500" b="0">
                          <a:solidFill>
                            <a:srgbClr val="C00000"/>
                          </a:solidFill>
                          <a:latin typeface="Arial"/>
                        </a:rPr>
                        <a:t>Indirect (H10c)</a:t>
                      </a:r>
                    </a:p>
                  </a:txBody>
                  <a:tcPr marL="54864" marR="54864" marT="27432" marB="27432">
                    <a:solidFill>
                      <a:srgbClr val="FFFFFF"/>
                    </a:solidFill>
                  </a:tcPr>
                </a:tc>
                <a:tc>
                  <a:txBody>
                    <a:bodyPr wrap="square"/>
                    <a:lstStyle/>
                    <a:p>
                      <a:r>
                        <a:rPr sz="1500" b="0">
                          <a:solidFill>
                            <a:srgbClr val="C00000"/>
                          </a:solidFill>
                          <a:latin typeface="Arial"/>
                        </a:rPr>
                        <a:t>Qualitative; emergent contribution</a:t>
                      </a:r>
                    </a:p>
                  </a:txBody>
                  <a:tcPr marL="54864" marR="54864" marT="27432" marB="27432">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AI changes the composition of GRC work, not just its volume</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18</a:t>
            </a:r>
          </a:p>
        </p:txBody>
      </p:sp>
      <p:sp>
        <p:nvSpPr>
          <p:cNvPr id="6" name="Rectangle 5"/>
          <p:cNvSpPr/>
          <p:nvPr/>
        </p:nvSpPr>
        <p:spPr>
          <a:xfrm>
            <a:off x="640080" y="1508760"/>
            <a:ext cx="5394960" cy="219456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A1A1A"/>
                </a:solidFill>
                <a:latin typeface="Arial"/>
              </a:rPr>
              <a:t>AUTOMATED</a:t>
            </a:r>
          </a:p>
          <a:p>
            <a:pPr algn="ctr"/>
            <a:r>
              <a:rPr sz="1600" b="0">
                <a:solidFill>
                  <a:srgbClr val="1A1A1A"/>
                </a:solidFill>
                <a:latin typeface="Arial"/>
              </a:rPr>
              <a:t>Data consolidation · reconciliation · MI · first-level alert triage · periodic KYC refresh</a:t>
            </a:r>
          </a:p>
        </p:txBody>
      </p:sp>
      <p:sp>
        <p:nvSpPr>
          <p:cNvPr id="7" name="Rectangle 6"/>
          <p:cNvSpPr/>
          <p:nvPr/>
        </p:nvSpPr>
        <p:spPr>
          <a:xfrm>
            <a:off x="6217920" y="1508760"/>
            <a:ext cx="5394960" cy="219456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A1A1A"/>
                </a:solidFill>
                <a:latin typeface="Arial"/>
              </a:rPr>
              <a:t>AUGMENTED</a:t>
            </a:r>
          </a:p>
          <a:p>
            <a:pPr algn="ctr"/>
            <a:r>
              <a:rPr sz="1600" b="0">
                <a:solidFill>
                  <a:srgbClr val="1A1A1A"/>
                </a:solidFill>
                <a:latin typeface="Arial"/>
              </a:rPr>
              <a:t>Alert investigation · KYC/CDD judgement · model validation · audit fieldwork · regulatory change</a:t>
            </a:r>
          </a:p>
        </p:txBody>
      </p:sp>
      <p:sp>
        <p:nvSpPr>
          <p:cNvPr id="8" name="Rectangle 7"/>
          <p:cNvSpPr/>
          <p:nvPr/>
        </p:nvSpPr>
        <p:spPr>
          <a:xfrm>
            <a:off x="640080" y="3886200"/>
            <a:ext cx="5394960" cy="219456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1A1A1A"/>
                </a:solidFill>
                <a:latin typeface="Arial"/>
              </a:rPr>
              <a:t>NEWLY CREATED</a:t>
            </a:r>
          </a:p>
          <a:p>
            <a:pPr algn="ctr"/>
            <a:r>
              <a:rPr sz="1600" b="0">
                <a:solidFill>
                  <a:srgbClr val="1A1A1A"/>
                </a:solidFill>
                <a:latin typeface="Arial"/>
              </a:rPr>
              <a:t>AI governance lead · AI model-risk validator · AI audit lead · human-in-the-loop supervisor of AI agents</a:t>
            </a:r>
          </a:p>
        </p:txBody>
      </p:sp>
      <p:sp>
        <p:nvSpPr>
          <p:cNvPr id="9" name="Rectangle 8"/>
          <p:cNvSpPr/>
          <p:nvPr/>
        </p:nvSpPr>
        <p:spPr>
          <a:xfrm>
            <a:off x="6217920" y="3886200"/>
            <a:ext cx="5394960" cy="2194560"/>
          </a:xfrm>
          <a:prstGeom prst="rect">
            <a:avLst/>
          </a:prstGeom>
          <a:noFill/>
          <a:ln w="381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C00000"/>
                </a:solidFill>
                <a:latin typeface="Arial"/>
              </a:rPr>
              <a:t>HUMAN-RETAINED</a:t>
            </a:r>
          </a:p>
          <a:p>
            <a:pPr algn="ctr"/>
            <a:r>
              <a:rPr sz="1600" b="0">
                <a:solidFill>
                  <a:srgbClr val="C00000"/>
                </a:solidFill>
                <a:latin typeface="Arial"/>
              </a:rPr>
              <a:t>Interpreting regulatory intent · challenging decisions · assurance to boards · final accountability (SM&amp;CR, DORA)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A seven-stage framework: protect knowledge before restructuring</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19</a:t>
            </a:r>
          </a:p>
        </p:txBody>
      </p:sp>
      <p:sp>
        <p:nvSpPr>
          <p:cNvPr id="6" name="Rectangle 5"/>
          <p:cNvSpPr/>
          <p:nvPr/>
        </p:nvSpPr>
        <p:spPr>
          <a:xfrm>
            <a:off x="502920" y="1920240"/>
            <a:ext cx="1325880" cy="16002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A1A1A"/>
                </a:solidFill>
                <a:latin typeface="Arial"/>
              </a:rPr>
              <a:t>1</a:t>
            </a:r>
          </a:p>
          <a:p>
            <a:pPr algn="ctr"/>
            <a:r>
              <a:rPr sz="1400" b="0">
                <a:solidFill>
                  <a:srgbClr val="1A1A1A"/>
                </a:solidFill>
                <a:latin typeface="Arial"/>
              </a:rPr>
              <a:t>Diagnose</a:t>
            </a:r>
          </a:p>
        </p:txBody>
      </p:sp>
      <p:sp>
        <p:nvSpPr>
          <p:cNvPr id="7" name="Right Arrow 6"/>
          <p:cNvSpPr/>
          <p:nvPr/>
        </p:nvSpPr>
        <p:spPr>
          <a:xfrm>
            <a:off x="1847088" y="2587752"/>
            <a:ext cx="256032" cy="27432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8" name="Rectangle 7"/>
          <p:cNvSpPr/>
          <p:nvPr/>
        </p:nvSpPr>
        <p:spPr>
          <a:xfrm>
            <a:off x="2130552" y="1920240"/>
            <a:ext cx="1325880" cy="16002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Arial"/>
              </a:rPr>
              <a:t>2</a:t>
            </a:r>
          </a:p>
          <a:p>
            <a:pPr algn="ctr"/>
            <a:r>
              <a:rPr sz="1400" b="0">
                <a:solidFill>
                  <a:srgbClr val="FFFFFF"/>
                </a:solidFill>
                <a:latin typeface="Arial"/>
              </a:rPr>
              <a:t>Protect knowledge</a:t>
            </a:r>
          </a:p>
        </p:txBody>
      </p:sp>
      <p:sp>
        <p:nvSpPr>
          <p:cNvPr id="9" name="Right Arrow 8"/>
          <p:cNvSpPr/>
          <p:nvPr/>
        </p:nvSpPr>
        <p:spPr>
          <a:xfrm>
            <a:off x="3474720" y="2587752"/>
            <a:ext cx="256032" cy="27432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0" name="Rectangle 9"/>
          <p:cNvSpPr/>
          <p:nvPr/>
        </p:nvSpPr>
        <p:spPr>
          <a:xfrm>
            <a:off x="3758184" y="1920240"/>
            <a:ext cx="1325880" cy="16002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A1A1A"/>
                </a:solidFill>
                <a:latin typeface="Arial"/>
              </a:rPr>
              <a:t>3</a:t>
            </a:r>
          </a:p>
          <a:p>
            <a:pPr algn="ctr"/>
            <a:r>
              <a:rPr sz="1400" b="0">
                <a:solidFill>
                  <a:srgbClr val="1A1A1A"/>
                </a:solidFill>
                <a:latin typeface="Arial"/>
              </a:rPr>
              <a:t>Redesign roles</a:t>
            </a:r>
          </a:p>
        </p:txBody>
      </p:sp>
      <p:sp>
        <p:nvSpPr>
          <p:cNvPr id="11" name="Right Arrow 10"/>
          <p:cNvSpPr/>
          <p:nvPr/>
        </p:nvSpPr>
        <p:spPr>
          <a:xfrm>
            <a:off x="5102352" y="2587752"/>
            <a:ext cx="256032" cy="27432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2" name="Rectangle 11"/>
          <p:cNvSpPr/>
          <p:nvPr/>
        </p:nvSpPr>
        <p:spPr>
          <a:xfrm>
            <a:off x="5385816" y="1920240"/>
            <a:ext cx="1325880" cy="16002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A1A1A"/>
                </a:solidFill>
                <a:latin typeface="Arial"/>
              </a:rPr>
              <a:t>4</a:t>
            </a:r>
          </a:p>
          <a:p>
            <a:pPr algn="ctr"/>
            <a:r>
              <a:rPr sz="1400" b="0">
                <a:solidFill>
                  <a:srgbClr val="1A1A1A"/>
                </a:solidFill>
                <a:latin typeface="Arial"/>
              </a:rPr>
              <a:t>Build oversight competence</a:t>
            </a:r>
          </a:p>
        </p:txBody>
      </p:sp>
      <p:sp>
        <p:nvSpPr>
          <p:cNvPr id="13" name="Right Arrow 12"/>
          <p:cNvSpPr/>
          <p:nvPr/>
        </p:nvSpPr>
        <p:spPr>
          <a:xfrm>
            <a:off x="6729983" y="2587752"/>
            <a:ext cx="256032" cy="27432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4" name="Rectangle 13"/>
          <p:cNvSpPr/>
          <p:nvPr/>
        </p:nvSpPr>
        <p:spPr>
          <a:xfrm>
            <a:off x="7013448" y="1920240"/>
            <a:ext cx="1325880" cy="16002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A1A1A"/>
                </a:solidFill>
                <a:latin typeface="Arial"/>
              </a:rPr>
              <a:t>5</a:t>
            </a:r>
          </a:p>
          <a:p>
            <a:pPr algn="ctr"/>
            <a:r>
              <a:rPr sz="1400" b="0">
                <a:solidFill>
                  <a:srgbClr val="1A1A1A"/>
                </a:solidFill>
                <a:latin typeface="Arial"/>
              </a:rPr>
              <a:t>Reskill &amp; source</a:t>
            </a:r>
          </a:p>
        </p:txBody>
      </p:sp>
      <p:sp>
        <p:nvSpPr>
          <p:cNvPr id="15" name="Right Arrow 14"/>
          <p:cNvSpPr/>
          <p:nvPr/>
        </p:nvSpPr>
        <p:spPr>
          <a:xfrm>
            <a:off x="8357616" y="2587752"/>
            <a:ext cx="256032" cy="27432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6" name="Rectangle 15"/>
          <p:cNvSpPr/>
          <p:nvPr/>
        </p:nvSpPr>
        <p:spPr>
          <a:xfrm>
            <a:off x="8641080" y="1920240"/>
            <a:ext cx="1325880" cy="16002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A1A1A"/>
                </a:solidFill>
                <a:latin typeface="Arial"/>
              </a:rPr>
              <a:t>6</a:t>
            </a:r>
          </a:p>
          <a:p>
            <a:pPr algn="ctr"/>
            <a:r>
              <a:rPr sz="1400" b="0">
                <a:solidFill>
                  <a:srgbClr val="1A1A1A"/>
                </a:solidFill>
                <a:latin typeface="Arial"/>
              </a:rPr>
              <a:t>Secure trust</a:t>
            </a:r>
          </a:p>
        </p:txBody>
      </p:sp>
      <p:sp>
        <p:nvSpPr>
          <p:cNvPr id="17" name="Right Arrow 16"/>
          <p:cNvSpPr/>
          <p:nvPr/>
        </p:nvSpPr>
        <p:spPr>
          <a:xfrm>
            <a:off x="9985248" y="2587752"/>
            <a:ext cx="256032" cy="274320"/>
          </a:xfrm>
          <a:prstGeom prst="rightArrow">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18" name="Rectangle 17"/>
          <p:cNvSpPr/>
          <p:nvPr/>
        </p:nvSpPr>
        <p:spPr>
          <a:xfrm>
            <a:off x="10268712" y="1920240"/>
            <a:ext cx="1325880" cy="160020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A1A1A"/>
                </a:solidFill>
                <a:latin typeface="Arial"/>
              </a:rPr>
              <a:t>7</a:t>
            </a:r>
          </a:p>
          <a:p>
            <a:pPr algn="ctr"/>
            <a:r>
              <a:rPr sz="1400" b="0">
                <a:solidFill>
                  <a:srgbClr val="1A1A1A"/>
                </a:solidFill>
                <a:latin typeface="Arial"/>
              </a:rPr>
              <a:t>Lead change &amp; retain</a:t>
            </a:r>
          </a:p>
        </p:txBody>
      </p:sp>
      <p:sp>
        <p:nvSpPr>
          <p:cNvPr id="19" name="TextBox 18"/>
          <p:cNvSpPr txBox="1"/>
          <p:nvPr/>
        </p:nvSpPr>
        <p:spPr>
          <a:xfrm>
            <a:off x="548640" y="3886200"/>
            <a:ext cx="11155680" cy="1097280"/>
          </a:xfrm>
          <a:prstGeom prst="rect">
            <a:avLst/>
          </a:prstGeom>
          <a:noFill/>
        </p:spPr>
        <p:txBody>
          <a:bodyPr wrap="square" anchor="t" lIns="45720" rIns="45720">
            <a:spAutoFit/>
          </a:bodyPr>
          <a:lstStyle/>
          <a:p>
            <a:pPr algn="ctr">
              <a:spcAft>
                <a:spcPts val="800"/>
              </a:spcAft>
            </a:pPr>
            <a:r>
              <a:rPr sz="1900" b="1">
                <a:solidFill>
                  <a:srgbClr val="C00000"/>
                </a:solidFill>
                <a:latin typeface="Arial"/>
              </a:rPr>
              <a:t>Why this order?</a:t>
            </a:r>
            <a:r>
              <a:rPr sz="1900" b="0">
                <a:solidFill>
                  <a:srgbClr val="1A1A1A"/>
                </a:solidFill>
                <a:latin typeface="Arial"/>
              </a:rPr>
              <a:t> The experts whose routine work is automated are the same people needed to validate the AI.</a:t>
            </a:r>
          </a:p>
        </p:txBody>
      </p:sp>
      <p:sp>
        <p:nvSpPr>
          <p:cNvPr id="20" name="Rectangle 19"/>
          <p:cNvSpPr/>
          <p:nvPr/>
        </p:nvSpPr>
        <p:spPr>
          <a:xfrm>
            <a:off x="548640" y="5120640"/>
            <a:ext cx="11155680" cy="640080"/>
          </a:xfrm>
          <a:prstGeom prst="rect">
            <a:avLst/>
          </a:prstGeom>
          <a:noFill/>
          <a:ln w="15875">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0">
                <a:solidFill>
                  <a:srgbClr val="6E6E6E"/>
                </a:solidFill>
                <a:latin typeface="Arial"/>
              </a:rPr>
              <a:t>Enablers: data quality &amp; lineage  ·  clear accountability map  ·  workforce indicators tracked alongside AI indicators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Recommendations, conclusion and limits</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20</a:t>
            </a:r>
          </a:p>
        </p:txBody>
      </p:sp>
      <p:sp>
        <p:nvSpPr>
          <p:cNvPr id="6" name="TextBox 5"/>
          <p:cNvSpPr txBox="1"/>
          <p:nvPr/>
        </p:nvSpPr>
        <p:spPr>
          <a:xfrm>
            <a:off x="548640" y="1508760"/>
            <a:ext cx="3566160" cy="457200"/>
          </a:xfrm>
          <a:prstGeom prst="rect">
            <a:avLst/>
          </a:prstGeom>
          <a:noFill/>
        </p:spPr>
        <p:txBody>
          <a:bodyPr wrap="square" anchor="t" lIns="45720" rIns="45720">
            <a:spAutoFit/>
          </a:bodyPr>
          <a:lstStyle/>
          <a:p>
            <a:pPr algn="l">
              <a:spcAft>
                <a:spcPts val="800"/>
              </a:spcAft>
            </a:pPr>
            <a:r>
              <a:rPr sz="1900" b="1">
                <a:solidFill>
                  <a:srgbClr val="C00000"/>
                </a:solidFill>
                <a:latin typeface="Arial"/>
              </a:rPr>
              <a:t>GRC leaders</a:t>
            </a:r>
          </a:p>
        </p:txBody>
      </p:sp>
      <p:sp>
        <p:nvSpPr>
          <p:cNvPr id="7" name="TextBox 6"/>
          <p:cNvSpPr txBox="1"/>
          <p:nvPr/>
        </p:nvSpPr>
        <p:spPr>
          <a:xfrm>
            <a:off x="548640" y="2011680"/>
            <a:ext cx="3566160" cy="2011680"/>
          </a:xfrm>
          <a:prstGeom prst="rect">
            <a:avLst/>
          </a:prstGeom>
          <a:noFill/>
        </p:spPr>
        <p:txBody>
          <a:bodyPr wrap="square" anchor="t" lIns="45720" rIns="45720">
            <a:spAutoFit/>
          </a:bodyPr>
          <a:lstStyle/>
          <a:p>
            <a:pPr algn="l">
              <a:spcAft>
                <a:spcPts val="800"/>
              </a:spcAft>
            </a:pPr>
            <a:r>
              <a:rPr sz="1600" b="0">
                <a:solidFill>
                  <a:srgbClr val="1A1A1A"/>
                </a:solidFill>
                <a:latin typeface="Arial"/>
              </a:rPr>
              <a:t>Map activities, not job titles</a:t>
            </a:r>
          </a:p>
          <a:p>
            <a:pPr algn="l">
              <a:spcAft>
                <a:spcPts val="800"/>
              </a:spcAft>
            </a:pPr>
            <a:r>
              <a:rPr sz="1600" b="0">
                <a:solidFill>
                  <a:srgbClr val="1A1A1A"/>
                </a:solidFill>
                <a:latin typeface="Arial"/>
              </a:rPr>
              <a:t>Capture knowledge before cutting roles</a:t>
            </a:r>
          </a:p>
          <a:p>
            <a:pPr algn="l">
              <a:spcAft>
                <a:spcPts val="800"/>
              </a:spcAft>
            </a:pPr>
            <a:r>
              <a:rPr sz="1600" b="0">
                <a:solidFill>
                  <a:srgbClr val="1A1A1A"/>
                </a:solidFill>
                <a:latin typeface="Arial"/>
              </a:rPr>
              <a:t>Make oversight operational</a:t>
            </a:r>
          </a:p>
        </p:txBody>
      </p:sp>
      <p:sp>
        <p:nvSpPr>
          <p:cNvPr id="8" name="TextBox 7"/>
          <p:cNvSpPr txBox="1"/>
          <p:nvPr/>
        </p:nvSpPr>
        <p:spPr>
          <a:xfrm>
            <a:off x="4297679" y="1508760"/>
            <a:ext cx="3566160" cy="457200"/>
          </a:xfrm>
          <a:prstGeom prst="rect">
            <a:avLst/>
          </a:prstGeom>
          <a:noFill/>
        </p:spPr>
        <p:txBody>
          <a:bodyPr wrap="square" anchor="t" lIns="45720" rIns="45720">
            <a:spAutoFit/>
          </a:bodyPr>
          <a:lstStyle/>
          <a:p>
            <a:pPr algn="l">
              <a:spcAft>
                <a:spcPts val="800"/>
              </a:spcAft>
            </a:pPr>
            <a:r>
              <a:rPr sz="1900" b="1">
                <a:solidFill>
                  <a:srgbClr val="C00000"/>
                </a:solidFill>
                <a:latin typeface="Arial"/>
              </a:rPr>
              <a:t>HR</a:t>
            </a:r>
          </a:p>
        </p:txBody>
      </p:sp>
      <p:sp>
        <p:nvSpPr>
          <p:cNvPr id="9" name="TextBox 8"/>
          <p:cNvSpPr txBox="1"/>
          <p:nvPr/>
        </p:nvSpPr>
        <p:spPr>
          <a:xfrm>
            <a:off x="4297679" y="2011680"/>
            <a:ext cx="3566160" cy="2011680"/>
          </a:xfrm>
          <a:prstGeom prst="rect">
            <a:avLst/>
          </a:prstGeom>
          <a:noFill/>
        </p:spPr>
        <p:txBody>
          <a:bodyPr wrap="square" anchor="t" lIns="45720" rIns="45720">
            <a:spAutoFit/>
          </a:bodyPr>
          <a:lstStyle/>
          <a:p>
            <a:pPr algn="l">
              <a:spcAft>
                <a:spcPts val="800"/>
              </a:spcAft>
            </a:pPr>
            <a:r>
              <a:rPr sz="1600" b="0">
                <a:solidFill>
                  <a:srgbClr val="1A1A1A"/>
                </a:solidFill>
                <a:latin typeface="Arial"/>
              </a:rPr>
              <a:t>Close the training gap: role-tiered AI literacy</a:t>
            </a:r>
          </a:p>
          <a:p>
            <a:pPr algn="l">
              <a:spcAft>
                <a:spcPts val="800"/>
              </a:spcAft>
            </a:pPr>
            <a:r>
              <a:rPr sz="1600" b="0">
                <a:solidFill>
                  <a:srgbClr val="1A1A1A"/>
                </a:solidFill>
                <a:latin typeface="Arial"/>
              </a:rPr>
              <a:t>Build, buy, borrow deliberately</a:t>
            </a:r>
          </a:p>
          <a:p>
            <a:pPr algn="l">
              <a:spcAft>
                <a:spcPts val="800"/>
              </a:spcAft>
            </a:pPr>
            <a:r>
              <a:rPr sz="1600" b="0">
                <a:solidFill>
                  <a:srgbClr val="1A1A1A"/>
                </a:solidFill>
                <a:latin typeface="Arial"/>
              </a:rPr>
              <a:t>Career paths for junior staff</a:t>
            </a:r>
          </a:p>
        </p:txBody>
      </p:sp>
      <p:sp>
        <p:nvSpPr>
          <p:cNvPr id="10" name="TextBox 9"/>
          <p:cNvSpPr txBox="1"/>
          <p:nvPr/>
        </p:nvSpPr>
        <p:spPr>
          <a:xfrm>
            <a:off x="8046719" y="1508760"/>
            <a:ext cx="3566160" cy="457200"/>
          </a:xfrm>
          <a:prstGeom prst="rect">
            <a:avLst/>
          </a:prstGeom>
          <a:noFill/>
        </p:spPr>
        <p:txBody>
          <a:bodyPr wrap="square" anchor="t" lIns="45720" rIns="45720">
            <a:spAutoFit/>
          </a:bodyPr>
          <a:lstStyle/>
          <a:p>
            <a:pPr algn="l">
              <a:spcAft>
                <a:spcPts val="800"/>
              </a:spcAft>
            </a:pPr>
            <a:r>
              <a:rPr sz="1900" b="1">
                <a:solidFill>
                  <a:srgbClr val="C00000"/>
                </a:solidFill>
                <a:latin typeface="Arial"/>
              </a:rPr>
              <a:t>Boards &amp; senior managers</a:t>
            </a:r>
          </a:p>
        </p:txBody>
      </p:sp>
      <p:sp>
        <p:nvSpPr>
          <p:cNvPr id="11" name="TextBox 10"/>
          <p:cNvSpPr txBox="1"/>
          <p:nvPr/>
        </p:nvSpPr>
        <p:spPr>
          <a:xfrm>
            <a:off x="8046719" y="2011680"/>
            <a:ext cx="3566160" cy="2011680"/>
          </a:xfrm>
          <a:prstGeom prst="rect">
            <a:avLst/>
          </a:prstGeom>
          <a:noFill/>
        </p:spPr>
        <p:txBody>
          <a:bodyPr wrap="square" anchor="t" lIns="45720" rIns="45720">
            <a:spAutoFit/>
          </a:bodyPr>
          <a:lstStyle/>
          <a:p>
            <a:pPr algn="l">
              <a:spcAft>
                <a:spcPts val="800"/>
              </a:spcAft>
            </a:pPr>
            <a:r>
              <a:rPr sz="1600" b="0">
                <a:solidFill>
                  <a:srgbClr val="1A1A1A"/>
                </a:solidFill>
                <a:latin typeface="Arial"/>
              </a:rPr>
              <a:t>Close the AI-understanding gap at the top</a:t>
            </a:r>
          </a:p>
          <a:p>
            <a:pPr algn="l">
              <a:spcAft>
                <a:spcPts val="800"/>
              </a:spcAft>
            </a:pPr>
            <a:r>
              <a:rPr sz="1600" b="0">
                <a:solidFill>
                  <a:srgbClr val="1A1A1A"/>
                </a:solidFill>
                <a:latin typeface="Arial"/>
              </a:rPr>
              <a:t>Pair every AI plan with a people plan</a:t>
            </a:r>
          </a:p>
          <a:p>
            <a:pPr algn="l">
              <a:spcAft>
                <a:spcPts val="800"/>
              </a:spcAft>
            </a:pPr>
            <a:r>
              <a:rPr sz="1600" b="0">
                <a:solidFill>
                  <a:srgbClr val="1A1A1A"/>
                </a:solidFill>
                <a:latin typeface="Arial"/>
              </a:rPr>
              <a:t>Track workforce indicators</a:t>
            </a:r>
          </a:p>
        </p:txBody>
      </p:sp>
      <p:sp>
        <p:nvSpPr>
          <p:cNvPr id="12" name="Rectangle 11"/>
          <p:cNvSpPr/>
          <p:nvPr/>
        </p:nvSpPr>
        <p:spPr>
          <a:xfrm>
            <a:off x="548640" y="4160520"/>
            <a:ext cx="11155680" cy="77724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1A1A1A"/>
                </a:solidFill>
                <a:latin typeface="Arial"/>
              </a:rPr>
              <a:t>Conclusion:</a:t>
            </a:r>
            <a:r>
              <a:rPr sz="1800" b="0">
                <a:solidFill>
                  <a:srgbClr val="1A1A1A"/>
                </a:solidFill>
                <a:latin typeface="Arial"/>
              </a:rPr>
              <a:t> AI in GRC succeeds only if the people who answer for it can understand and challenge it.</a:t>
            </a:r>
          </a:p>
        </p:txBody>
      </p:sp>
      <p:sp>
        <p:nvSpPr>
          <p:cNvPr id="13" name="TextBox 12"/>
          <p:cNvSpPr txBox="1"/>
          <p:nvPr/>
        </p:nvSpPr>
        <p:spPr>
          <a:xfrm>
            <a:off x="548640" y="5120640"/>
            <a:ext cx="11155680" cy="1097280"/>
          </a:xfrm>
          <a:prstGeom prst="rect">
            <a:avLst/>
          </a:prstGeom>
          <a:noFill/>
        </p:spPr>
        <p:txBody>
          <a:bodyPr wrap="square" anchor="t" lIns="45720" rIns="45720">
            <a:spAutoFit/>
          </a:bodyPr>
          <a:lstStyle/>
          <a:p>
            <a:pPr algn="l">
              <a:spcAft>
                <a:spcPts val="800"/>
              </a:spcAft>
            </a:pPr>
            <a:r>
              <a:rPr sz="1400" b="1">
                <a:solidFill>
                  <a:srgbClr val="6E6E6E"/>
                </a:solidFill>
                <a:latin typeface="Arial"/>
              </a:rPr>
              <a:t>Limits:</a:t>
            </a:r>
            <a:r>
              <a:rPr sz="1400" b="0">
                <a:solidFill>
                  <a:srgbClr val="6E6E6E"/>
                </a:solidFill>
                <a:latin typeface="Arial"/>
              </a:rPr>
              <a:t> small purposive primary sample (analytical generalisation) · disclosure ≠ action · 19 paired banks · one UK job board</a:t>
            </a:r>
          </a:p>
          <a:p>
            <a:pPr algn="l">
              <a:spcAft>
                <a:spcPts val="800"/>
              </a:spcAft>
            </a:pPr>
            <a:r>
              <a:rPr sz="1400" b="1">
                <a:solidFill>
                  <a:srgbClr val="6E6E6E"/>
                </a:solidFill>
                <a:latin typeface="Arial"/>
              </a:rPr>
              <a:t>Next:</a:t>
            </a:r>
            <a:r>
              <a:rPr sz="1400" b="0">
                <a:solidFill>
                  <a:srgbClr val="6E6E6E"/>
                </a:solidFill>
                <a:latin typeface="Arial"/>
              </a:rPr>
              <a:t> larger surveys · annual tracking of reports and adverts · EU job data · in-bank case studies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3" name="TextBox 2"/>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21</a:t>
            </a:r>
          </a:p>
        </p:txBody>
      </p:sp>
      <p:sp>
        <p:nvSpPr>
          <p:cNvPr id="4" name="TextBox 3"/>
          <p:cNvSpPr txBox="1"/>
          <p:nvPr/>
        </p:nvSpPr>
        <p:spPr>
          <a:xfrm>
            <a:off x="822960" y="2103120"/>
            <a:ext cx="10515600" cy="1097280"/>
          </a:xfrm>
          <a:prstGeom prst="rect">
            <a:avLst/>
          </a:prstGeom>
          <a:noFill/>
        </p:spPr>
        <p:txBody>
          <a:bodyPr wrap="square" anchor="t" lIns="45720" rIns="45720">
            <a:spAutoFit/>
          </a:bodyPr>
          <a:lstStyle/>
          <a:p>
            <a:pPr algn="ctr">
              <a:spcAft>
                <a:spcPts val="800"/>
              </a:spcAft>
            </a:pPr>
            <a:r>
              <a:rPr sz="5400" b="1">
                <a:solidFill>
                  <a:srgbClr val="1A1A1A"/>
                </a:solidFill>
                <a:latin typeface="Arial"/>
              </a:rPr>
              <a:t>Thank you</a:t>
            </a:r>
          </a:p>
        </p:txBody>
      </p:sp>
      <p:sp>
        <p:nvSpPr>
          <p:cNvPr id="5" name="Rectangle 4"/>
          <p:cNvSpPr/>
          <p:nvPr/>
        </p:nvSpPr>
        <p:spPr>
          <a:xfrm>
            <a:off x="5394960" y="3246120"/>
            <a:ext cx="1371600" cy="640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6" name="TextBox 5"/>
          <p:cNvSpPr txBox="1"/>
          <p:nvPr/>
        </p:nvSpPr>
        <p:spPr>
          <a:xfrm>
            <a:off x="822960" y="3566160"/>
            <a:ext cx="10515600" cy="914400"/>
          </a:xfrm>
          <a:prstGeom prst="rect">
            <a:avLst/>
          </a:prstGeom>
          <a:noFill/>
        </p:spPr>
        <p:txBody>
          <a:bodyPr wrap="square" anchor="t" lIns="45720" rIns="45720">
            <a:spAutoFit/>
          </a:bodyPr>
          <a:lstStyle/>
          <a:p>
            <a:pPr algn="ctr">
              <a:spcAft>
                <a:spcPts val="800"/>
              </a:spcAft>
            </a:pPr>
            <a:r>
              <a:rPr sz="2400" b="0">
                <a:solidFill>
                  <a:srgbClr val="6E6E6E"/>
                </a:solidFill>
                <a:latin typeface="Arial"/>
              </a:rPr>
              <a:t>Questions welcome</a:t>
            </a:r>
          </a:p>
        </p:txBody>
      </p:sp>
      <p:sp>
        <p:nvSpPr>
          <p:cNvPr id="7" name="TextBox 6"/>
          <p:cNvSpPr txBox="1"/>
          <p:nvPr/>
        </p:nvSpPr>
        <p:spPr>
          <a:xfrm>
            <a:off x="822960" y="4572000"/>
            <a:ext cx="10515600" cy="731520"/>
          </a:xfrm>
          <a:prstGeom prst="rect">
            <a:avLst/>
          </a:prstGeom>
          <a:noFill/>
        </p:spPr>
        <p:txBody>
          <a:bodyPr wrap="square" anchor="t" lIns="45720" rIns="45720">
            <a:spAutoFit/>
          </a:bodyPr>
          <a:lstStyle/>
          <a:p>
            <a:pPr algn="ctr">
              <a:spcAft>
                <a:spcPts val="800"/>
              </a:spcAft>
            </a:pPr>
            <a:r>
              <a:rPr sz="1800" b="1">
                <a:solidFill>
                  <a:srgbClr val="C00000"/>
                </a:solidFill>
                <a:latin typeface="Arial"/>
              </a:rPr>
              <a:t>AI in GRC succeeds only if the people who answer for it can understand and challenge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Backup: D2 bank sample and coding</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B1</a:t>
            </a:r>
          </a:p>
        </p:txBody>
      </p:sp>
      <p:sp>
        <p:nvSpPr>
          <p:cNvPr id="6" name="TextBox 5"/>
          <p:cNvSpPr txBox="1"/>
          <p:nvPr/>
        </p:nvSpPr>
        <p:spPr>
          <a:xfrm>
            <a:off x="548640" y="1508760"/>
            <a:ext cx="11155680" cy="4754880"/>
          </a:xfrm>
          <a:prstGeom prst="rect">
            <a:avLst/>
          </a:prstGeom>
          <a:noFill/>
        </p:spPr>
        <p:txBody>
          <a:bodyPr wrap="square" anchor="t" lIns="45720" rIns="45720">
            <a:spAutoFit/>
          </a:bodyPr>
          <a:lstStyle/>
          <a:p>
            <a:pPr algn="l">
              <a:spcAft>
                <a:spcPts val="1200"/>
              </a:spcAft>
            </a:pPr>
            <a:r>
              <a:rPr sz="1500" b="1">
                <a:solidFill>
                  <a:srgbClr val="1A1A1A"/>
                </a:solidFill>
                <a:latin typeface="Arial"/>
              </a:rPr>
              <a:t>Both years (19):</a:t>
            </a:r>
            <a:r>
              <a:rPr sz="1500" b="0">
                <a:solidFill>
                  <a:srgbClr val="1A1A1A"/>
                </a:solidFill>
                <a:latin typeface="Arial"/>
              </a:rPr>
              <a:t> ABN AMRO, BBVA, Banco Santander, Bank of Ireland, Barclays, Danske Bank, Deutsche Bank, Erste Group, Groupe BPCE, HSBC, Intesa Sanpaolo, KBC, NatWest, Nationwide, Nordea, Santander UK, Société Générale, Standard Chartered, UniCredit</a:t>
            </a:r>
          </a:p>
          <a:p>
            <a:pPr algn="l">
              <a:spcAft>
                <a:spcPts val="1200"/>
              </a:spcAft>
            </a:pPr>
            <a:r>
              <a:rPr sz="1500" b="1">
                <a:solidFill>
                  <a:srgbClr val="1A1A1A"/>
                </a:solidFill>
                <a:latin typeface="Arial"/>
              </a:rPr>
              <a:t>FY2025 only:</a:t>
            </a:r>
            <a:r>
              <a:rPr sz="1500" b="0">
                <a:solidFill>
                  <a:srgbClr val="1A1A1A"/>
                </a:solidFill>
                <a:latin typeface="Arial"/>
              </a:rPr>
              <a:t> Handelsbanken, ING, SEB   |   </a:t>
            </a:r>
            <a:r>
              <a:rPr sz="1500" b="1">
                <a:solidFill>
                  <a:srgbClr val="1A1A1A"/>
                </a:solidFill>
                <a:latin typeface="Arial"/>
              </a:rPr>
              <a:t>FY2022 only:</a:t>
            </a:r>
            <a:r>
              <a:rPr sz="1500" b="0">
                <a:solidFill>
                  <a:srgbClr val="1A1A1A"/>
                </a:solidFill>
                <a:latin typeface="Arial"/>
              </a:rPr>
              <a:t> Rabobank</a:t>
            </a:r>
          </a:p>
          <a:p>
            <a:pPr algn="l">
              <a:spcAft>
                <a:spcPts val="1200"/>
              </a:spcAft>
            </a:pPr>
            <a:r>
              <a:rPr sz="1500" b="1">
                <a:solidFill>
                  <a:srgbClr val="1A1A1A"/>
                </a:solidFill>
                <a:latin typeface="Arial"/>
              </a:rPr>
              <a:t>Not coded:</a:t>
            </a:r>
            <a:r>
              <a:rPr sz="1500" b="0">
                <a:solidFill>
                  <a:srgbClr val="1A1A1A"/>
                </a:solidFill>
                <a:latin typeface="Arial"/>
              </a:rPr>
              <a:t> AIB, BNP Paribas, CaixaBank, Commerzbank, Crédit Agricole, Lloyds (no full English report / access blocked)</a:t>
            </a:r>
          </a:p>
          <a:p>
            <a:pPr algn="l">
              <a:spcAft>
                <a:spcPts val="1200"/>
              </a:spcAft>
            </a:pPr>
            <a:r>
              <a:rPr sz="1500" b="1">
                <a:solidFill>
                  <a:srgbClr val="1A1A1A"/>
                </a:solidFill>
                <a:latin typeface="Arial"/>
              </a:rPr>
              <a:t>Coding:</a:t>
            </a:r>
            <a:r>
              <a:rPr sz="1500" b="0">
                <a:solidFill>
                  <a:srgbClr val="1A1A1A"/>
                </a:solidFill>
                <a:latin typeface="Arial"/>
              </a:rPr>
              <a:t> fixed keyword lists for AI, reskilling, AI governance and regulation; count ÷ total words × 10,000; binary flag for a named AI governance body. Each file checked against its title page.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Backup: full H10 results</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B2</a:t>
            </a:r>
          </a:p>
        </p:txBody>
      </p:sp>
      <p:graphicFrame>
        <p:nvGraphicFramePr>
          <p:cNvPr id="6" name="Table 5"/>
          <p:cNvGraphicFramePr>
            <a:graphicFrameLocks noGrp="1"/>
          </p:cNvGraphicFramePr>
          <p:nvPr/>
        </p:nvGraphicFramePr>
        <p:xfrm>
          <a:off x="457200" y="1417320"/>
          <a:ext cx="11247120" cy="4526280"/>
        </p:xfrm>
        <a:graphic>
          <a:graphicData uri="http://schemas.openxmlformats.org/drawingml/2006/table">
            <a:tbl>
              <a:tblPr>
                <a:tableStyleId>{5C22544A-7EE6-4342-B048-85BDC9FD1C3A}</a:tableStyleId>
              </a:tblPr>
              <a:tblGrid>
                <a:gridCol w="3840480"/>
                <a:gridCol w="2194560"/>
                <a:gridCol w="1737360"/>
                <a:gridCol w="2377440"/>
                <a:gridCol w="1097280"/>
              </a:tblGrid>
              <a:tr h="411480">
                <a:tc>
                  <a:txBody>
                    <a:bodyPr wrap="square"/>
                    <a:lstStyle/>
                    <a:p>
                      <a:r>
                        <a:rPr sz="1300" b="1">
                          <a:solidFill>
                            <a:srgbClr val="1A1A1A"/>
                          </a:solidFill>
                          <a:latin typeface="Arial"/>
                        </a:rPr>
                        <a:t>Test</a:t>
                      </a:r>
                    </a:p>
                  </a:txBody>
                  <a:tcPr marL="54864" marR="54864" marT="27432" marB="27432">
                    <a:solidFill>
                      <a:srgbClr val="D9D9D9"/>
                    </a:solidFill>
                  </a:tcPr>
                </a:tc>
                <a:tc>
                  <a:txBody>
                    <a:bodyPr wrap="square"/>
                    <a:lstStyle/>
                    <a:p>
                      <a:r>
                        <a:rPr sz="1300" b="1">
                          <a:solidFill>
                            <a:srgbClr val="1A1A1A"/>
                          </a:solidFill>
                          <a:latin typeface="Arial"/>
                        </a:rPr>
                        <a:t>Statistic</a:t>
                      </a:r>
                    </a:p>
                  </a:txBody>
                  <a:tcPr marL="54864" marR="54864" marT="27432" marB="27432">
                    <a:solidFill>
                      <a:srgbClr val="D9D9D9"/>
                    </a:solidFill>
                  </a:tcPr>
                </a:tc>
                <a:tc>
                  <a:txBody>
                    <a:bodyPr wrap="square"/>
                    <a:lstStyle/>
                    <a:p>
                      <a:r>
                        <a:rPr sz="1300" b="1">
                          <a:solidFill>
                            <a:srgbClr val="1A1A1A"/>
                          </a:solidFill>
                          <a:latin typeface="Arial"/>
                        </a:rPr>
                        <a:t>p</a:t>
                      </a:r>
                    </a:p>
                  </a:txBody>
                  <a:tcPr marL="54864" marR="54864" marT="27432" marB="27432">
                    <a:solidFill>
                      <a:srgbClr val="D9D9D9"/>
                    </a:solidFill>
                  </a:tcPr>
                </a:tc>
                <a:tc>
                  <a:txBody>
                    <a:bodyPr wrap="square"/>
                    <a:lstStyle/>
                    <a:p>
                      <a:r>
                        <a:rPr sz="1300" b="1">
                          <a:solidFill>
                            <a:srgbClr val="1A1A1A"/>
                          </a:solidFill>
                          <a:latin typeface="Arial"/>
                        </a:rPr>
                        <a:t>Effect</a:t>
                      </a:r>
                    </a:p>
                  </a:txBody>
                  <a:tcPr marL="54864" marR="54864" marT="27432" marB="27432">
                    <a:solidFill>
                      <a:srgbClr val="D9D9D9"/>
                    </a:solidFill>
                  </a:tcPr>
                </a:tc>
                <a:tc>
                  <a:txBody>
                    <a:bodyPr wrap="square"/>
                    <a:lstStyle/>
                    <a:p>
                      <a:r>
                        <a:rPr sz="1300" b="1">
                          <a:solidFill>
                            <a:srgbClr val="1A1A1A"/>
                          </a:solidFill>
                          <a:latin typeface="Arial"/>
                        </a:rPr>
                        <a:t>n</a:t>
                      </a:r>
                    </a:p>
                  </a:txBody>
                  <a:tcPr marL="54864" marR="54864" marT="27432" marB="27432">
                    <a:solidFill>
                      <a:srgbClr val="D9D9D9"/>
                    </a:solidFill>
                  </a:tcPr>
                </a:tc>
              </a:tr>
              <a:tr h="411480">
                <a:tc>
                  <a:txBody>
                    <a:bodyPr wrap="square"/>
                    <a:lstStyle/>
                    <a:p>
                      <a:r>
                        <a:rPr sz="1300" b="0">
                          <a:solidFill>
                            <a:srgbClr val="1A1A1A"/>
                          </a:solidFill>
                          <a:latin typeface="Arial"/>
                        </a:rPr>
                        <a:t>AI density, paired t / Wilcoxon</a:t>
                      </a:r>
                    </a:p>
                  </a:txBody>
                  <a:tcPr marL="54864" marR="54864" marT="27432" marB="27432">
                    <a:solidFill>
                      <a:srgbClr val="FFFFFF"/>
                    </a:solidFill>
                  </a:tcPr>
                </a:tc>
                <a:tc>
                  <a:txBody>
                    <a:bodyPr wrap="square"/>
                    <a:lstStyle/>
                    <a:p>
                      <a:r>
                        <a:rPr sz="1300" b="0">
                          <a:solidFill>
                            <a:srgbClr val="1A1A1A"/>
                          </a:solidFill>
                          <a:latin typeface="Arial"/>
                        </a:rPr>
                        <a:t>t = 6.61 / W = 190</a:t>
                      </a:r>
                    </a:p>
                  </a:txBody>
                  <a:tcPr marL="54864" marR="54864" marT="27432" marB="27432">
                    <a:solidFill>
                      <a:srgbClr val="FFFFFF"/>
                    </a:solidFill>
                  </a:tcPr>
                </a:tc>
                <a:tc>
                  <a:txBody>
                    <a:bodyPr wrap="square"/>
                    <a:lstStyle/>
                    <a:p>
                      <a:r>
                        <a:rPr sz="1300" b="0">
                          <a:solidFill>
                            <a:srgbClr val="1A1A1A"/>
                          </a:solidFill>
                          <a:latin typeface="Arial"/>
                        </a:rPr>
                        <a:t>&lt;0.0001</a:t>
                      </a:r>
                    </a:p>
                  </a:txBody>
                  <a:tcPr marL="54864" marR="54864" marT="27432" marB="27432">
                    <a:solidFill>
                      <a:srgbClr val="FFFFFF"/>
                    </a:solidFill>
                  </a:tcPr>
                </a:tc>
                <a:tc>
                  <a:txBody>
                    <a:bodyPr wrap="square"/>
                    <a:lstStyle/>
                    <a:p>
                      <a:r>
                        <a:rPr sz="1300" b="0">
                          <a:solidFill>
                            <a:srgbClr val="1A1A1A"/>
                          </a:solidFill>
                          <a:latin typeface="Arial"/>
                        </a:rPr>
                        <a:t>+2.61; 19/19 up</a:t>
                      </a:r>
                    </a:p>
                  </a:txBody>
                  <a:tcPr marL="54864" marR="54864" marT="27432" marB="27432">
                    <a:solidFill>
                      <a:srgbClr val="FFFFFF"/>
                    </a:solidFill>
                  </a:tcPr>
                </a:tc>
                <a:tc>
                  <a:txBody>
                    <a:bodyPr wrap="square"/>
                    <a:lstStyle/>
                    <a:p>
                      <a:r>
                        <a:rPr sz="1300" b="0">
                          <a:solidFill>
                            <a:srgbClr val="1A1A1A"/>
                          </a:solidFill>
                          <a:latin typeface="Arial"/>
                        </a:rPr>
                        <a:t>19</a:t>
                      </a:r>
                    </a:p>
                  </a:txBody>
                  <a:tcPr marL="54864" marR="54864" marT="27432" marB="27432">
                    <a:solidFill>
                      <a:srgbClr val="FFFFFF"/>
                    </a:solidFill>
                  </a:tcPr>
                </a:tc>
              </a:tr>
              <a:tr h="411480">
                <a:tc>
                  <a:txBody>
                    <a:bodyPr wrap="square"/>
                    <a:lstStyle/>
                    <a:p>
                      <a:r>
                        <a:rPr sz="1300" b="0">
                          <a:solidFill>
                            <a:srgbClr val="1A1A1A"/>
                          </a:solidFill>
                          <a:latin typeface="Arial"/>
                        </a:rPr>
                        <a:t>Reskilling density</a:t>
                      </a:r>
                    </a:p>
                  </a:txBody>
                  <a:tcPr marL="54864" marR="54864" marT="27432" marB="27432">
                    <a:solidFill>
                      <a:srgbClr val="FFFFFF"/>
                    </a:solidFill>
                  </a:tcPr>
                </a:tc>
                <a:tc>
                  <a:txBody>
                    <a:bodyPr wrap="square"/>
                    <a:lstStyle/>
                    <a:p>
                      <a:r>
                        <a:rPr sz="1300" b="0">
                          <a:solidFill>
                            <a:srgbClr val="1A1A1A"/>
                          </a:solidFill>
                          <a:latin typeface="Arial"/>
                        </a:rPr>
                        <a:t>t = 2.09 / W = 142</a:t>
                      </a:r>
                    </a:p>
                  </a:txBody>
                  <a:tcPr marL="54864" marR="54864" marT="27432" marB="27432">
                    <a:solidFill>
                      <a:srgbClr val="FFFFFF"/>
                    </a:solidFill>
                  </a:tcPr>
                </a:tc>
                <a:tc>
                  <a:txBody>
                    <a:bodyPr wrap="square"/>
                    <a:lstStyle/>
                    <a:p>
                      <a:r>
                        <a:rPr sz="1300" b="0">
                          <a:solidFill>
                            <a:srgbClr val="1A1A1A"/>
                          </a:solidFill>
                          <a:latin typeface="Arial"/>
                        </a:rPr>
                        <a:t>0.026 / 0.030</a:t>
                      </a:r>
                    </a:p>
                  </a:txBody>
                  <a:tcPr marL="54864" marR="54864" marT="27432" marB="27432">
                    <a:solidFill>
                      <a:srgbClr val="FFFFFF"/>
                    </a:solidFill>
                  </a:tcPr>
                </a:tc>
                <a:tc>
                  <a:txBody>
                    <a:bodyPr wrap="square"/>
                    <a:lstStyle/>
                    <a:p>
                      <a:r>
                        <a:rPr sz="1300" b="0">
                          <a:solidFill>
                            <a:srgbClr val="1A1A1A"/>
                          </a:solidFill>
                          <a:latin typeface="Arial"/>
                        </a:rPr>
                        <a:t>+0.16; 13/19 up</a:t>
                      </a:r>
                    </a:p>
                  </a:txBody>
                  <a:tcPr marL="54864" marR="54864" marT="27432" marB="27432">
                    <a:solidFill>
                      <a:srgbClr val="FFFFFF"/>
                    </a:solidFill>
                  </a:tcPr>
                </a:tc>
                <a:tc>
                  <a:txBody>
                    <a:bodyPr wrap="square"/>
                    <a:lstStyle/>
                    <a:p>
                      <a:r>
                        <a:rPr sz="1300" b="0">
                          <a:solidFill>
                            <a:srgbClr val="1A1A1A"/>
                          </a:solidFill>
                          <a:latin typeface="Arial"/>
                        </a:rPr>
                        <a:t>19</a:t>
                      </a:r>
                    </a:p>
                  </a:txBody>
                  <a:tcPr marL="54864" marR="54864" marT="27432" marB="27432">
                    <a:solidFill>
                      <a:srgbClr val="FFFFFF"/>
                    </a:solidFill>
                  </a:tcPr>
                </a:tc>
              </a:tr>
              <a:tr h="411480">
                <a:tc>
                  <a:txBody>
                    <a:bodyPr wrap="square"/>
                    <a:lstStyle/>
                    <a:p>
                      <a:r>
                        <a:rPr sz="1300" b="0">
                          <a:solidFill>
                            <a:srgbClr val="1A1A1A"/>
                          </a:solidFill>
                          <a:latin typeface="Arial"/>
                        </a:rPr>
                        <a:t>AI-governance density</a:t>
                      </a:r>
                    </a:p>
                  </a:txBody>
                  <a:tcPr marL="54864" marR="54864" marT="27432" marB="27432">
                    <a:solidFill>
                      <a:srgbClr val="FFFFFF"/>
                    </a:solidFill>
                  </a:tcPr>
                </a:tc>
                <a:tc>
                  <a:txBody>
                    <a:bodyPr wrap="square"/>
                    <a:lstStyle/>
                    <a:p>
                      <a:r>
                        <a:rPr sz="1300" b="0">
                          <a:solidFill>
                            <a:srgbClr val="1A1A1A"/>
                          </a:solidFill>
                          <a:latin typeface="Arial"/>
                        </a:rPr>
                        <a:t>t = 1.56 / W = 132</a:t>
                      </a:r>
                    </a:p>
                  </a:txBody>
                  <a:tcPr marL="54864" marR="54864" marT="27432" marB="27432">
                    <a:solidFill>
                      <a:srgbClr val="FFFFFF"/>
                    </a:solidFill>
                  </a:tcPr>
                </a:tc>
                <a:tc>
                  <a:txBody>
                    <a:bodyPr wrap="square"/>
                    <a:lstStyle/>
                    <a:p>
                      <a:r>
                        <a:rPr sz="1300" b="0">
                          <a:solidFill>
                            <a:srgbClr val="1A1A1A"/>
                          </a:solidFill>
                          <a:latin typeface="Arial"/>
                        </a:rPr>
                        <a:t>0.068 / 0.072</a:t>
                      </a:r>
                    </a:p>
                  </a:txBody>
                  <a:tcPr marL="54864" marR="54864" marT="27432" marB="27432">
                    <a:solidFill>
                      <a:srgbClr val="FFFFFF"/>
                    </a:solidFill>
                  </a:tcPr>
                </a:tc>
                <a:tc>
                  <a:txBody>
                    <a:bodyPr wrap="square"/>
                    <a:lstStyle/>
                    <a:p>
                      <a:r>
                        <a:rPr sz="1300" b="0">
                          <a:solidFill>
                            <a:srgbClr val="1A1A1A"/>
                          </a:solidFill>
                          <a:latin typeface="Arial"/>
                        </a:rPr>
                        <a:t>+0.15; 13/19 up</a:t>
                      </a:r>
                    </a:p>
                  </a:txBody>
                  <a:tcPr marL="54864" marR="54864" marT="27432" marB="27432">
                    <a:solidFill>
                      <a:srgbClr val="FFFFFF"/>
                    </a:solidFill>
                  </a:tcPr>
                </a:tc>
                <a:tc>
                  <a:txBody>
                    <a:bodyPr wrap="square"/>
                    <a:lstStyle/>
                    <a:p>
                      <a:r>
                        <a:rPr sz="1300" b="0">
                          <a:solidFill>
                            <a:srgbClr val="1A1A1A"/>
                          </a:solidFill>
                          <a:latin typeface="Arial"/>
                        </a:rPr>
                        <a:t>19</a:t>
                      </a:r>
                    </a:p>
                  </a:txBody>
                  <a:tcPr marL="54864" marR="54864" marT="27432" marB="27432">
                    <a:solidFill>
                      <a:srgbClr val="FFFFFF"/>
                    </a:solidFill>
                  </a:tcPr>
                </a:tc>
              </a:tr>
              <a:tr h="411480">
                <a:tc>
                  <a:txBody>
                    <a:bodyPr wrap="square"/>
                    <a:lstStyle/>
                    <a:p>
                      <a:r>
                        <a:rPr sz="1300" b="0">
                          <a:solidFill>
                            <a:srgbClr val="1A1A1A"/>
                          </a:solidFill>
                          <a:latin typeface="Arial"/>
                        </a:rPr>
                        <a:t>Regulation density</a:t>
                      </a:r>
                    </a:p>
                  </a:txBody>
                  <a:tcPr marL="54864" marR="54864" marT="27432" marB="27432">
                    <a:solidFill>
                      <a:srgbClr val="FFFFFF"/>
                    </a:solidFill>
                  </a:tcPr>
                </a:tc>
                <a:tc>
                  <a:txBody>
                    <a:bodyPr wrap="square"/>
                    <a:lstStyle/>
                    <a:p>
                      <a:r>
                        <a:rPr sz="1300" b="0">
                          <a:solidFill>
                            <a:srgbClr val="1A1A1A"/>
                          </a:solidFill>
                          <a:latin typeface="Arial"/>
                        </a:rPr>
                        <a:t>t = 5.42 / W = 171</a:t>
                      </a:r>
                    </a:p>
                  </a:txBody>
                  <a:tcPr marL="54864" marR="54864" marT="27432" marB="27432">
                    <a:solidFill>
                      <a:srgbClr val="FFFFFF"/>
                    </a:solidFill>
                  </a:tcPr>
                </a:tc>
                <a:tc>
                  <a:txBody>
                    <a:bodyPr wrap="square"/>
                    <a:lstStyle/>
                    <a:p>
                      <a:r>
                        <a:rPr sz="1300" b="0">
                          <a:solidFill>
                            <a:srgbClr val="1A1A1A"/>
                          </a:solidFill>
                          <a:latin typeface="Arial"/>
                        </a:rPr>
                        <a:t>&lt;0.0001</a:t>
                      </a:r>
                    </a:p>
                  </a:txBody>
                  <a:tcPr marL="54864" marR="54864" marT="27432" marB="27432">
                    <a:solidFill>
                      <a:srgbClr val="FFFFFF"/>
                    </a:solidFill>
                  </a:tcPr>
                </a:tc>
                <a:tc>
                  <a:txBody>
                    <a:bodyPr wrap="square"/>
                    <a:lstStyle/>
                    <a:p>
                      <a:r>
                        <a:rPr sz="1300" b="0">
                          <a:solidFill>
                            <a:srgbClr val="1A1A1A"/>
                          </a:solidFill>
                          <a:latin typeface="Arial"/>
                        </a:rPr>
                        <a:t>+0.20; 18/19 up</a:t>
                      </a:r>
                    </a:p>
                  </a:txBody>
                  <a:tcPr marL="54864" marR="54864" marT="27432" marB="27432">
                    <a:solidFill>
                      <a:srgbClr val="FFFFFF"/>
                    </a:solidFill>
                  </a:tcPr>
                </a:tc>
                <a:tc>
                  <a:txBody>
                    <a:bodyPr wrap="square"/>
                    <a:lstStyle/>
                    <a:p>
                      <a:r>
                        <a:rPr sz="1300" b="0">
                          <a:solidFill>
                            <a:srgbClr val="1A1A1A"/>
                          </a:solidFill>
                          <a:latin typeface="Arial"/>
                        </a:rPr>
                        <a:t>19</a:t>
                      </a:r>
                    </a:p>
                  </a:txBody>
                  <a:tcPr marL="54864" marR="54864" marT="27432" marB="27432">
                    <a:solidFill>
                      <a:srgbClr val="FFFFFF"/>
                    </a:solidFill>
                  </a:tcPr>
                </a:tc>
              </a:tr>
              <a:tr h="411480">
                <a:tc>
                  <a:txBody>
                    <a:bodyPr wrap="square"/>
                    <a:lstStyle/>
                    <a:p>
                      <a:r>
                        <a:rPr sz="1300" b="0">
                          <a:solidFill>
                            <a:srgbClr val="1A1A1A"/>
                          </a:solidFill>
                          <a:latin typeface="Arial"/>
                        </a:rPr>
                        <a:t>AI governance body, exact McNemar</a:t>
                      </a:r>
                    </a:p>
                  </a:txBody>
                  <a:tcPr marL="54864" marR="54864" marT="27432" marB="27432">
                    <a:solidFill>
                      <a:srgbClr val="FFFFFF"/>
                    </a:solidFill>
                  </a:tcPr>
                </a:tc>
                <a:tc>
                  <a:txBody>
                    <a:bodyPr wrap="square"/>
                    <a:lstStyle/>
                    <a:p>
                      <a:r>
                        <a:rPr sz="1300" b="0">
                          <a:solidFill>
                            <a:srgbClr val="1A1A1A"/>
                          </a:solidFill>
                          <a:latin typeface="Arial"/>
                        </a:rPr>
                        <a:t>–</a:t>
                      </a:r>
                    </a:p>
                  </a:txBody>
                  <a:tcPr marL="54864" marR="54864" marT="27432" marB="27432">
                    <a:solidFill>
                      <a:srgbClr val="FFFFFF"/>
                    </a:solidFill>
                  </a:tcPr>
                </a:tc>
                <a:tc>
                  <a:txBody>
                    <a:bodyPr wrap="square"/>
                    <a:lstStyle/>
                    <a:p>
                      <a:r>
                        <a:rPr sz="1300" b="0">
                          <a:solidFill>
                            <a:srgbClr val="1A1A1A"/>
                          </a:solidFill>
                          <a:latin typeface="Arial"/>
                        </a:rPr>
                        <a:t>0.016</a:t>
                      </a:r>
                    </a:p>
                  </a:txBody>
                  <a:tcPr marL="54864" marR="54864" marT="27432" marB="27432">
                    <a:solidFill>
                      <a:srgbClr val="FFFFFF"/>
                    </a:solidFill>
                  </a:tcPr>
                </a:tc>
                <a:tc>
                  <a:txBody>
                    <a:bodyPr wrap="square"/>
                    <a:lstStyle/>
                    <a:p>
                      <a:r>
                        <a:rPr sz="1300" b="0">
                          <a:solidFill>
                            <a:srgbClr val="1A1A1A"/>
                          </a:solidFill>
                          <a:latin typeface="Arial"/>
                        </a:rPr>
                        <a:t>7 up, 0 down</a:t>
                      </a:r>
                    </a:p>
                  </a:txBody>
                  <a:tcPr marL="54864" marR="54864" marT="27432" marB="27432">
                    <a:solidFill>
                      <a:srgbClr val="FFFFFF"/>
                    </a:solidFill>
                  </a:tcPr>
                </a:tc>
                <a:tc>
                  <a:txBody>
                    <a:bodyPr wrap="square"/>
                    <a:lstStyle/>
                    <a:p>
                      <a:r>
                        <a:rPr sz="1300" b="0">
                          <a:solidFill>
                            <a:srgbClr val="1A1A1A"/>
                          </a:solidFill>
                          <a:latin typeface="Arial"/>
                        </a:rPr>
                        <a:t>19</a:t>
                      </a:r>
                    </a:p>
                  </a:txBody>
                  <a:tcPr marL="54864" marR="54864" marT="27432" marB="27432">
                    <a:solidFill>
                      <a:srgbClr val="FFFFFF"/>
                    </a:solidFill>
                  </a:tcPr>
                </a:tc>
              </a:tr>
              <a:tr h="411480">
                <a:tc>
                  <a:txBody>
                    <a:bodyPr wrap="square"/>
                    <a:lstStyle/>
                    <a:p>
                      <a:r>
                        <a:rPr sz="1300" b="0">
                          <a:solidFill>
                            <a:srgbClr val="1A1A1A"/>
                          </a:solidFill>
                          <a:latin typeface="Arial"/>
                        </a:rPr>
                        <a:t>AI vs reskilling, Spearman (FY2025)</a:t>
                      </a:r>
                    </a:p>
                  </a:txBody>
                  <a:tcPr marL="54864" marR="54864" marT="27432" marB="27432">
                    <a:solidFill>
                      <a:srgbClr val="FFFFFF"/>
                    </a:solidFill>
                  </a:tcPr>
                </a:tc>
                <a:tc>
                  <a:txBody>
                    <a:bodyPr wrap="square"/>
                    <a:lstStyle/>
                    <a:p>
                      <a:r>
                        <a:rPr sz="1300" b="0">
                          <a:solidFill>
                            <a:srgbClr val="1A1A1A"/>
                          </a:solidFill>
                          <a:latin typeface="Arial"/>
                        </a:rPr>
                        <a:t>ρ = −0.16</a:t>
                      </a:r>
                    </a:p>
                  </a:txBody>
                  <a:tcPr marL="54864" marR="54864" marT="27432" marB="27432">
                    <a:solidFill>
                      <a:srgbClr val="FFFFFF"/>
                    </a:solidFill>
                  </a:tcPr>
                </a:tc>
                <a:tc>
                  <a:txBody>
                    <a:bodyPr wrap="square"/>
                    <a:lstStyle/>
                    <a:p>
                      <a:r>
                        <a:rPr sz="1300" b="0">
                          <a:solidFill>
                            <a:srgbClr val="1A1A1A"/>
                          </a:solidFill>
                          <a:latin typeface="Arial"/>
                        </a:rPr>
                        <a:t>0.487</a:t>
                      </a:r>
                    </a:p>
                  </a:txBody>
                  <a:tcPr marL="54864" marR="54864" marT="27432" marB="27432">
                    <a:solidFill>
                      <a:srgbClr val="FFFFFF"/>
                    </a:solidFill>
                  </a:tcPr>
                </a:tc>
                <a:tc>
                  <a:txBody>
                    <a:bodyPr wrap="square"/>
                    <a:lstStyle/>
                    <a:p/>
                  </a:txBody>
                  <a:tcPr marL="54864" marR="54864" marT="27432" marB="27432">
                    <a:solidFill>
                      <a:srgbClr val="FFFFFF"/>
                    </a:solidFill>
                  </a:tcPr>
                </a:tc>
                <a:tc>
                  <a:txBody>
                    <a:bodyPr wrap="square"/>
                    <a:lstStyle/>
                    <a:p>
                      <a:r>
                        <a:rPr sz="1300" b="0">
                          <a:solidFill>
                            <a:srgbClr val="1A1A1A"/>
                          </a:solidFill>
                          <a:latin typeface="Arial"/>
                        </a:rPr>
                        <a:t>22</a:t>
                      </a:r>
                    </a:p>
                  </a:txBody>
                  <a:tcPr marL="54864" marR="54864" marT="27432" marB="27432">
                    <a:solidFill>
                      <a:srgbClr val="FFFFFF"/>
                    </a:solidFill>
                  </a:tcPr>
                </a:tc>
              </a:tr>
              <a:tr h="411480">
                <a:tc>
                  <a:txBody>
                    <a:bodyPr wrap="square"/>
                    <a:lstStyle/>
                    <a:p>
                      <a:r>
                        <a:rPr sz="1300" b="0">
                          <a:solidFill>
                            <a:srgbClr val="1A1A1A"/>
                          </a:solidFill>
                          <a:latin typeface="Arial"/>
                        </a:rPr>
                        <a:t>UK vs EU AI density, Mann–Whitney</a:t>
                      </a:r>
                    </a:p>
                  </a:txBody>
                  <a:tcPr marL="54864" marR="54864" marT="27432" marB="27432">
                    <a:solidFill>
                      <a:srgbClr val="FFFFFF"/>
                    </a:solidFill>
                  </a:tcPr>
                </a:tc>
                <a:tc>
                  <a:txBody>
                    <a:bodyPr wrap="square"/>
                    <a:lstStyle/>
                    <a:p>
                      <a:r>
                        <a:rPr sz="1300" b="0">
                          <a:solidFill>
                            <a:srgbClr val="1A1A1A"/>
                          </a:solidFill>
                          <a:latin typeface="Arial"/>
                        </a:rPr>
                        <a:t>U = 87</a:t>
                      </a:r>
                    </a:p>
                  </a:txBody>
                  <a:tcPr marL="54864" marR="54864" marT="27432" marB="27432">
                    <a:solidFill>
                      <a:srgbClr val="FFFFFF"/>
                    </a:solidFill>
                  </a:tcPr>
                </a:tc>
                <a:tc>
                  <a:txBody>
                    <a:bodyPr wrap="square"/>
                    <a:lstStyle/>
                    <a:p>
                      <a:r>
                        <a:rPr sz="1300" b="0">
                          <a:solidFill>
                            <a:srgbClr val="1A1A1A"/>
                          </a:solidFill>
                          <a:latin typeface="Arial"/>
                        </a:rPr>
                        <a:t>Holm 0.007</a:t>
                      </a:r>
                    </a:p>
                  </a:txBody>
                  <a:tcPr marL="54864" marR="54864" marT="27432" marB="27432">
                    <a:solidFill>
                      <a:srgbClr val="FFFFFF"/>
                    </a:solidFill>
                  </a:tcPr>
                </a:tc>
                <a:tc>
                  <a:txBody>
                    <a:bodyPr wrap="square"/>
                    <a:lstStyle/>
                    <a:p>
                      <a:r>
                        <a:rPr sz="1300" b="0">
                          <a:solidFill>
                            <a:srgbClr val="1A1A1A"/>
                          </a:solidFill>
                          <a:latin typeface="Arial"/>
                        </a:rPr>
                        <a:t>3.96 vs 2.00</a:t>
                      </a:r>
                    </a:p>
                  </a:txBody>
                  <a:tcPr marL="54864" marR="54864" marT="27432" marB="27432">
                    <a:solidFill>
                      <a:srgbClr val="FFFFFF"/>
                    </a:solidFill>
                  </a:tcPr>
                </a:tc>
                <a:tc>
                  <a:txBody>
                    <a:bodyPr wrap="square"/>
                    <a:lstStyle/>
                    <a:p>
                      <a:r>
                        <a:rPr sz="1300" b="0">
                          <a:solidFill>
                            <a:srgbClr val="1A1A1A"/>
                          </a:solidFill>
                          <a:latin typeface="Arial"/>
                        </a:rPr>
                        <a:t>6+16</a:t>
                      </a:r>
                    </a:p>
                  </a:txBody>
                  <a:tcPr marL="54864" marR="54864" marT="27432" marB="27432">
                    <a:solidFill>
                      <a:srgbClr val="FFFFFF"/>
                    </a:solidFill>
                  </a:tcPr>
                </a:tc>
              </a:tr>
              <a:tr h="411480">
                <a:tc>
                  <a:txBody>
                    <a:bodyPr wrap="square"/>
                    <a:lstStyle/>
                    <a:p>
                      <a:r>
                        <a:rPr sz="1300" b="0">
                          <a:solidFill>
                            <a:srgbClr val="1A1A1A"/>
                          </a:solidFill>
                          <a:latin typeface="Arial"/>
                        </a:rPr>
                        <a:t>UK vs EU reskilling</a:t>
                      </a:r>
                    </a:p>
                  </a:txBody>
                  <a:tcPr marL="54864" marR="54864" marT="27432" marB="27432">
                    <a:solidFill>
                      <a:srgbClr val="FFFFFF"/>
                    </a:solidFill>
                  </a:tcPr>
                </a:tc>
                <a:tc>
                  <a:txBody>
                    <a:bodyPr wrap="square"/>
                    <a:lstStyle/>
                    <a:p>
                      <a:r>
                        <a:rPr sz="1300" b="0">
                          <a:solidFill>
                            <a:srgbClr val="1A1A1A"/>
                          </a:solidFill>
                          <a:latin typeface="Arial"/>
                        </a:rPr>
                        <a:t>U = 23</a:t>
                      </a:r>
                    </a:p>
                  </a:txBody>
                  <a:tcPr marL="54864" marR="54864" marT="27432" marB="27432">
                    <a:solidFill>
                      <a:srgbClr val="FFFFFF"/>
                    </a:solidFill>
                  </a:tcPr>
                </a:tc>
                <a:tc>
                  <a:txBody>
                    <a:bodyPr wrap="square"/>
                    <a:lstStyle/>
                    <a:p>
                      <a:r>
                        <a:rPr sz="1300" b="0">
                          <a:solidFill>
                            <a:srgbClr val="1A1A1A"/>
                          </a:solidFill>
                          <a:latin typeface="Arial"/>
                        </a:rPr>
                        <a:t>Holm 0.140</a:t>
                      </a:r>
                    </a:p>
                  </a:txBody>
                  <a:tcPr marL="54864" marR="54864" marT="27432" marB="27432">
                    <a:solidFill>
                      <a:srgbClr val="FFFFFF"/>
                    </a:solidFill>
                  </a:tcPr>
                </a:tc>
                <a:tc>
                  <a:txBody>
                    <a:bodyPr wrap="square"/>
                    <a:lstStyle/>
                    <a:p>
                      <a:r>
                        <a:rPr sz="1300" b="0">
                          <a:solidFill>
                            <a:srgbClr val="1A1A1A"/>
                          </a:solidFill>
                          <a:latin typeface="Arial"/>
                        </a:rPr>
                        <a:t>0.22 vs 0.42</a:t>
                      </a:r>
                    </a:p>
                  </a:txBody>
                  <a:tcPr marL="54864" marR="54864" marT="27432" marB="27432">
                    <a:solidFill>
                      <a:srgbClr val="FFFFFF"/>
                    </a:solidFill>
                  </a:tcPr>
                </a:tc>
                <a:tc>
                  <a:txBody>
                    <a:bodyPr wrap="square"/>
                    <a:lstStyle/>
                    <a:p>
                      <a:r>
                        <a:rPr sz="1300" b="0">
                          <a:solidFill>
                            <a:srgbClr val="1A1A1A"/>
                          </a:solidFill>
                          <a:latin typeface="Arial"/>
                        </a:rPr>
                        <a:t>6+16</a:t>
                      </a:r>
                    </a:p>
                  </a:txBody>
                  <a:tcPr marL="54864" marR="54864" marT="27432" marB="27432">
                    <a:solidFill>
                      <a:srgbClr val="FFFFFF"/>
                    </a:solidFill>
                  </a:tcPr>
                </a:tc>
              </a:tr>
              <a:tr h="411480">
                <a:tc>
                  <a:txBody>
                    <a:bodyPr wrap="square"/>
                    <a:lstStyle/>
                    <a:p>
                      <a:r>
                        <a:rPr sz="1300" b="0">
                          <a:solidFill>
                            <a:srgbClr val="1A1A1A"/>
                          </a:solidFill>
                          <a:latin typeface="Arial"/>
                        </a:rPr>
                        <a:t>UK vs EU AI governance</a:t>
                      </a:r>
                    </a:p>
                  </a:txBody>
                  <a:tcPr marL="54864" marR="54864" marT="27432" marB="27432">
                    <a:solidFill>
                      <a:srgbClr val="FFFFFF"/>
                    </a:solidFill>
                  </a:tcPr>
                </a:tc>
                <a:tc>
                  <a:txBody>
                    <a:bodyPr wrap="square"/>
                    <a:lstStyle/>
                    <a:p>
                      <a:r>
                        <a:rPr sz="1300" b="0">
                          <a:solidFill>
                            <a:srgbClr val="1A1A1A"/>
                          </a:solidFill>
                          <a:latin typeface="Arial"/>
                        </a:rPr>
                        <a:t>U = 94</a:t>
                      </a:r>
                    </a:p>
                  </a:txBody>
                  <a:tcPr marL="54864" marR="54864" marT="27432" marB="27432">
                    <a:solidFill>
                      <a:srgbClr val="FFFFFF"/>
                    </a:solidFill>
                  </a:tcPr>
                </a:tc>
                <a:tc>
                  <a:txBody>
                    <a:bodyPr wrap="square"/>
                    <a:lstStyle/>
                    <a:p>
                      <a:r>
                        <a:rPr sz="1300" b="0">
                          <a:solidFill>
                            <a:srgbClr val="1A1A1A"/>
                          </a:solidFill>
                          <a:latin typeface="Arial"/>
                        </a:rPr>
                        <a:t>Holm 0.0004</a:t>
                      </a:r>
                    </a:p>
                  </a:txBody>
                  <a:tcPr marL="54864" marR="54864" marT="27432" marB="27432">
                    <a:solidFill>
                      <a:srgbClr val="FFFFFF"/>
                    </a:solidFill>
                  </a:tcPr>
                </a:tc>
                <a:tc>
                  <a:txBody>
                    <a:bodyPr wrap="square"/>
                    <a:lstStyle/>
                    <a:p>
                      <a:r>
                        <a:rPr sz="1300" b="0">
                          <a:solidFill>
                            <a:srgbClr val="1A1A1A"/>
                          </a:solidFill>
                          <a:latin typeface="Arial"/>
                        </a:rPr>
                        <a:t>2.01 vs 0.50</a:t>
                      </a:r>
                    </a:p>
                  </a:txBody>
                  <a:tcPr marL="54864" marR="54864" marT="27432" marB="27432">
                    <a:solidFill>
                      <a:srgbClr val="FFFFFF"/>
                    </a:solidFill>
                  </a:tcPr>
                </a:tc>
                <a:tc>
                  <a:txBody>
                    <a:bodyPr wrap="square"/>
                    <a:lstStyle/>
                    <a:p>
                      <a:r>
                        <a:rPr sz="1300" b="0">
                          <a:solidFill>
                            <a:srgbClr val="1A1A1A"/>
                          </a:solidFill>
                          <a:latin typeface="Arial"/>
                        </a:rPr>
                        <a:t>6+16</a:t>
                      </a:r>
                    </a:p>
                  </a:txBody>
                  <a:tcPr marL="54864" marR="54864" marT="27432" marB="27432">
                    <a:solidFill>
                      <a:srgbClr val="FFFFFF"/>
                    </a:solidFill>
                  </a:tcPr>
                </a:tc>
              </a:tr>
              <a:tr h="411480">
                <a:tc>
                  <a:txBody>
                    <a:bodyPr wrap="square"/>
                    <a:lstStyle/>
                    <a:p>
                      <a:r>
                        <a:rPr sz="1300" b="0">
                          <a:solidFill>
                            <a:srgbClr val="1A1A1A"/>
                          </a:solidFill>
                          <a:latin typeface="Arial"/>
                        </a:rPr>
                        <a:t>UK vs EU regulation</a:t>
                      </a:r>
                    </a:p>
                  </a:txBody>
                  <a:tcPr marL="54864" marR="54864" marT="27432" marB="27432">
                    <a:solidFill>
                      <a:srgbClr val="FFFFFF"/>
                    </a:solidFill>
                  </a:tcPr>
                </a:tc>
                <a:tc>
                  <a:txBody>
                    <a:bodyPr wrap="square"/>
                    <a:lstStyle/>
                    <a:p>
                      <a:r>
                        <a:rPr sz="1300" b="0">
                          <a:solidFill>
                            <a:srgbClr val="1A1A1A"/>
                          </a:solidFill>
                          <a:latin typeface="Arial"/>
                        </a:rPr>
                        <a:t>U = 45</a:t>
                      </a:r>
                    </a:p>
                  </a:txBody>
                  <a:tcPr marL="54864" marR="54864" marT="27432" marB="27432">
                    <a:solidFill>
                      <a:srgbClr val="FFFFFF"/>
                    </a:solidFill>
                  </a:tcPr>
                </a:tc>
                <a:tc>
                  <a:txBody>
                    <a:bodyPr wrap="square"/>
                    <a:lstStyle/>
                    <a:p>
                      <a:r>
                        <a:rPr sz="1300" b="0">
                          <a:solidFill>
                            <a:srgbClr val="1A1A1A"/>
                          </a:solidFill>
                          <a:latin typeface="Arial"/>
                        </a:rPr>
                        <a:t>Holm 0.858</a:t>
                      </a:r>
                    </a:p>
                  </a:txBody>
                  <a:tcPr marL="54864" marR="54864" marT="27432" marB="27432">
                    <a:solidFill>
                      <a:srgbClr val="FFFFFF"/>
                    </a:solidFill>
                  </a:tcPr>
                </a:tc>
                <a:tc>
                  <a:txBody>
                    <a:bodyPr wrap="square"/>
                    <a:lstStyle/>
                    <a:p>
                      <a:r>
                        <a:rPr sz="1300" b="0">
                          <a:solidFill>
                            <a:srgbClr val="1A1A1A"/>
                          </a:solidFill>
                          <a:latin typeface="Arial"/>
                        </a:rPr>
                        <a:t>0.21 vs 0.15</a:t>
                      </a:r>
                    </a:p>
                  </a:txBody>
                  <a:tcPr marL="54864" marR="54864" marT="27432" marB="27432">
                    <a:solidFill>
                      <a:srgbClr val="FFFFFF"/>
                    </a:solidFill>
                  </a:tcPr>
                </a:tc>
                <a:tc>
                  <a:txBody>
                    <a:bodyPr wrap="square"/>
                    <a:lstStyle/>
                    <a:p>
                      <a:r>
                        <a:rPr sz="1300" b="0">
                          <a:solidFill>
                            <a:srgbClr val="1A1A1A"/>
                          </a:solidFill>
                          <a:latin typeface="Arial"/>
                        </a:rPr>
                        <a:t>6+16</a:t>
                      </a:r>
                    </a:p>
                  </a:txBody>
                  <a:tcPr marL="54864" marR="54864" marT="27432" marB="27432">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Backup: questionnaire item means (1–5)</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B3</a:t>
            </a:r>
          </a:p>
        </p:txBody>
      </p:sp>
      <p:graphicFrame>
        <p:nvGraphicFramePr>
          <p:cNvPr id="6" name="Table 5"/>
          <p:cNvGraphicFramePr>
            <a:graphicFrameLocks noGrp="1"/>
          </p:cNvGraphicFramePr>
          <p:nvPr/>
        </p:nvGraphicFramePr>
        <p:xfrm>
          <a:off x="548640" y="1417320"/>
          <a:ext cx="5394960" cy="4736592"/>
        </p:xfrm>
        <a:graphic>
          <a:graphicData uri="http://schemas.openxmlformats.org/drawingml/2006/table">
            <a:tbl>
              <a:tblPr>
                <a:tableStyleId>{5C22544A-7EE6-4342-B048-85BDC9FD1C3A}</a:tableStyleId>
              </a:tblPr>
              <a:tblGrid>
                <a:gridCol w="4480560"/>
                <a:gridCol w="914400"/>
              </a:tblGrid>
              <a:tr h="338328">
                <a:tc>
                  <a:txBody>
                    <a:bodyPr wrap="square"/>
                    <a:lstStyle/>
                    <a:p>
                      <a:r>
                        <a:rPr sz="1200" b="1">
                          <a:solidFill>
                            <a:srgbClr val="1A1A1A"/>
                          </a:solidFill>
                          <a:latin typeface="Arial"/>
                        </a:rPr>
                        <a:t>Item</a:t>
                      </a:r>
                    </a:p>
                  </a:txBody>
                  <a:tcPr marL="54864" marR="54864" marT="27432" marB="27432">
                    <a:solidFill>
                      <a:srgbClr val="D9D9D9"/>
                    </a:solidFill>
                  </a:tcPr>
                </a:tc>
                <a:tc>
                  <a:txBody>
                    <a:bodyPr wrap="square"/>
                    <a:lstStyle/>
                    <a:p>
                      <a:r>
                        <a:rPr sz="1200" b="1">
                          <a:solidFill>
                            <a:srgbClr val="1A1A1A"/>
                          </a:solidFill>
                          <a:latin typeface="Arial"/>
                        </a:rPr>
                        <a:t>Mean</a:t>
                      </a:r>
                    </a:p>
                  </a:txBody>
                  <a:tcPr marL="54864" marR="54864" marT="27432" marB="27432">
                    <a:solidFill>
                      <a:srgbClr val="D9D9D9"/>
                    </a:solidFill>
                  </a:tcPr>
                </a:tc>
              </a:tr>
              <a:tr h="338328">
                <a:tc>
                  <a:txBody>
                    <a:bodyPr wrap="square"/>
                    <a:lstStyle/>
                    <a:p>
                      <a:r>
                        <a:rPr sz="1200" b="0">
                          <a:solidFill>
                            <a:srgbClr val="1A1A1A"/>
                          </a:solidFill>
                          <a:latin typeface="Arial"/>
                        </a:rPr>
                        <a:t>7 Improves performance</a:t>
                      </a:r>
                    </a:p>
                  </a:txBody>
                  <a:tcPr marL="54864" marR="54864" marT="27432" marB="27432">
                    <a:solidFill>
                      <a:srgbClr val="FFFFFF"/>
                    </a:solidFill>
                  </a:tcPr>
                </a:tc>
                <a:tc>
                  <a:txBody>
                    <a:bodyPr wrap="square"/>
                    <a:lstStyle/>
                    <a:p>
                      <a:r>
                        <a:rPr sz="1200" b="0">
                          <a:solidFill>
                            <a:srgbClr val="1A1A1A"/>
                          </a:solidFill>
                          <a:latin typeface="Arial"/>
                        </a:rPr>
                        <a:t>4.00</a:t>
                      </a:r>
                    </a:p>
                  </a:txBody>
                  <a:tcPr marL="54864" marR="54864" marT="27432" marB="27432">
                    <a:solidFill>
                      <a:srgbClr val="FFFFFF"/>
                    </a:solidFill>
                  </a:tcPr>
                </a:tc>
              </a:tr>
              <a:tr h="338328">
                <a:tc>
                  <a:txBody>
                    <a:bodyPr wrap="square"/>
                    <a:lstStyle/>
                    <a:p>
                      <a:r>
                        <a:rPr sz="1200" b="0">
                          <a:solidFill>
                            <a:srgbClr val="1A1A1A"/>
                          </a:solidFill>
                          <a:latin typeface="Arial"/>
                        </a:rPr>
                        <a:t>8 Increases volume</a:t>
                      </a:r>
                    </a:p>
                  </a:txBody>
                  <a:tcPr marL="54864" marR="54864" marT="27432" marB="27432">
                    <a:solidFill>
                      <a:srgbClr val="FFFFFF"/>
                    </a:solidFill>
                  </a:tcPr>
                </a:tc>
                <a:tc>
                  <a:txBody>
                    <a:bodyPr wrap="square"/>
                    <a:lstStyle/>
                    <a:p>
                      <a:r>
                        <a:rPr sz="1200" b="0">
                          <a:solidFill>
                            <a:srgbClr val="1A1A1A"/>
                          </a:solidFill>
                          <a:latin typeface="Arial"/>
                        </a:rPr>
                        <a:t>3.33</a:t>
                      </a:r>
                    </a:p>
                  </a:txBody>
                  <a:tcPr marL="54864" marR="54864" marT="27432" marB="27432">
                    <a:solidFill>
                      <a:srgbClr val="FFFFFF"/>
                    </a:solidFill>
                  </a:tcPr>
                </a:tc>
              </a:tr>
              <a:tr h="338328">
                <a:tc>
                  <a:txBody>
                    <a:bodyPr wrap="square"/>
                    <a:lstStyle/>
                    <a:p>
                      <a:r>
                        <a:rPr sz="1200" b="0">
                          <a:solidFill>
                            <a:srgbClr val="1A1A1A"/>
                          </a:solidFill>
                          <a:latin typeface="Arial"/>
                        </a:rPr>
                        <a:t>9 Improves quality</a:t>
                      </a:r>
                    </a:p>
                  </a:txBody>
                  <a:tcPr marL="54864" marR="54864" marT="27432" marB="27432">
                    <a:solidFill>
                      <a:srgbClr val="FFFFFF"/>
                    </a:solidFill>
                  </a:tcPr>
                </a:tc>
                <a:tc>
                  <a:txBody>
                    <a:bodyPr wrap="square"/>
                    <a:lstStyle/>
                    <a:p>
                      <a:r>
                        <a:rPr sz="1200" b="0">
                          <a:solidFill>
                            <a:srgbClr val="1A1A1A"/>
                          </a:solidFill>
                          <a:latin typeface="Arial"/>
                        </a:rPr>
                        <a:t>3.33</a:t>
                      </a:r>
                    </a:p>
                  </a:txBody>
                  <a:tcPr marL="54864" marR="54864" marT="27432" marB="27432">
                    <a:solidFill>
                      <a:srgbClr val="FFFFFF"/>
                    </a:solidFill>
                  </a:tcPr>
                </a:tc>
              </a:tr>
              <a:tr h="338328">
                <a:tc>
                  <a:txBody>
                    <a:bodyPr wrap="square"/>
                    <a:lstStyle/>
                    <a:p>
                      <a:r>
                        <a:rPr sz="1200" b="0">
                          <a:solidFill>
                            <a:srgbClr val="1A1A1A"/>
                          </a:solidFill>
                          <a:latin typeface="Arial"/>
                        </a:rPr>
                        <a:t>10 Useful overall</a:t>
                      </a:r>
                    </a:p>
                  </a:txBody>
                  <a:tcPr marL="54864" marR="54864" marT="27432" marB="27432">
                    <a:solidFill>
                      <a:srgbClr val="FFFFFF"/>
                    </a:solidFill>
                  </a:tcPr>
                </a:tc>
                <a:tc>
                  <a:txBody>
                    <a:bodyPr wrap="square"/>
                    <a:lstStyle/>
                    <a:p>
                      <a:r>
                        <a:rPr sz="1200" b="0">
                          <a:solidFill>
                            <a:srgbClr val="1A1A1A"/>
                          </a:solidFill>
                          <a:latin typeface="Arial"/>
                        </a:rPr>
                        <a:t>3.67</a:t>
                      </a:r>
                    </a:p>
                  </a:txBody>
                  <a:tcPr marL="54864" marR="54864" marT="27432" marB="27432">
                    <a:solidFill>
                      <a:srgbClr val="FFFFFF"/>
                    </a:solidFill>
                  </a:tcPr>
                </a:tc>
              </a:tr>
              <a:tr h="338328">
                <a:tc>
                  <a:txBody>
                    <a:bodyPr wrap="square"/>
                    <a:lstStyle/>
                    <a:p>
                      <a:r>
                        <a:rPr sz="1200" b="0">
                          <a:solidFill>
                            <a:srgbClr val="1A1A1A"/>
                          </a:solidFill>
                          <a:latin typeface="Arial"/>
                        </a:rPr>
                        <a:t>11 Easy to use</a:t>
                      </a:r>
                    </a:p>
                  </a:txBody>
                  <a:tcPr marL="54864" marR="54864" marT="27432" marB="27432">
                    <a:solidFill>
                      <a:srgbClr val="FFFFFF"/>
                    </a:solidFill>
                  </a:tcPr>
                </a:tc>
                <a:tc>
                  <a:txBody>
                    <a:bodyPr wrap="square"/>
                    <a:lstStyle/>
                    <a:p>
                      <a:r>
                        <a:rPr sz="1200" b="0">
                          <a:solidFill>
                            <a:srgbClr val="1A1A1A"/>
                          </a:solidFill>
                          <a:latin typeface="Arial"/>
                        </a:rPr>
                        <a:t>4.33</a:t>
                      </a:r>
                    </a:p>
                  </a:txBody>
                  <a:tcPr marL="54864" marR="54864" marT="27432" marB="27432">
                    <a:solidFill>
                      <a:srgbClr val="FFFFFF"/>
                    </a:solidFill>
                  </a:tcPr>
                </a:tc>
              </a:tr>
              <a:tr h="338328">
                <a:tc>
                  <a:txBody>
                    <a:bodyPr wrap="square"/>
                    <a:lstStyle/>
                    <a:p>
                      <a:r>
                        <a:rPr sz="1200" b="0">
                          <a:solidFill>
                            <a:srgbClr val="C00000"/>
                          </a:solidFill>
                          <a:latin typeface="Arial"/>
                        </a:rPr>
                        <a:t>12 Understand what it does</a:t>
                      </a:r>
                    </a:p>
                  </a:txBody>
                  <a:tcPr marL="54864" marR="54864" marT="27432" marB="27432">
                    <a:solidFill>
                      <a:srgbClr val="FFFFFF"/>
                    </a:solidFill>
                  </a:tcPr>
                </a:tc>
                <a:tc>
                  <a:txBody>
                    <a:bodyPr wrap="square"/>
                    <a:lstStyle/>
                    <a:p>
                      <a:r>
                        <a:rPr sz="1200" b="0">
                          <a:solidFill>
                            <a:srgbClr val="C00000"/>
                          </a:solidFill>
                          <a:latin typeface="Arial"/>
                        </a:rPr>
                        <a:t>3.33</a:t>
                      </a:r>
                    </a:p>
                  </a:txBody>
                  <a:tcPr marL="54864" marR="54864" marT="27432" marB="27432">
                    <a:solidFill>
                      <a:srgbClr val="FFFFFF"/>
                    </a:solidFill>
                  </a:tcPr>
                </a:tc>
              </a:tr>
              <a:tr h="338328">
                <a:tc>
                  <a:txBody>
                    <a:bodyPr wrap="square"/>
                    <a:lstStyle/>
                    <a:p>
                      <a:r>
                        <a:rPr sz="1200" b="0">
                          <a:solidFill>
                            <a:srgbClr val="1A1A1A"/>
                          </a:solidFill>
                          <a:latin typeface="Arial"/>
                        </a:rPr>
                        <a:t>13 Easy to learn</a:t>
                      </a:r>
                    </a:p>
                  </a:txBody>
                  <a:tcPr marL="54864" marR="54864" marT="27432" marB="27432">
                    <a:solidFill>
                      <a:srgbClr val="FFFFFF"/>
                    </a:solidFill>
                  </a:tcPr>
                </a:tc>
                <a:tc>
                  <a:txBody>
                    <a:bodyPr wrap="square"/>
                    <a:lstStyle/>
                    <a:p>
                      <a:r>
                        <a:rPr sz="1200" b="0">
                          <a:solidFill>
                            <a:srgbClr val="1A1A1A"/>
                          </a:solidFill>
                          <a:latin typeface="Arial"/>
                        </a:rPr>
                        <a:t>4.33</a:t>
                      </a:r>
                    </a:p>
                  </a:txBody>
                  <a:tcPr marL="54864" marR="54864" marT="27432" marB="27432">
                    <a:solidFill>
                      <a:srgbClr val="FFFFFF"/>
                    </a:solidFill>
                  </a:tcPr>
                </a:tc>
              </a:tr>
              <a:tr h="338328">
                <a:tc>
                  <a:txBody>
                    <a:bodyPr wrap="square"/>
                    <a:lstStyle/>
                    <a:p>
                      <a:r>
                        <a:rPr sz="1200" b="0">
                          <a:solidFill>
                            <a:srgbClr val="1A1A1A"/>
                          </a:solidFill>
                          <a:latin typeface="Arial"/>
                        </a:rPr>
                        <a:t>14 Understand outputs</a:t>
                      </a:r>
                    </a:p>
                  </a:txBody>
                  <a:tcPr marL="54864" marR="54864" marT="27432" marB="27432">
                    <a:solidFill>
                      <a:srgbClr val="FFFFFF"/>
                    </a:solidFill>
                  </a:tcPr>
                </a:tc>
                <a:tc>
                  <a:txBody>
                    <a:bodyPr wrap="square"/>
                    <a:lstStyle/>
                    <a:p>
                      <a:r>
                        <a:rPr sz="1200" b="0">
                          <a:solidFill>
                            <a:srgbClr val="1A1A1A"/>
                          </a:solidFill>
                          <a:latin typeface="Arial"/>
                        </a:rPr>
                        <a:t>3.67</a:t>
                      </a:r>
                    </a:p>
                  </a:txBody>
                  <a:tcPr marL="54864" marR="54864" marT="27432" marB="27432">
                    <a:solidFill>
                      <a:srgbClr val="FFFFFF"/>
                    </a:solidFill>
                  </a:tcPr>
                </a:tc>
              </a:tr>
              <a:tr h="338328">
                <a:tc>
                  <a:txBody>
                    <a:bodyPr wrap="square"/>
                    <a:lstStyle/>
                    <a:p>
                      <a:r>
                        <a:rPr sz="1200" b="0">
                          <a:solidFill>
                            <a:srgbClr val="1A1A1A"/>
                          </a:solidFill>
                          <a:latin typeface="Arial"/>
                        </a:rPr>
                        <a:t>15 Outputs reliable</a:t>
                      </a:r>
                    </a:p>
                  </a:txBody>
                  <a:tcPr marL="54864" marR="54864" marT="27432" marB="27432">
                    <a:solidFill>
                      <a:srgbClr val="FFFFFF"/>
                    </a:solidFill>
                  </a:tcPr>
                </a:tc>
                <a:tc>
                  <a:txBody>
                    <a:bodyPr wrap="square"/>
                    <a:lstStyle/>
                    <a:p>
                      <a:r>
                        <a:rPr sz="1200" b="0">
                          <a:solidFill>
                            <a:srgbClr val="1A1A1A"/>
                          </a:solidFill>
                          <a:latin typeface="Arial"/>
                        </a:rPr>
                        <a:t>3.67</a:t>
                      </a:r>
                    </a:p>
                  </a:txBody>
                  <a:tcPr marL="54864" marR="54864" marT="27432" marB="27432">
                    <a:solidFill>
                      <a:srgbClr val="FFFFFF"/>
                    </a:solidFill>
                  </a:tcPr>
                </a:tc>
              </a:tr>
              <a:tr h="338328">
                <a:tc>
                  <a:txBody>
                    <a:bodyPr wrap="square"/>
                    <a:lstStyle/>
                    <a:p>
                      <a:r>
                        <a:rPr sz="1200" b="0">
                          <a:solidFill>
                            <a:srgbClr val="1A1A1A"/>
                          </a:solidFill>
                          <a:latin typeface="Arial"/>
                        </a:rPr>
                        <a:t>16 Could defend decision</a:t>
                      </a:r>
                    </a:p>
                  </a:txBody>
                  <a:tcPr marL="54864" marR="54864" marT="27432" marB="27432">
                    <a:solidFill>
                      <a:srgbClr val="FFFFFF"/>
                    </a:solidFill>
                  </a:tcPr>
                </a:tc>
                <a:tc>
                  <a:txBody>
                    <a:bodyPr wrap="square"/>
                    <a:lstStyle/>
                    <a:p>
                      <a:r>
                        <a:rPr sz="1200" b="0">
                          <a:solidFill>
                            <a:srgbClr val="1A1A1A"/>
                          </a:solidFill>
                          <a:latin typeface="Arial"/>
                        </a:rPr>
                        <a:t>4.33</a:t>
                      </a:r>
                    </a:p>
                  </a:txBody>
                  <a:tcPr marL="54864" marR="54864" marT="27432" marB="27432">
                    <a:solidFill>
                      <a:srgbClr val="FFFFFF"/>
                    </a:solidFill>
                  </a:tcPr>
                </a:tc>
              </a:tr>
              <a:tr h="338328">
                <a:tc>
                  <a:txBody>
                    <a:bodyPr wrap="square"/>
                    <a:lstStyle/>
                    <a:p>
                      <a:r>
                        <a:rPr sz="1200" b="0">
                          <a:solidFill>
                            <a:srgbClr val="C00000"/>
                          </a:solidFill>
                          <a:latin typeface="Arial"/>
                        </a:rPr>
                        <a:t>17 Rely without re-performing</a:t>
                      </a:r>
                    </a:p>
                  </a:txBody>
                  <a:tcPr marL="54864" marR="54864" marT="27432" marB="27432">
                    <a:solidFill>
                      <a:srgbClr val="FFFFFF"/>
                    </a:solidFill>
                  </a:tcPr>
                </a:tc>
                <a:tc>
                  <a:txBody>
                    <a:bodyPr wrap="square"/>
                    <a:lstStyle/>
                    <a:p>
                      <a:r>
                        <a:rPr sz="1200" b="0">
                          <a:solidFill>
                            <a:srgbClr val="C00000"/>
                          </a:solidFill>
                          <a:latin typeface="Arial"/>
                        </a:rPr>
                        <a:t>3.67</a:t>
                      </a:r>
                    </a:p>
                  </a:txBody>
                  <a:tcPr marL="54864" marR="54864" marT="27432" marB="27432">
                    <a:solidFill>
                      <a:srgbClr val="FFFFFF"/>
                    </a:solidFill>
                  </a:tcPr>
                </a:tc>
              </a:tr>
              <a:tr h="338328">
                <a:tc>
                  <a:txBody>
                    <a:bodyPr wrap="square"/>
                    <a:lstStyle/>
                    <a:p>
                      <a:r>
                        <a:rPr sz="1200" b="0">
                          <a:solidFill>
                            <a:srgbClr val="1A1A1A"/>
                          </a:solidFill>
                          <a:latin typeface="Arial"/>
                        </a:rPr>
                        <a:t>18 Can override</a:t>
                      </a:r>
                    </a:p>
                  </a:txBody>
                  <a:tcPr marL="54864" marR="54864" marT="27432" marB="27432">
                    <a:solidFill>
                      <a:srgbClr val="FFFFFF"/>
                    </a:solidFill>
                  </a:tcPr>
                </a:tc>
                <a:tc>
                  <a:txBody>
                    <a:bodyPr wrap="square"/>
                    <a:lstStyle/>
                    <a:p>
                      <a:r>
                        <a:rPr sz="1200" b="0">
                          <a:solidFill>
                            <a:srgbClr val="1A1A1A"/>
                          </a:solidFill>
                          <a:latin typeface="Arial"/>
                        </a:rPr>
                        <a:t>4.00</a:t>
                      </a:r>
                    </a:p>
                  </a:txBody>
                  <a:tcPr marL="54864" marR="54864" marT="27432" marB="27432">
                    <a:solidFill>
                      <a:srgbClr val="FFFFFF"/>
                    </a:solidFill>
                  </a:tcPr>
                </a:tc>
              </a:tr>
              <a:tr h="338328">
                <a:tc>
                  <a:txBody>
                    <a:bodyPr wrap="square"/>
                    <a:lstStyle/>
                    <a:p>
                      <a:r>
                        <a:rPr sz="1200" b="0">
                          <a:solidFill>
                            <a:srgbClr val="1A1A1A"/>
                          </a:solidFill>
                          <a:latin typeface="Arial"/>
                        </a:rPr>
                        <a:t>19 Role could be done by AI</a:t>
                      </a:r>
                    </a:p>
                  </a:txBody>
                  <a:tcPr marL="54864" marR="54864" marT="27432" marB="27432">
                    <a:solidFill>
                      <a:srgbClr val="FFFFFF"/>
                    </a:solidFill>
                  </a:tcPr>
                </a:tc>
                <a:tc>
                  <a:txBody>
                    <a:bodyPr wrap="square"/>
                    <a:lstStyle/>
                    <a:p>
                      <a:r>
                        <a:rPr sz="1200" b="0">
                          <a:solidFill>
                            <a:srgbClr val="1A1A1A"/>
                          </a:solidFill>
                          <a:latin typeface="Arial"/>
                        </a:rPr>
                        <a:t>3.33</a:t>
                      </a:r>
                    </a:p>
                  </a:txBody>
                  <a:tcPr marL="54864" marR="54864" marT="27432" marB="27432">
                    <a:solidFill>
                      <a:srgbClr val="FFFFFF"/>
                    </a:solidFill>
                  </a:tcPr>
                </a:tc>
              </a:tr>
            </a:tbl>
          </a:graphicData>
        </a:graphic>
      </p:graphicFrame>
      <p:graphicFrame>
        <p:nvGraphicFramePr>
          <p:cNvPr id="7" name="Table 6"/>
          <p:cNvGraphicFramePr>
            <a:graphicFrameLocks noGrp="1"/>
          </p:cNvGraphicFramePr>
          <p:nvPr/>
        </p:nvGraphicFramePr>
        <p:xfrm>
          <a:off x="6217920" y="1417320"/>
          <a:ext cx="5394960" cy="4398264"/>
        </p:xfrm>
        <a:graphic>
          <a:graphicData uri="http://schemas.openxmlformats.org/drawingml/2006/table">
            <a:tbl>
              <a:tblPr>
                <a:tableStyleId>{5C22544A-7EE6-4342-B048-85BDC9FD1C3A}</a:tableStyleId>
              </a:tblPr>
              <a:tblGrid>
                <a:gridCol w="4480560"/>
                <a:gridCol w="914400"/>
              </a:tblGrid>
              <a:tr h="338328">
                <a:tc>
                  <a:txBody>
                    <a:bodyPr wrap="square"/>
                    <a:lstStyle/>
                    <a:p>
                      <a:r>
                        <a:rPr sz="1200" b="1">
                          <a:solidFill>
                            <a:srgbClr val="1A1A1A"/>
                          </a:solidFill>
                          <a:latin typeface="Arial"/>
                        </a:rPr>
                        <a:t>Item</a:t>
                      </a:r>
                    </a:p>
                  </a:txBody>
                  <a:tcPr marL="54864" marR="54864" marT="27432" marB="27432">
                    <a:solidFill>
                      <a:srgbClr val="D9D9D9"/>
                    </a:solidFill>
                  </a:tcPr>
                </a:tc>
                <a:tc>
                  <a:txBody>
                    <a:bodyPr wrap="square"/>
                    <a:lstStyle/>
                    <a:p>
                      <a:r>
                        <a:rPr sz="1200" b="1">
                          <a:solidFill>
                            <a:srgbClr val="1A1A1A"/>
                          </a:solidFill>
                          <a:latin typeface="Arial"/>
                        </a:rPr>
                        <a:t>Mean</a:t>
                      </a:r>
                    </a:p>
                  </a:txBody>
                  <a:tcPr marL="54864" marR="54864" marT="27432" marB="27432">
                    <a:solidFill>
                      <a:srgbClr val="D9D9D9"/>
                    </a:solidFill>
                  </a:tcPr>
                </a:tc>
              </a:tr>
              <a:tr h="338328">
                <a:tc>
                  <a:txBody>
                    <a:bodyPr wrap="square"/>
                    <a:lstStyle/>
                    <a:p>
                      <a:r>
                        <a:rPr sz="1200" b="0">
                          <a:solidFill>
                            <a:srgbClr val="1A1A1A"/>
                          </a:solidFill>
                          <a:latin typeface="Arial"/>
                        </a:rPr>
                        <a:t>20 Role will change</a:t>
                      </a:r>
                    </a:p>
                  </a:txBody>
                  <a:tcPr marL="54864" marR="54864" marT="27432" marB="27432">
                    <a:solidFill>
                      <a:srgbClr val="FFFFFF"/>
                    </a:solidFill>
                  </a:tcPr>
                </a:tc>
                <a:tc>
                  <a:txBody>
                    <a:bodyPr wrap="square"/>
                    <a:lstStyle/>
                    <a:p>
                      <a:r>
                        <a:rPr sz="1200" b="0">
                          <a:solidFill>
                            <a:srgbClr val="1A1A1A"/>
                          </a:solidFill>
                          <a:latin typeface="Arial"/>
                        </a:rPr>
                        <a:t>4.33</a:t>
                      </a:r>
                    </a:p>
                  </a:txBody>
                  <a:tcPr marL="54864" marR="54864" marT="27432" marB="27432">
                    <a:solidFill>
                      <a:srgbClr val="FFFFFF"/>
                    </a:solidFill>
                  </a:tcPr>
                </a:tc>
              </a:tr>
              <a:tr h="338328">
                <a:tc>
                  <a:txBody>
                    <a:bodyPr wrap="square"/>
                    <a:lstStyle/>
                    <a:p>
                      <a:r>
                        <a:rPr sz="1200" b="0">
                          <a:solidFill>
                            <a:srgbClr val="1A1A1A"/>
                          </a:solidFill>
                          <a:latin typeface="Arial"/>
                        </a:rPr>
                        <a:t>21 Career concern</a:t>
                      </a:r>
                    </a:p>
                  </a:txBody>
                  <a:tcPr marL="54864" marR="54864" marT="27432" marB="27432">
                    <a:solidFill>
                      <a:srgbClr val="FFFFFF"/>
                    </a:solidFill>
                  </a:tcPr>
                </a:tc>
                <a:tc>
                  <a:txBody>
                    <a:bodyPr wrap="square"/>
                    <a:lstStyle/>
                    <a:p>
                      <a:r>
                        <a:rPr sz="1200" b="0">
                          <a:solidFill>
                            <a:srgbClr val="1A1A1A"/>
                          </a:solidFill>
                          <a:latin typeface="Arial"/>
                        </a:rPr>
                        <a:t>4.00</a:t>
                      </a:r>
                    </a:p>
                  </a:txBody>
                  <a:tcPr marL="54864" marR="54864" marT="27432" marB="27432">
                    <a:solidFill>
                      <a:srgbClr val="FFFFFF"/>
                    </a:solidFill>
                  </a:tcPr>
                </a:tc>
              </a:tr>
              <a:tr h="338328">
                <a:tc>
                  <a:txBody>
                    <a:bodyPr wrap="square"/>
                    <a:lstStyle/>
                    <a:p>
                      <a:r>
                        <a:rPr sz="1200" b="0">
                          <a:solidFill>
                            <a:srgbClr val="1A1A1A"/>
                          </a:solidFill>
                          <a:latin typeface="Arial"/>
                        </a:rPr>
                        <a:t>22 Skills sufficient</a:t>
                      </a:r>
                    </a:p>
                  </a:txBody>
                  <a:tcPr marL="54864" marR="54864" marT="27432" marB="27432">
                    <a:solidFill>
                      <a:srgbClr val="FFFFFF"/>
                    </a:solidFill>
                  </a:tcPr>
                </a:tc>
                <a:tc>
                  <a:txBody>
                    <a:bodyPr wrap="square"/>
                    <a:lstStyle/>
                    <a:p>
                      <a:r>
                        <a:rPr sz="1200" b="0">
                          <a:solidFill>
                            <a:srgbClr val="1A1A1A"/>
                          </a:solidFill>
                          <a:latin typeface="Arial"/>
                        </a:rPr>
                        <a:t>3.67</a:t>
                      </a:r>
                    </a:p>
                  </a:txBody>
                  <a:tcPr marL="54864" marR="54864" marT="27432" marB="27432">
                    <a:solidFill>
                      <a:srgbClr val="FFFFFF"/>
                    </a:solidFill>
                  </a:tcPr>
                </a:tc>
              </a:tr>
              <a:tr h="338328">
                <a:tc>
                  <a:txBody>
                    <a:bodyPr wrap="square"/>
                    <a:lstStyle/>
                    <a:p>
                      <a:r>
                        <a:rPr sz="1200" b="0">
                          <a:solidFill>
                            <a:srgbClr val="C00000"/>
                          </a:solidFill>
                          <a:latin typeface="Arial"/>
                        </a:rPr>
                        <a:t>23 Training adequate</a:t>
                      </a:r>
                    </a:p>
                  </a:txBody>
                  <a:tcPr marL="54864" marR="54864" marT="27432" marB="27432">
                    <a:solidFill>
                      <a:srgbClr val="FFFFFF"/>
                    </a:solidFill>
                  </a:tcPr>
                </a:tc>
                <a:tc>
                  <a:txBody>
                    <a:bodyPr wrap="square"/>
                    <a:lstStyle/>
                    <a:p>
                      <a:r>
                        <a:rPr sz="1200" b="0">
                          <a:solidFill>
                            <a:srgbClr val="C00000"/>
                          </a:solidFill>
                          <a:latin typeface="Arial"/>
                        </a:rPr>
                        <a:t>3.33</a:t>
                      </a:r>
                    </a:p>
                  </a:txBody>
                  <a:tcPr marL="54864" marR="54864" marT="27432" marB="27432">
                    <a:solidFill>
                      <a:srgbClr val="FFFFFF"/>
                    </a:solidFill>
                  </a:tcPr>
                </a:tc>
              </a:tr>
              <a:tr h="338328">
                <a:tc>
                  <a:txBody>
                    <a:bodyPr wrap="square"/>
                    <a:lstStyle/>
                    <a:p>
                      <a:r>
                        <a:rPr sz="1200" b="0">
                          <a:solidFill>
                            <a:srgbClr val="1A1A1A"/>
                          </a:solidFill>
                          <a:latin typeface="Arial"/>
                        </a:rPr>
                        <a:t>24 Data skills more important</a:t>
                      </a:r>
                    </a:p>
                  </a:txBody>
                  <a:tcPr marL="54864" marR="54864" marT="27432" marB="27432">
                    <a:solidFill>
                      <a:srgbClr val="FFFFFF"/>
                    </a:solidFill>
                  </a:tcPr>
                </a:tc>
                <a:tc>
                  <a:txBody>
                    <a:bodyPr wrap="square"/>
                    <a:lstStyle/>
                    <a:p>
                      <a:r>
                        <a:rPr sz="1200" b="0">
                          <a:solidFill>
                            <a:srgbClr val="1A1A1A"/>
                          </a:solidFill>
                          <a:latin typeface="Arial"/>
                        </a:rPr>
                        <a:t>4.00</a:t>
                      </a:r>
                    </a:p>
                  </a:txBody>
                  <a:tcPr marL="54864" marR="54864" marT="27432" marB="27432">
                    <a:solidFill>
                      <a:srgbClr val="FFFFFF"/>
                    </a:solidFill>
                  </a:tcPr>
                </a:tc>
              </a:tr>
              <a:tr h="338328">
                <a:tc>
                  <a:txBody>
                    <a:bodyPr wrap="square"/>
                    <a:lstStyle/>
                    <a:p>
                      <a:r>
                        <a:rPr sz="1200" b="0">
                          <a:solidFill>
                            <a:srgbClr val="1A1A1A"/>
                          </a:solidFill>
                          <a:latin typeface="Arial"/>
                        </a:rPr>
                        <a:t>25 Judgement more important</a:t>
                      </a:r>
                    </a:p>
                  </a:txBody>
                  <a:tcPr marL="54864" marR="54864" marT="27432" marB="27432">
                    <a:solidFill>
                      <a:srgbClr val="FFFFFF"/>
                    </a:solidFill>
                  </a:tcPr>
                </a:tc>
                <a:tc>
                  <a:txBody>
                    <a:bodyPr wrap="square"/>
                    <a:lstStyle/>
                    <a:p>
                      <a:r>
                        <a:rPr sz="1200" b="0">
                          <a:solidFill>
                            <a:srgbClr val="1A1A1A"/>
                          </a:solidFill>
                          <a:latin typeface="Arial"/>
                        </a:rPr>
                        <a:t>4.00</a:t>
                      </a:r>
                    </a:p>
                  </a:txBody>
                  <a:tcPr marL="54864" marR="54864" marT="27432" marB="27432">
                    <a:solidFill>
                      <a:srgbClr val="FFFFFF"/>
                    </a:solidFill>
                  </a:tcPr>
                </a:tc>
              </a:tr>
              <a:tr h="338328">
                <a:tc>
                  <a:txBody>
                    <a:bodyPr wrap="square"/>
                    <a:lstStyle/>
                    <a:p>
                      <a:r>
                        <a:rPr sz="1200" b="0">
                          <a:solidFill>
                            <a:srgbClr val="1A1A1A"/>
                          </a:solidFill>
                          <a:latin typeface="Arial"/>
                        </a:rPr>
                        <a:t>26 Accountable people knowledgeable</a:t>
                      </a:r>
                    </a:p>
                  </a:txBody>
                  <a:tcPr marL="54864" marR="54864" marT="27432" marB="27432">
                    <a:solidFill>
                      <a:srgbClr val="FFFFFF"/>
                    </a:solidFill>
                  </a:tcPr>
                </a:tc>
                <a:tc>
                  <a:txBody>
                    <a:bodyPr wrap="square"/>
                    <a:lstStyle/>
                    <a:p>
                      <a:r>
                        <a:rPr sz="1200" b="0">
                          <a:solidFill>
                            <a:srgbClr val="1A1A1A"/>
                          </a:solidFill>
                          <a:latin typeface="Arial"/>
                        </a:rPr>
                        <a:t>4.00</a:t>
                      </a:r>
                    </a:p>
                  </a:txBody>
                  <a:tcPr marL="54864" marR="54864" marT="27432" marB="27432">
                    <a:solidFill>
                      <a:srgbClr val="FFFFFF"/>
                    </a:solidFill>
                  </a:tcPr>
                </a:tc>
              </a:tr>
              <a:tr h="338328">
                <a:tc>
                  <a:txBody>
                    <a:bodyPr wrap="square"/>
                    <a:lstStyle/>
                    <a:p>
                      <a:r>
                        <a:rPr sz="1200" b="0">
                          <a:solidFill>
                            <a:srgbClr val="1A1A1A"/>
                          </a:solidFill>
                          <a:latin typeface="Arial"/>
                        </a:rPr>
                        <a:t>27 Oversight clear in practice</a:t>
                      </a:r>
                    </a:p>
                  </a:txBody>
                  <a:tcPr marL="54864" marR="54864" marT="27432" marB="27432">
                    <a:solidFill>
                      <a:srgbClr val="FFFFFF"/>
                    </a:solidFill>
                  </a:tcPr>
                </a:tc>
                <a:tc>
                  <a:txBody>
                    <a:bodyPr wrap="square"/>
                    <a:lstStyle/>
                    <a:p>
                      <a:r>
                        <a:rPr sz="1200" b="0">
                          <a:solidFill>
                            <a:srgbClr val="1A1A1A"/>
                          </a:solidFill>
                          <a:latin typeface="Arial"/>
                        </a:rPr>
                        <a:t>3.67</a:t>
                      </a:r>
                    </a:p>
                  </a:txBody>
                  <a:tcPr marL="54864" marR="54864" marT="27432" marB="27432">
                    <a:solidFill>
                      <a:srgbClr val="FFFFFF"/>
                    </a:solidFill>
                  </a:tcPr>
                </a:tc>
              </a:tr>
              <a:tr h="338328">
                <a:tc>
                  <a:txBody>
                    <a:bodyPr wrap="square"/>
                    <a:lstStyle/>
                    <a:p>
                      <a:r>
                        <a:rPr sz="1200" b="0">
                          <a:solidFill>
                            <a:srgbClr val="1A1A1A"/>
                          </a:solidFill>
                          <a:latin typeface="Arial"/>
                        </a:rPr>
                        <a:t>28 Management communicated</a:t>
                      </a:r>
                    </a:p>
                  </a:txBody>
                  <a:tcPr marL="54864" marR="54864" marT="27432" marB="27432">
                    <a:solidFill>
                      <a:srgbClr val="FFFFFF"/>
                    </a:solidFill>
                  </a:tcPr>
                </a:tc>
                <a:tc>
                  <a:txBody>
                    <a:bodyPr wrap="square"/>
                    <a:lstStyle/>
                    <a:p>
                      <a:r>
                        <a:rPr sz="1200" b="0">
                          <a:solidFill>
                            <a:srgbClr val="1A1A1A"/>
                          </a:solidFill>
                          <a:latin typeface="Arial"/>
                        </a:rPr>
                        <a:t>4.00</a:t>
                      </a:r>
                    </a:p>
                  </a:txBody>
                  <a:tcPr marL="54864" marR="54864" marT="27432" marB="27432">
                    <a:solidFill>
                      <a:srgbClr val="FFFFFF"/>
                    </a:solidFill>
                  </a:tcPr>
                </a:tc>
              </a:tr>
              <a:tr h="338328">
                <a:tc>
                  <a:txBody>
                    <a:bodyPr wrap="square"/>
                    <a:lstStyle/>
                    <a:p>
                      <a:r>
                        <a:rPr sz="1200" b="0">
                          <a:solidFill>
                            <a:srgbClr val="1A1A1A"/>
                          </a:solidFill>
                          <a:latin typeface="Arial"/>
                        </a:rPr>
                        <a:t>29 Positive about AI</a:t>
                      </a:r>
                    </a:p>
                  </a:txBody>
                  <a:tcPr marL="54864" marR="54864" marT="27432" marB="27432">
                    <a:solidFill>
                      <a:srgbClr val="FFFFFF"/>
                    </a:solidFill>
                  </a:tcPr>
                </a:tc>
                <a:tc>
                  <a:txBody>
                    <a:bodyPr wrap="square"/>
                    <a:lstStyle/>
                    <a:p>
                      <a:r>
                        <a:rPr sz="1200" b="0">
                          <a:solidFill>
                            <a:srgbClr val="1A1A1A"/>
                          </a:solidFill>
                          <a:latin typeface="Arial"/>
                        </a:rPr>
                        <a:t>4.00</a:t>
                      </a:r>
                    </a:p>
                  </a:txBody>
                  <a:tcPr marL="54864" marR="54864" marT="27432" marB="27432">
                    <a:solidFill>
                      <a:srgbClr val="FFFFFF"/>
                    </a:solidFill>
                  </a:tcPr>
                </a:tc>
              </a:tr>
              <a:tr h="338328">
                <a:tc>
                  <a:txBody>
                    <a:bodyPr wrap="square"/>
                    <a:lstStyle/>
                    <a:p>
                      <a:r>
                        <a:rPr sz="1200" b="0">
                          <a:solidFill>
                            <a:srgbClr val="1A1A1A"/>
                          </a:solidFill>
                          <a:latin typeface="Arial"/>
                        </a:rPr>
                        <a:t>30 Would consider leaving</a:t>
                      </a:r>
                    </a:p>
                  </a:txBody>
                  <a:tcPr marL="54864" marR="54864" marT="27432" marB="27432">
                    <a:solidFill>
                      <a:srgbClr val="FFFFFF"/>
                    </a:solidFill>
                  </a:tcPr>
                </a:tc>
                <a:tc>
                  <a:txBody>
                    <a:bodyPr wrap="square"/>
                    <a:lstStyle/>
                    <a:p>
                      <a:r>
                        <a:rPr sz="1200" b="0">
                          <a:solidFill>
                            <a:srgbClr val="1A1A1A"/>
                          </a:solidFill>
                          <a:latin typeface="Arial"/>
                        </a:rPr>
                        <a:t>3.67</a:t>
                      </a:r>
                    </a:p>
                  </a:txBody>
                  <a:tcPr marL="54864" marR="54864" marT="27432" marB="27432">
                    <a:solidFill>
                      <a:srgbClr val="FFFFFF"/>
                    </a:solidFill>
                  </a:tcPr>
                </a:tc>
              </a:tr>
              <a:tr h="338328">
                <a:tc>
                  <a:txBody>
                    <a:bodyPr wrap="square"/>
                    <a:lstStyle/>
                    <a:p>
                      <a:r>
                        <a:rPr sz="1200" b="0">
                          <a:solidFill>
                            <a:srgbClr val="1A1A1A"/>
                          </a:solidFill>
                          <a:latin typeface="Arial"/>
                        </a:rPr>
                        <a:t>31 Committed to organisation</a:t>
                      </a:r>
                    </a:p>
                  </a:txBody>
                  <a:tcPr marL="54864" marR="54864" marT="27432" marB="27432">
                    <a:solidFill>
                      <a:srgbClr val="FFFFFF"/>
                    </a:solidFill>
                  </a:tcPr>
                </a:tc>
                <a:tc>
                  <a:txBody>
                    <a:bodyPr wrap="square"/>
                    <a:lstStyle/>
                    <a:p>
                      <a:r>
                        <a:rPr sz="1200" b="0">
                          <a:solidFill>
                            <a:srgbClr val="1A1A1A"/>
                          </a:solidFill>
                          <a:latin typeface="Arial"/>
                        </a:rPr>
                        <a:t>4.00</a:t>
                      </a:r>
                    </a:p>
                  </a:txBody>
                  <a:tcPr marL="54864" marR="54864" marT="27432" marB="27432">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Backup: regulation mapped to workforce obligations</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B4</a:t>
            </a:r>
          </a:p>
        </p:txBody>
      </p:sp>
      <p:graphicFrame>
        <p:nvGraphicFramePr>
          <p:cNvPr id="6" name="Table 5"/>
          <p:cNvGraphicFramePr>
            <a:graphicFrameLocks noGrp="1"/>
          </p:cNvGraphicFramePr>
          <p:nvPr/>
        </p:nvGraphicFramePr>
        <p:xfrm>
          <a:off x="457200" y="1463040"/>
          <a:ext cx="11247120" cy="4114800"/>
        </p:xfrm>
        <a:graphic>
          <a:graphicData uri="http://schemas.openxmlformats.org/drawingml/2006/table">
            <a:tbl>
              <a:tblPr>
                <a:tableStyleId>{5C22544A-7EE6-4342-B048-85BDC9FD1C3A}</a:tableStyleId>
              </a:tblPr>
              <a:tblGrid>
                <a:gridCol w="2743200"/>
                <a:gridCol w="4480560"/>
                <a:gridCol w="4023360"/>
              </a:tblGrid>
              <a:tr h="685800">
                <a:tc>
                  <a:txBody>
                    <a:bodyPr wrap="square"/>
                    <a:lstStyle/>
                    <a:p>
                      <a:r>
                        <a:rPr sz="1400" b="1">
                          <a:solidFill>
                            <a:srgbClr val="1A1A1A"/>
                          </a:solidFill>
                          <a:latin typeface="Arial"/>
                        </a:rPr>
                        <a:t>Instrument</a:t>
                      </a:r>
                    </a:p>
                  </a:txBody>
                  <a:tcPr marL="54864" marR="54864" marT="27432" marB="27432">
                    <a:solidFill>
                      <a:srgbClr val="D9D9D9"/>
                    </a:solidFill>
                  </a:tcPr>
                </a:tc>
                <a:tc>
                  <a:txBody>
                    <a:bodyPr wrap="square"/>
                    <a:lstStyle/>
                    <a:p>
                      <a:r>
                        <a:rPr sz="1400" b="1">
                          <a:solidFill>
                            <a:srgbClr val="1A1A1A"/>
                          </a:solidFill>
                          <a:latin typeface="Arial"/>
                        </a:rPr>
                        <a:t>Workforce requirement</a:t>
                      </a:r>
                    </a:p>
                  </a:txBody>
                  <a:tcPr marL="54864" marR="54864" marT="27432" marB="27432">
                    <a:solidFill>
                      <a:srgbClr val="D9D9D9"/>
                    </a:solidFill>
                  </a:tcPr>
                </a:tc>
                <a:tc>
                  <a:txBody>
                    <a:bodyPr wrap="square"/>
                    <a:lstStyle/>
                    <a:p>
                      <a:r>
                        <a:rPr sz="1400" b="1">
                          <a:solidFill>
                            <a:srgbClr val="1A1A1A"/>
                          </a:solidFill>
                          <a:latin typeface="Arial"/>
                        </a:rPr>
                        <a:t>Implication</a:t>
                      </a:r>
                    </a:p>
                  </a:txBody>
                  <a:tcPr marL="54864" marR="54864" marT="27432" marB="27432">
                    <a:solidFill>
                      <a:srgbClr val="D9D9D9"/>
                    </a:solidFill>
                  </a:tcPr>
                </a:tc>
              </a:tr>
              <a:tr h="685800">
                <a:tc>
                  <a:txBody>
                    <a:bodyPr wrap="square"/>
                    <a:lstStyle/>
                    <a:p>
                      <a:r>
                        <a:rPr sz="1400" b="0">
                          <a:solidFill>
                            <a:srgbClr val="1A1A1A"/>
                          </a:solidFill>
                          <a:latin typeface="Arial"/>
                        </a:rPr>
                        <a:t>DORA (2022/2554)</a:t>
                      </a:r>
                    </a:p>
                  </a:txBody>
                  <a:tcPr marL="54864" marR="54864" marT="27432" marB="27432">
                    <a:solidFill>
                      <a:srgbClr val="FFFFFF"/>
                    </a:solidFill>
                  </a:tcPr>
                </a:tc>
                <a:tc>
                  <a:txBody>
                    <a:bodyPr wrap="square"/>
                    <a:lstStyle/>
                    <a:p>
                      <a:r>
                        <a:rPr sz="1400" b="0">
                          <a:solidFill>
                            <a:srgbClr val="1A1A1A"/>
                          </a:solidFill>
                          <a:latin typeface="Arial"/>
                        </a:rPr>
                        <a:t>Board ICT knowledge (Art. 5); training for all staff (Art. 13)</a:t>
                      </a:r>
                    </a:p>
                  </a:txBody>
                  <a:tcPr marL="54864" marR="54864" marT="27432" marB="27432">
                    <a:solidFill>
                      <a:srgbClr val="FFFFFF"/>
                    </a:solidFill>
                  </a:tcPr>
                </a:tc>
                <a:tc>
                  <a:txBody>
                    <a:bodyPr wrap="square"/>
                    <a:lstStyle/>
                    <a:p>
                      <a:r>
                        <a:rPr sz="1400" b="0">
                          <a:solidFill>
                            <a:srgbClr val="1A1A1A"/>
                          </a:solidFill>
                          <a:latin typeface="Arial"/>
                        </a:rPr>
                        <a:t>Capability becomes auditable; training records = evidence</a:t>
                      </a:r>
                    </a:p>
                  </a:txBody>
                  <a:tcPr marL="54864" marR="54864" marT="27432" marB="27432">
                    <a:solidFill>
                      <a:srgbClr val="FFFFFF"/>
                    </a:solidFill>
                  </a:tcPr>
                </a:tc>
              </a:tr>
              <a:tr h="685800">
                <a:tc>
                  <a:txBody>
                    <a:bodyPr wrap="square"/>
                    <a:lstStyle/>
                    <a:p>
                      <a:r>
                        <a:rPr sz="1400" b="0">
                          <a:solidFill>
                            <a:srgbClr val="1A1A1A"/>
                          </a:solidFill>
                          <a:latin typeface="Arial"/>
                        </a:rPr>
                        <a:t>EU AI Act (2024/1689) + Omnibus</a:t>
                      </a:r>
                    </a:p>
                  </a:txBody>
                  <a:tcPr marL="54864" marR="54864" marT="27432" marB="27432">
                    <a:solidFill>
                      <a:srgbClr val="FFFFFF"/>
                    </a:solidFill>
                  </a:tcPr>
                </a:tc>
                <a:tc>
                  <a:txBody>
                    <a:bodyPr wrap="square"/>
                    <a:lstStyle/>
                    <a:p>
                      <a:r>
                        <a:rPr sz="1400" b="0">
                          <a:solidFill>
                            <a:srgbClr val="1A1A1A"/>
                          </a:solidFill>
                          <a:latin typeface="Arial"/>
                        </a:rPr>
                        <a:t>AI literacy (Art. 4); effective human oversight (Art. 14)</a:t>
                      </a:r>
                    </a:p>
                  </a:txBody>
                  <a:tcPr marL="54864" marR="54864" marT="27432" marB="27432">
                    <a:solidFill>
                      <a:srgbClr val="FFFFFF"/>
                    </a:solidFill>
                  </a:tcPr>
                </a:tc>
                <a:tc>
                  <a:txBody>
                    <a:bodyPr wrap="square"/>
                    <a:lstStyle/>
                    <a:p>
                      <a:r>
                        <a:rPr sz="1400" b="0">
                          <a:solidFill>
                            <a:srgbClr val="1A1A1A"/>
                          </a:solidFill>
                          <a:latin typeface="Arial"/>
                        </a:rPr>
                        <a:t>Role-based AI literacy; trained overseers</a:t>
                      </a:r>
                    </a:p>
                  </a:txBody>
                  <a:tcPr marL="54864" marR="54864" marT="27432" marB="27432">
                    <a:solidFill>
                      <a:srgbClr val="FFFFFF"/>
                    </a:solidFill>
                  </a:tcPr>
                </a:tc>
              </a:tr>
              <a:tr h="685800">
                <a:tc>
                  <a:txBody>
                    <a:bodyPr wrap="square"/>
                    <a:lstStyle/>
                    <a:p>
                      <a:r>
                        <a:rPr sz="1400" b="0">
                          <a:solidFill>
                            <a:srgbClr val="1A1A1A"/>
                          </a:solidFill>
                          <a:latin typeface="Arial"/>
                        </a:rPr>
                        <a:t>PRA SS1/23</a:t>
                      </a:r>
                    </a:p>
                  </a:txBody>
                  <a:tcPr marL="54864" marR="54864" marT="27432" marB="27432">
                    <a:solidFill>
                      <a:srgbClr val="FFFFFF"/>
                    </a:solidFill>
                  </a:tcPr>
                </a:tc>
                <a:tc>
                  <a:txBody>
                    <a:bodyPr wrap="square"/>
                    <a:lstStyle/>
                    <a:p>
                      <a:r>
                        <a:rPr sz="1400" b="0">
                          <a:solidFill>
                            <a:srgbClr val="1A1A1A"/>
                          </a:solidFill>
                          <a:latin typeface="Arial"/>
                        </a:rPr>
                        <a:t>Accountable SMF; documented lifecycle roles and validator skills</a:t>
                      </a:r>
                    </a:p>
                  </a:txBody>
                  <a:tcPr marL="54864" marR="54864" marT="27432" marB="27432">
                    <a:solidFill>
                      <a:srgbClr val="FFFFFF"/>
                    </a:solidFill>
                  </a:tcPr>
                </a:tc>
                <a:tc>
                  <a:txBody>
                    <a:bodyPr wrap="square"/>
                    <a:lstStyle/>
                    <a:p>
                      <a:r>
                        <a:rPr sz="1400" b="0">
                          <a:solidFill>
                            <a:srgbClr val="1A1A1A"/>
                          </a:solidFill>
                          <a:latin typeface="Arial"/>
                        </a:rPr>
                        <a:t>AI-capable model validation roles</a:t>
                      </a:r>
                    </a:p>
                  </a:txBody>
                  <a:tcPr marL="54864" marR="54864" marT="27432" marB="27432">
                    <a:solidFill>
                      <a:srgbClr val="FFFFFF"/>
                    </a:solidFill>
                  </a:tcPr>
                </a:tc>
              </a:tr>
              <a:tr h="685800">
                <a:tc>
                  <a:txBody>
                    <a:bodyPr wrap="square"/>
                    <a:lstStyle/>
                    <a:p>
                      <a:r>
                        <a:rPr sz="1400" b="0">
                          <a:solidFill>
                            <a:srgbClr val="1A1A1A"/>
                          </a:solidFill>
                          <a:latin typeface="Arial"/>
                        </a:rPr>
                        <a:t>SM&amp;CR</a:t>
                      </a:r>
                    </a:p>
                  </a:txBody>
                  <a:tcPr marL="54864" marR="54864" marT="27432" marB="27432">
                    <a:solidFill>
                      <a:srgbClr val="FFFFFF"/>
                    </a:solidFill>
                  </a:tcPr>
                </a:tc>
                <a:tc>
                  <a:txBody>
                    <a:bodyPr wrap="square"/>
                    <a:lstStyle/>
                    <a:p>
                      <a:r>
                        <a:rPr sz="1400" b="0">
                          <a:solidFill>
                            <a:srgbClr val="1A1A1A"/>
                          </a:solidFill>
                          <a:latin typeface="Arial"/>
                        </a:rPr>
                        <a:t>Existing senior managers accountable for AI use</a:t>
                      </a:r>
                    </a:p>
                  </a:txBody>
                  <a:tcPr marL="54864" marR="54864" marT="27432" marB="27432">
                    <a:solidFill>
                      <a:srgbClr val="FFFFFF"/>
                    </a:solidFill>
                  </a:tcPr>
                </a:tc>
                <a:tc>
                  <a:txBody>
                    <a:bodyPr wrap="square"/>
                    <a:lstStyle/>
                    <a:p>
                      <a:r>
                        <a:rPr sz="1400" b="0">
                          <a:solidFill>
                            <a:srgbClr val="1A1A1A"/>
                          </a:solidFill>
                          <a:latin typeface="Arial"/>
                        </a:rPr>
                        <a:t>AI understanding gap = personal exposure</a:t>
                      </a:r>
                    </a:p>
                  </a:txBody>
                  <a:tcPr marL="54864" marR="54864" marT="27432" marB="27432">
                    <a:solidFill>
                      <a:srgbClr val="FFFFFF"/>
                    </a:solidFill>
                  </a:tcPr>
                </a:tc>
              </a:tr>
              <a:tr h="685800">
                <a:tc>
                  <a:txBody>
                    <a:bodyPr wrap="square"/>
                    <a:lstStyle/>
                    <a:p>
                      <a:r>
                        <a:rPr sz="1400" b="0">
                          <a:solidFill>
                            <a:srgbClr val="1A1A1A"/>
                          </a:solidFill>
                          <a:latin typeface="Arial"/>
                        </a:rPr>
                        <a:t>AMLR / AMLA (2024)</a:t>
                      </a:r>
                    </a:p>
                  </a:txBody>
                  <a:tcPr marL="54864" marR="54864" marT="27432" marB="27432">
                    <a:solidFill>
                      <a:srgbClr val="FFFFFF"/>
                    </a:solidFill>
                  </a:tcPr>
                </a:tc>
                <a:tc>
                  <a:txBody>
                    <a:bodyPr wrap="square"/>
                    <a:lstStyle/>
                    <a:p>
                      <a:r>
                        <a:rPr sz="1400" b="0">
                          <a:solidFill>
                            <a:srgbClr val="1A1A1A"/>
                          </a:solidFill>
                          <a:latin typeface="Arial"/>
                        </a:rPr>
                        <a:t>Compliance manager + AML compliance officer</a:t>
                      </a:r>
                    </a:p>
                  </a:txBody>
                  <a:tcPr marL="54864" marR="54864" marT="27432" marB="27432">
                    <a:solidFill>
                      <a:srgbClr val="FFFFFF"/>
                    </a:solidFill>
                  </a:tcPr>
                </a:tc>
                <a:tc>
                  <a:txBody>
                    <a:bodyPr wrap="square"/>
                    <a:lstStyle/>
                    <a:p>
                      <a:r>
                        <a:rPr sz="1400" b="0">
                          <a:solidFill>
                            <a:srgbClr val="1A1A1A"/>
                          </a:solidFill>
                          <a:latin typeface="Arial"/>
                        </a:rPr>
                        <a:t>Senior AML roles own AI-enabled monitoring</a:t>
                      </a:r>
                    </a:p>
                  </a:txBody>
                  <a:tcPr marL="54864" marR="54864" marT="27432" marB="27432">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nchor="b" lIns="45720" rIns="45720">
            <a:spAutoFit/>
          </a:bodyPr>
          <a:lstStyle/>
          <a:p>
            <a:pPr algn="l">
              <a:spcAft>
                <a:spcPts val="800"/>
              </a:spcAft>
            </a:pPr>
            <a:r>
              <a:rPr sz="2800" b="1">
                <a:solidFill>
                  <a:srgbClr val="1A1A1A"/>
                </a:solidFill>
                <a:latin typeface="Arial"/>
              </a:rPr>
              <a:t>Backup: why the questionnaire is descriptive and public data carry the tests</a:t>
            </a:r>
          </a:p>
        </p:txBody>
      </p:sp>
      <p:sp>
        <p:nvSpPr>
          <p:cNvPr id="3" name="Rectangle 2"/>
          <p:cNvSpPr/>
          <p:nvPr/>
        </p:nvSpPr>
        <p:spPr>
          <a:xfrm>
            <a:off x="566928" y="1216152"/>
            <a:ext cx="1188720" cy="54864"/>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spcAft>
                <a:spcPts val="800"/>
              </a:spcAft>
            </a:pPr>
            <a:r>
              <a:rPr sz="1000" b="0">
                <a:solidFill>
                  <a:srgbClr val="6E6E6E"/>
                </a:solidFill>
                <a:latin typeface="Arial"/>
              </a:rPr>
              <a:t>AI-Driven Transformation in Banking GRC  |  Narentheran S  |  Viva voce</a:t>
            </a:r>
          </a:p>
        </p:txBody>
      </p:sp>
      <p:sp>
        <p:nvSpPr>
          <p:cNvPr id="5" name="TextBox 4"/>
          <p:cNvSpPr txBox="1"/>
          <p:nvPr/>
        </p:nvSpPr>
        <p:spPr>
          <a:xfrm>
            <a:off x="10881360" y="6400800"/>
            <a:ext cx="731520" cy="320040"/>
          </a:xfrm>
          <a:prstGeom prst="rect">
            <a:avLst/>
          </a:prstGeom>
          <a:noFill/>
        </p:spPr>
        <p:txBody>
          <a:bodyPr wrap="square" anchor="t" lIns="45720" rIns="45720">
            <a:spAutoFit/>
          </a:bodyPr>
          <a:lstStyle/>
          <a:p>
            <a:pPr algn="r">
              <a:spcAft>
                <a:spcPts val="800"/>
              </a:spcAft>
            </a:pPr>
            <a:r>
              <a:rPr sz="1000" b="0">
                <a:solidFill>
                  <a:srgbClr val="6E6E6E"/>
                </a:solidFill>
                <a:latin typeface="Arial"/>
              </a:rPr>
              <a:t>B5</a:t>
            </a:r>
          </a:p>
        </p:txBody>
      </p:sp>
      <p:sp>
        <p:nvSpPr>
          <p:cNvPr id="6" name="TextBox 5"/>
          <p:cNvSpPr txBox="1"/>
          <p:nvPr/>
        </p:nvSpPr>
        <p:spPr>
          <a:xfrm>
            <a:off x="548640" y="1554480"/>
            <a:ext cx="11155680" cy="4572000"/>
          </a:xfrm>
          <a:prstGeom prst="rect">
            <a:avLst/>
          </a:prstGeom>
          <a:noFill/>
        </p:spPr>
        <p:txBody>
          <a:bodyPr wrap="square" anchor="t" lIns="45720" rIns="45720">
            <a:spAutoFit/>
          </a:bodyPr>
          <a:lstStyle/>
          <a:p>
            <a:pPr algn="l">
              <a:spcAft>
                <a:spcPts val="1600"/>
              </a:spcAft>
            </a:pPr>
            <a:r>
              <a:rPr sz="1800" b="1">
                <a:solidFill>
                  <a:srgbClr val="1A1A1A"/>
                </a:solidFill>
                <a:latin typeface="Arial"/>
              </a:rPr>
              <a:t>Questionnaire:</a:t>
            </a:r>
            <a:r>
              <a:rPr sz="1800" b="0">
                <a:solidFill>
                  <a:srgbClr val="1A1A1A"/>
                </a:solidFill>
                <a:latin typeface="Arial"/>
              </a:rPr>
              <a:t> small purposive sample of senior practitioners, used to validate interview themes. Significance tests and Cronbach's alpha are not meaningful at this size, so means/SD are compared with the neutral point 3.</a:t>
            </a:r>
          </a:p>
          <a:p>
            <a:pPr algn="l">
              <a:spcAft>
                <a:spcPts val="1600"/>
              </a:spcAft>
            </a:pPr>
            <a:r>
              <a:rPr sz="1800" b="1">
                <a:solidFill>
                  <a:srgbClr val="1A1A1A"/>
                </a:solidFill>
                <a:latin typeface="Arial"/>
              </a:rPr>
              <a:t>Interviews:</a:t>
            </a:r>
            <a:r>
              <a:rPr sz="1800" b="0">
                <a:solidFill>
                  <a:srgbClr val="1A1A1A"/>
                </a:solidFill>
                <a:latin typeface="Arial"/>
              </a:rPr>
              <a:t> free-text data, so thematic analysis is the right method.</a:t>
            </a:r>
          </a:p>
          <a:p>
            <a:pPr algn="l">
              <a:spcAft>
                <a:spcPts val="1600"/>
              </a:spcAft>
            </a:pPr>
            <a:r>
              <a:rPr sz="1800" b="1">
                <a:solidFill>
                  <a:srgbClr val="1A1A1A"/>
                </a:solidFill>
                <a:latin typeface="Arial"/>
              </a:rPr>
              <a:t>Public data:</a:t>
            </a:r>
            <a:r>
              <a:rPr sz="1800" b="0">
                <a:solidFill>
                  <a:srgbClr val="1A1A1A"/>
                </a:solidFill>
                <a:latin typeface="Arial"/>
              </a:rPr>
              <a:t> large, independent samples (27 countries, 19 paired banks, 163 adverts, surveys of 71–6,506) allow proper inferential tests.</a:t>
            </a:r>
          </a:p>
          <a:p>
            <a:pPr algn="l">
              <a:spcAft>
                <a:spcPts val="1600"/>
              </a:spcAft>
            </a:pPr>
            <a:r>
              <a:rPr sz="1800" b="1">
                <a:solidFill>
                  <a:srgbClr val="C00000"/>
                </a:solidFill>
                <a:latin typeface="Arial"/>
              </a:rPr>
              <a:t>The interviews decided what to test; the public data tested whether it holds.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