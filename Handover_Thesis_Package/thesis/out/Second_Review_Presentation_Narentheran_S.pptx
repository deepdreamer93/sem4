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8"/>
    <p:sldId id="258" r:id="rId9"/>
    <p:sldId id="259" r:id="rId10"/>
    <p:sldId id="260" r:id="rId11"/>
    <p:sldId id="261" r:id="rId12"/>
    <p:sldId id="262" r:id="rId13"/>
    <p:sldId id="263" r:id="rId14"/>
    <p:sldId id="264"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6" d="100"/>
          <a:sy n="66" d="100"/>
        </p:scale>
        <p:origin x="1301" y="36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9.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Composite mean</c:v>
                </c:pt>
              </c:strCache>
            </c:strRef>
          </c:tx>
          <c:spPr>
            <a:solidFill>
              <a:srgbClr val="1B4F8A"/>
            </a:solidFill>
            <a:ln>
              <a:noFill/>
            </a:ln>
          </c:spPr>
          <c:cat>
            <c:strRef>
              <c:f>Sheet1!$A$2:$A$8</c:f>
              <c:strCache>
                <c:ptCount val="7"/>
                <c:pt idx="0">
                  <c:v>Perceived usefulness</c:v>
                </c:pt>
                <c:pt idx="1">
                  <c:v>Ease of use</c:v>
                </c:pt>
                <c:pt idx="2">
                  <c:v>Trust in AI output</c:v>
                </c:pt>
                <c:pt idx="3">
                  <c:v>Replaceability concern</c:v>
                </c:pt>
                <c:pt idx="4">
                  <c:v>Skills &amp; reskilling</c:v>
                </c:pt>
                <c:pt idx="5">
                  <c:v>Oversight &amp; accountability</c:v>
                </c:pt>
                <c:pt idx="6">
                  <c:v>Organisational response</c:v>
                </c:pt>
              </c:strCache>
            </c:strRef>
          </c:cat>
          <c:val>
            <c:numRef>
              <c:f>Sheet1!$B$2:$B$8</c:f>
              <c:numCache>
                <c:formatCode>General</c:formatCode>
                <c:ptCount val="7"/>
                <c:pt idx="0">
                  <c:v>3.58</c:v>
                </c:pt>
                <c:pt idx="1">
                  <c:v>4.0</c:v>
                </c:pt>
                <c:pt idx="2">
                  <c:v>3.87</c:v>
                </c:pt>
                <c:pt idx="3">
                  <c:v>3.89</c:v>
                </c:pt>
                <c:pt idx="4">
                  <c:v>3.75</c:v>
                </c:pt>
                <c:pt idx="5">
                  <c:v>3.83</c:v>
                </c:pt>
                <c:pt idx="6">
                  <c:v>3.58</c:v>
                </c:pt>
              </c:numCache>
            </c:numRef>
          </c:val>
        </c:ser>
        <c:dLbls>
          <c:numFmt formatCode="0.00" sourceLinked="0"/>
          <c:txPr>
            <a:bodyPr/>
            <a:lstStyle/>
            <a:p>
              <a:pPr>
                <a:defRPr sz="1400">
                  <a:solidFill>
                    <a:srgbClr val="1F2D3D"/>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1400">
                <a:solidFill>
                  <a:srgbClr val="444A52"/>
                </a:solidFill>
                <a:latin typeface="Calibri"/>
              </a:defRPr>
            </a:pPr>
          </a:p>
        </c:txPr>
        <c:crossAx val="-2113994440"/>
        <c:crosses val="autoZero"/>
        <c:auto val="1"/>
        <c:lblAlgn val="ctr"/>
        <c:lblOffset val="100"/>
        <c:noMultiLvlLbl val="0"/>
      </c:catAx>
      <c:valAx>
        <c:axId val="-2113994440"/>
        <c:scaling>
          <c:max val="5.0"/>
          <c:min val="1.0"/>
        </c:scaling>
        <c:delete val="0"/>
        <c:axPos val="b"/>
        <c:majorGridlines>
          <c:spPr>
            <a:ln w="10160">
              <a:solidFill>
                <a:srgbClr val="CFD8E2"/>
              </a:solidFill>
            </a:ln>
          </c:spPr>
        </c:majorGridlines>
        <c:majorTickMark val="out"/>
        <c:minorTickMark val="none"/>
        <c:tickLblPos val="nextTo"/>
        <c:txPr>
          <a:bodyPr/>
          <a:lstStyle/>
          <a:p>
            <a:pPr>
              <a:defRPr sz="1400">
                <a:solidFill>
                  <a:srgbClr val="444A52"/>
                </a:solidFill>
                <a:latin typeface="Calibri"/>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study looks at how AI is changing the workforce in bank Governance, Risk and Compliance functions in the UK and EU, and what management should do about it. In the next few minutes I'll cover why it matters, how I collected the data, what I found, and the framework that comes out of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adoption is already mainstream, but firms often rely on third-party models they only partly understand. At the same time, regulation now requires people to be competent to oversee AI. So this is a workforce management problem, not just a technology one, and the literature hasn't studied it inside regulated banking GRC.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objectives are unchanged from the first review. The only change is that I extended the regulatory mapping to include the 2026 amendment of the EU AI Act, the Consumer Duty, the new EU AML rules and the ECB's supervisory priorities, because they all affect GRC staff competence.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a mixed-methods design, mainly qualitative. Senior practitioners gave written interviews, a structured questionnaire tested the themes using constructs from Davis, Brougham and Haar, and Glikson and Woolley, and I analysed regulation, supervisory surveys and job postings. All three streams were triangulated before drawing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Practitioners told a consistent story. Routine work is being automated but judgement work isn't. Human review stays essential. Two insights stood out: senior accountable executives may not understand AI well enough to challenge it, and cutting experienced staff before capturing their knowledge destroys the very capability needed to validate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questionnaire supports the interview themes. Tools are easy to use but not transparent. People expect their roles to change, though personal worry varies. Training hasn't kept up with the skills now demanded, and oversight exists on paper more than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job postings show roles moving from doing the work to supervising and challenging the system that does it. Entirely new roles are appearing, such as AI compliance officers and model risk managers, and employers pay a premium for people who combine regulatory knowledge with technical fluency.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preliminary framework. The key point is sequencing: diagnose the exposure, protect knowledge first, then redesign roles, build oversight competence aligned to regulation, reskill, secure trust and manage the change. The second stage comes directly from the practitioner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AI is recomposing GRC roles rather than simply removing them, regulation makes human competence a requirement, and knowledge protection must come before restructuring. Next I'll broaden the sample, complete the statistical tests and bank disclosure analysis, and finalise the framework and report.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822960" y="1261872"/>
            <a:ext cx="10561320" cy="1874519"/>
          </a:xfrm>
          <a:prstGeom prst="rect">
            <a:avLst/>
          </a:prstGeom>
          <a:noFill/>
          <a:ln>
            <a:noFill/>
          </a:ln>
        </p:spPr>
        <p:txBody>
          <a:bodyPr wrap="square" anchor="ctr" lIns="0" rIns="0" tIns="0" bIns="0">
            <a:noAutofit/>
          </a:bodyPr>
          <a:lstStyle/>
          <a:p>
            <a:pPr algn="l">
              <a:lnSpc>
                <a:spcPct val="97000"/>
              </a:lnSpc>
              <a:spcBef>
                <a:spcPts val="0"/>
              </a:spcBef>
              <a:spcAft>
                <a:spcPts val="0"/>
              </a:spcAft>
            </a:pPr>
            <a:r>
              <a:rPr sz="3400" b="1" i="0">
                <a:solidFill>
                  <a:srgbClr val="1F2D3D"/>
                </a:solidFill>
                <a:latin typeface="Calibri"/>
              </a:rPr>
              <a:t>AI-Driven Transformation in Banking GRC:</a:t>
            </a:r>
          </a:p>
          <a:p>
            <a:pPr algn="l">
              <a:lnSpc>
                <a:spcPct val="97000"/>
              </a:lnSpc>
              <a:spcBef>
                <a:spcPts val="0"/>
              </a:spcBef>
              <a:spcAft>
                <a:spcPts val="0"/>
              </a:spcAft>
            </a:pPr>
            <a:r>
              <a:rPr sz="3400" b="1" i="0">
                <a:solidFill>
                  <a:srgbClr val="1F2D3D"/>
                </a:solidFill>
                <a:latin typeface="Calibri"/>
              </a:rPr>
              <a:t>Implications for Workforce Management in</a:t>
            </a:r>
          </a:p>
          <a:p>
            <a:pPr algn="l">
              <a:lnSpc>
                <a:spcPct val="97000"/>
              </a:lnSpc>
              <a:spcBef>
                <a:spcPts val="0"/>
              </a:spcBef>
              <a:spcAft>
                <a:spcPts val="0"/>
              </a:spcAft>
            </a:pPr>
            <a:r>
              <a:rPr sz="3400" b="1" i="0">
                <a:solidFill>
                  <a:srgbClr val="1F2D3D"/>
                </a:solidFill>
                <a:latin typeface="Calibri"/>
              </a:rPr>
              <a:t>UK and EU Banks</a:t>
            </a:r>
          </a:p>
        </p:txBody>
      </p:sp>
      <p:sp>
        <p:nvSpPr>
          <p:cNvPr id="3" name="Rectangle 2"/>
          <p:cNvSpPr/>
          <p:nvPr/>
        </p:nvSpPr>
        <p:spPr>
          <a:xfrm>
            <a:off x="640080" y="3547872"/>
            <a:ext cx="10927080" cy="32004"/>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841248" y="3931920"/>
            <a:ext cx="10469880" cy="493776"/>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00" b="0" i="0">
                <a:solidFill>
                  <a:srgbClr val="444A52"/>
                </a:solidFill>
                <a:latin typeface="Calibri"/>
              </a:rPr>
              <a:t>Second Review | Narentheran S | Roll No: 2406OBA0034 | Reg No: 69124100089</a:t>
            </a:r>
          </a:p>
        </p:txBody>
      </p:sp>
      <p:sp>
        <p:nvSpPr>
          <p:cNvPr id="5" name="Footer line"/>
          <p:cNvSpPr txBox="1"/>
          <p:nvPr/>
        </p:nvSpPr>
        <p:spPr>
          <a:xfrm>
            <a:off x="841248" y="5760720"/>
            <a:ext cx="10469880" cy="47548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450" b="0" i="0">
                <a:solidFill>
                  <a:srgbClr val="444A52"/>
                </a:solidFill>
                <a:latin typeface="Calibri"/>
              </a:rPr>
              <a:t>Online MBA (BAGM) – Centre for Distance and Online Education, Anna University, Chennai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640080" y="393192"/>
            <a:ext cx="10927080" cy="56692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2600" b="1" i="0">
                <a:solidFill>
                  <a:srgbClr val="1F2D3D"/>
                </a:solidFill>
                <a:latin typeface="Calibri"/>
              </a:rPr>
              <a:t>Why this study matters</a:t>
            </a:r>
          </a:p>
        </p:txBody>
      </p:sp>
      <p:sp>
        <p:nvSpPr>
          <p:cNvPr id="3" name="Rectangle 2"/>
          <p:cNvSpPr/>
          <p:nvPr/>
        </p:nvSpPr>
        <p:spPr>
          <a:xfrm>
            <a:off x="640080" y="1133856"/>
            <a:ext cx="10927080" cy="32004"/>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 number"/>
          <p:cNvSpPr txBox="1"/>
          <p:nvPr/>
        </p:nvSpPr>
        <p:spPr>
          <a:xfrm>
            <a:off x="11109960" y="6419088"/>
            <a:ext cx="438912" cy="219456"/>
          </a:xfrm>
          <a:prstGeom prst="rect">
            <a:avLst/>
          </a:prstGeom>
          <a:noFill/>
          <a:ln>
            <a:noFill/>
          </a:ln>
        </p:spPr>
        <p:txBody>
          <a:bodyPr wrap="square" anchor="ctr" lIns="0" rIns="0" tIns="0" bIns="0">
            <a:noAutofit/>
          </a:bodyPr>
          <a:lstStyle/>
          <a:p>
            <a:pPr algn="r">
              <a:lnSpc>
                <a:spcPct val="100000"/>
              </a:lnSpc>
              <a:spcBef>
                <a:spcPts val="0"/>
              </a:spcBef>
              <a:spcAft>
                <a:spcPts val="0"/>
              </a:spcAft>
            </a:pPr>
            <a:r>
              <a:rPr sz="1100" b="0" i="0">
                <a:solidFill>
                  <a:srgbClr val="444A52"/>
                </a:solidFill>
                <a:latin typeface="Calibri"/>
              </a:rPr>
              <a:t>2</a:t>
            </a:r>
          </a:p>
        </p:txBody>
      </p:sp>
      <p:sp>
        <p:nvSpPr>
          <p:cNvPr id="5" name="Oval 4"/>
          <p:cNvSpPr/>
          <p:nvPr/>
        </p:nvSpPr>
        <p:spPr>
          <a:xfrm>
            <a:off x="786384" y="1499616"/>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 y="1353312"/>
            <a:ext cx="10488168" cy="73152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20" b="0" i="0">
                <a:solidFill>
                  <a:srgbClr val="444A52"/>
                </a:solidFill>
                <a:latin typeface="Calibri"/>
              </a:rPr>
              <a:t>75% of UK financial firms already use AI; a further 10% plan to within three years (BoE &amp; FCA, 2024)</a:t>
            </a:r>
          </a:p>
        </p:txBody>
      </p:sp>
      <p:sp>
        <p:nvSpPr>
          <p:cNvPr id="7" name="Oval 6"/>
          <p:cNvSpPr/>
          <p:nvPr/>
        </p:nvSpPr>
        <p:spPr>
          <a:xfrm>
            <a:off x="786384" y="2304288"/>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157984"/>
            <a:ext cx="10488168" cy="73152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20" b="0" i="0">
                <a:solidFill>
                  <a:srgbClr val="444A52"/>
                </a:solidFill>
                <a:latin typeface="Calibri"/>
              </a:rPr>
              <a:t>Risk &amp; compliance is among the most third-party-dependent AI areas (64%)</a:t>
            </a:r>
          </a:p>
        </p:txBody>
      </p:sp>
      <p:sp>
        <p:nvSpPr>
          <p:cNvPr id="9" name="Oval 8"/>
          <p:cNvSpPr/>
          <p:nvPr/>
        </p:nvSpPr>
        <p:spPr>
          <a:xfrm>
            <a:off x="786384" y="3108960"/>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962656"/>
            <a:ext cx="10488168" cy="73152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20" b="0" i="0">
                <a:solidFill>
                  <a:srgbClr val="444A52"/>
                </a:solidFill>
                <a:latin typeface="Calibri"/>
              </a:rPr>
              <a:t>46% of firms have only "partial understanding" of the AI they use</a:t>
            </a:r>
          </a:p>
        </p:txBody>
      </p:sp>
      <p:sp>
        <p:nvSpPr>
          <p:cNvPr id="11" name="Oval 10"/>
          <p:cNvSpPr/>
          <p:nvPr/>
        </p:nvSpPr>
        <p:spPr>
          <a:xfrm>
            <a:off x="786384" y="3913632"/>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3767328"/>
            <a:ext cx="10488168" cy="73152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20" b="0" i="0">
                <a:solidFill>
                  <a:srgbClr val="444A52"/>
                </a:solidFill>
                <a:latin typeface="Calibri"/>
              </a:rPr>
              <a:t>AI risk &amp; compliance job postings up 187% year-on-year (GSDC, 2026)</a:t>
            </a:r>
          </a:p>
        </p:txBody>
      </p:sp>
      <p:sp>
        <p:nvSpPr>
          <p:cNvPr id="13" name="Oval 12"/>
          <p:cNvSpPr/>
          <p:nvPr/>
        </p:nvSpPr>
        <p:spPr>
          <a:xfrm>
            <a:off x="786384" y="4718304"/>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4572000"/>
            <a:ext cx="10488168" cy="804672"/>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20" b="0" i="0">
                <a:solidFill>
                  <a:srgbClr val="444A52"/>
                </a:solidFill>
                <a:latin typeface="Calibri"/>
              </a:rPr>
              <a:t>DORA, EU AI Act, PRA SS1/23 and SM&amp;CR make staff competence and human oversight a regulatory condition</a:t>
            </a:r>
          </a:p>
        </p:txBody>
      </p:sp>
      <p:sp>
        <p:nvSpPr>
          <p:cNvPr id="15" name="Rounded Rectangle 14"/>
          <p:cNvSpPr/>
          <p:nvPr/>
        </p:nvSpPr>
        <p:spPr>
          <a:xfrm>
            <a:off x="713232" y="5468112"/>
            <a:ext cx="10927080" cy="640080"/>
          </a:xfrm>
          <a:prstGeom prst="roundRect">
            <a:avLst/>
          </a:prstGeom>
          <a:solidFill>
            <a:srgbClr val="E8F0F8"/>
          </a:solidFill>
          <a:ln w="1524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5541264"/>
            <a:ext cx="10561320" cy="475488"/>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700" b="1" i="0">
                <a:solidFill>
                  <a:srgbClr val="1F2D3D"/>
                </a:solidFill>
                <a:latin typeface="Calibri"/>
              </a:rPr>
              <a:t>Gap: adoption is outpacing the workforce capability needed to govern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640080" y="393192"/>
            <a:ext cx="10927080" cy="56692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2600" b="1" i="0">
                <a:solidFill>
                  <a:srgbClr val="1F2D3D"/>
                </a:solidFill>
                <a:latin typeface="Calibri"/>
              </a:rPr>
              <a:t>Objectives</a:t>
            </a:r>
          </a:p>
        </p:txBody>
      </p:sp>
      <p:sp>
        <p:nvSpPr>
          <p:cNvPr id="3" name="Rectangle 2"/>
          <p:cNvSpPr/>
          <p:nvPr/>
        </p:nvSpPr>
        <p:spPr>
          <a:xfrm>
            <a:off x="640080" y="1133856"/>
            <a:ext cx="10927080" cy="32004"/>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 number"/>
          <p:cNvSpPr txBox="1"/>
          <p:nvPr/>
        </p:nvSpPr>
        <p:spPr>
          <a:xfrm>
            <a:off x="11109960" y="6419088"/>
            <a:ext cx="438912" cy="219456"/>
          </a:xfrm>
          <a:prstGeom prst="rect">
            <a:avLst/>
          </a:prstGeom>
          <a:noFill/>
          <a:ln>
            <a:noFill/>
          </a:ln>
        </p:spPr>
        <p:txBody>
          <a:bodyPr wrap="square" anchor="ctr" lIns="0" rIns="0" tIns="0" bIns="0">
            <a:noAutofit/>
          </a:bodyPr>
          <a:lstStyle/>
          <a:p>
            <a:pPr algn="r">
              <a:lnSpc>
                <a:spcPct val="100000"/>
              </a:lnSpc>
              <a:spcBef>
                <a:spcPts val="0"/>
              </a:spcBef>
              <a:spcAft>
                <a:spcPts val="0"/>
              </a:spcAft>
            </a:pPr>
            <a:r>
              <a:rPr sz="1100" b="0" i="0">
                <a:solidFill>
                  <a:srgbClr val="444A52"/>
                </a:solidFill>
                <a:latin typeface="Calibri"/>
              </a:rPr>
              <a:t>3</a:t>
            </a:r>
          </a:p>
        </p:txBody>
      </p:sp>
      <p:sp>
        <p:nvSpPr>
          <p:cNvPr id="5" name="Rounded Rectangle 4"/>
          <p:cNvSpPr/>
          <p:nvPr/>
        </p:nvSpPr>
        <p:spPr>
          <a:xfrm>
            <a:off x="713232" y="1353312"/>
            <a:ext cx="10927080" cy="932688"/>
          </a:xfrm>
          <a:prstGeom prst="roundRect">
            <a:avLst/>
          </a:prstGeom>
          <a:solidFill>
            <a:srgbClr val="E8F0F8"/>
          </a:solidFill>
          <a:ln w="1524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408176"/>
            <a:ext cx="10561320" cy="219456"/>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400" b="1" i="0">
                <a:solidFill>
                  <a:srgbClr val="1B4F8A"/>
                </a:solidFill>
                <a:latin typeface="Calibri"/>
              </a:rPr>
              <a:t>PRIMARY OBJECTIVE</a:t>
            </a:r>
          </a:p>
        </p:txBody>
      </p:sp>
      <p:sp>
        <p:nvSpPr>
          <p:cNvPr id="7" name="TextBox 6"/>
          <p:cNvSpPr txBox="1"/>
          <p:nvPr/>
        </p:nvSpPr>
        <p:spPr>
          <a:xfrm>
            <a:off x="896112" y="1655064"/>
            <a:ext cx="10515600" cy="54864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20" b="1" i="0">
                <a:solidFill>
                  <a:srgbClr val="1F2D3D"/>
                </a:solidFill>
                <a:latin typeface="Calibri"/>
              </a:rPr>
              <a:t>Examine how AI in GRC is reshaping role structure, skills, staffing and employee adaptation, and build a practical workforce transformation framework.</a:t>
            </a:r>
          </a:p>
        </p:txBody>
      </p:sp>
      <p:sp>
        <p:nvSpPr>
          <p:cNvPr id="8" name="TextBox 7"/>
          <p:cNvSpPr txBox="1"/>
          <p:nvPr/>
        </p:nvSpPr>
        <p:spPr>
          <a:xfrm>
            <a:off x="749808" y="2404872"/>
            <a:ext cx="10789920" cy="32004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800" b="1" i="0">
                <a:solidFill>
                  <a:srgbClr val="1F2D3D"/>
                </a:solidFill>
                <a:latin typeface="Calibri"/>
              </a:rPr>
              <a:t>Secondary objectives</a:t>
            </a:r>
          </a:p>
        </p:txBody>
      </p:sp>
      <p:sp>
        <p:nvSpPr>
          <p:cNvPr id="9" name="Oval 8"/>
          <p:cNvSpPr/>
          <p:nvPr/>
        </p:nvSpPr>
        <p:spPr>
          <a:xfrm>
            <a:off x="804672" y="2834639"/>
            <a:ext cx="320040" cy="32004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820924"/>
            <a:ext cx="320040" cy="310896"/>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400" b="1" i="0">
                <a:solidFill>
                  <a:srgbClr val="FFFFFF"/>
                </a:solidFill>
                <a:latin typeface="Calibri"/>
              </a:rPr>
              <a:t>1</a:t>
            </a:r>
          </a:p>
        </p:txBody>
      </p:sp>
      <p:sp>
        <p:nvSpPr>
          <p:cNvPr id="11" name="TextBox 10"/>
          <p:cNvSpPr txBox="1"/>
          <p:nvPr/>
        </p:nvSpPr>
        <p:spPr>
          <a:xfrm>
            <a:off x="1298448" y="2770632"/>
            <a:ext cx="10058400" cy="41148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20" b="0" i="0">
                <a:solidFill>
                  <a:srgbClr val="444A52"/>
                </a:solidFill>
                <a:latin typeface="Calibri"/>
              </a:rPr>
              <a:t>Map activities automated vs augmented, and role demand</a:t>
            </a:r>
          </a:p>
        </p:txBody>
      </p:sp>
      <p:sp>
        <p:nvSpPr>
          <p:cNvPr id="12" name="Oval 11"/>
          <p:cNvSpPr/>
          <p:nvPr/>
        </p:nvSpPr>
        <p:spPr>
          <a:xfrm>
            <a:off x="804672" y="3310127"/>
            <a:ext cx="320040" cy="32004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296412"/>
            <a:ext cx="320040" cy="310896"/>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400" b="1" i="0">
                <a:solidFill>
                  <a:srgbClr val="FFFFFF"/>
                </a:solidFill>
                <a:latin typeface="Calibri"/>
              </a:rPr>
              <a:t>2</a:t>
            </a:r>
          </a:p>
        </p:txBody>
      </p:sp>
      <p:sp>
        <p:nvSpPr>
          <p:cNvPr id="14" name="TextBox 13"/>
          <p:cNvSpPr txBox="1"/>
          <p:nvPr/>
        </p:nvSpPr>
        <p:spPr>
          <a:xfrm>
            <a:off x="1298448" y="3246120"/>
            <a:ext cx="10058400" cy="41148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20" b="0" i="0">
                <a:solidFill>
                  <a:srgbClr val="444A52"/>
                </a:solidFill>
                <a:latin typeface="Calibri"/>
              </a:rPr>
              <a:t>Analyse DORA, EU AI Act, SS1/23, SM&amp;CR → oversight &amp; competence</a:t>
            </a:r>
          </a:p>
        </p:txBody>
      </p:sp>
      <p:sp>
        <p:nvSpPr>
          <p:cNvPr id="15" name="Oval 14"/>
          <p:cNvSpPr/>
          <p:nvPr/>
        </p:nvSpPr>
        <p:spPr>
          <a:xfrm>
            <a:off x="804672" y="3785616"/>
            <a:ext cx="320040" cy="32004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3771900"/>
            <a:ext cx="320040" cy="310896"/>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400" b="1" i="0">
                <a:solidFill>
                  <a:srgbClr val="FFFFFF"/>
                </a:solidFill>
                <a:latin typeface="Calibri"/>
              </a:rPr>
              <a:t>3</a:t>
            </a:r>
          </a:p>
        </p:txBody>
      </p:sp>
      <p:sp>
        <p:nvSpPr>
          <p:cNvPr id="17" name="TextBox 16"/>
          <p:cNvSpPr txBox="1"/>
          <p:nvPr/>
        </p:nvSpPr>
        <p:spPr>
          <a:xfrm>
            <a:off x="1298448" y="3721608"/>
            <a:ext cx="10058400" cy="41148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20" b="0" i="0">
                <a:solidFill>
                  <a:srgbClr val="444A52"/>
                </a:solidFill>
                <a:latin typeface="Calibri"/>
              </a:rPr>
              <a:t>Identify skill gaps and reskilling strategies</a:t>
            </a:r>
          </a:p>
        </p:txBody>
      </p:sp>
      <p:sp>
        <p:nvSpPr>
          <p:cNvPr id="18" name="Oval 17"/>
          <p:cNvSpPr/>
          <p:nvPr/>
        </p:nvSpPr>
        <p:spPr>
          <a:xfrm>
            <a:off x="804672" y="4261104"/>
            <a:ext cx="320040" cy="32004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247388"/>
            <a:ext cx="320040" cy="310896"/>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400" b="1" i="0">
                <a:solidFill>
                  <a:srgbClr val="FFFFFF"/>
                </a:solidFill>
                <a:latin typeface="Calibri"/>
              </a:rPr>
              <a:t>4</a:t>
            </a:r>
          </a:p>
        </p:txBody>
      </p:sp>
      <p:sp>
        <p:nvSpPr>
          <p:cNvPr id="20" name="TextBox 19"/>
          <p:cNvSpPr txBox="1"/>
          <p:nvPr/>
        </p:nvSpPr>
        <p:spPr>
          <a:xfrm>
            <a:off x="1298448" y="4197096"/>
            <a:ext cx="10058400" cy="41148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20" b="0" i="0">
                <a:solidFill>
                  <a:srgbClr val="444A52"/>
                </a:solidFill>
                <a:latin typeface="Calibri"/>
              </a:rPr>
              <a:t>Examine usefulness, trust, replaceability and readiness to adapt</a:t>
            </a:r>
          </a:p>
        </p:txBody>
      </p:sp>
      <p:sp>
        <p:nvSpPr>
          <p:cNvPr id="21" name="Oval 20"/>
          <p:cNvSpPr/>
          <p:nvPr/>
        </p:nvSpPr>
        <p:spPr>
          <a:xfrm>
            <a:off x="804672" y="4736592"/>
            <a:ext cx="320040" cy="32004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722875"/>
            <a:ext cx="320040" cy="310896"/>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400" b="1" i="0">
                <a:solidFill>
                  <a:srgbClr val="FFFFFF"/>
                </a:solidFill>
                <a:latin typeface="Calibri"/>
              </a:rPr>
              <a:t>5</a:t>
            </a:r>
          </a:p>
        </p:txBody>
      </p:sp>
      <p:sp>
        <p:nvSpPr>
          <p:cNvPr id="23" name="TextBox 22"/>
          <p:cNvSpPr txBox="1"/>
          <p:nvPr/>
        </p:nvSpPr>
        <p:spPr>
          <a:xfrm>
            <a:off x="1298448" y="4672583"/>
            <a:ext cx="10058400" cy="41148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20" b="0" i="0">
                <a:solidFill>
                  <a:srgbClr val="444A52"/>
                </a:solidFill>
                <a:latin typeface="Calibri"/>
              </a:rPr>
              <a:t>Develop a framework and recommendations for GRC and HR leaders</a:t>
            </a:r>
          </a:p>
        </p:txBody>
      </p:sp>
      <p:sp>
        <p:nvSpPr>
          <p:cNvPr id="24" name="TextBox 23"/>
          <p:cNvSpPr txBox="1"/>
          <p:nvPr/>
        </p:nvSpPr>
        <p:spPr>
          <a:xfrm>
            <a:off x="749808" y="5266944"/>
            <a:ext cx="10835640" cy="84124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400" b="0" i="1">
                <a:solidFill>
                  <a:srgbClr val="444A52"/>
                </a:solidFill>
                <a:latin typeface="Calibri"/>
              </a:rPr>
              <a:t>Objectives unchanged since Review 1; regulatory scope extended (AI Act Digital Omnibus 2026, Consumer Duty, EU AMLR, ECB priorities 2026-28)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640080" y="393192"/>
            <a:ext cx="10927080" cy="56692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2600" b="1" i="0">
                <a:solidFill>
                  <a:srgbClr val="1F2D3D"/>
                </a:solidFill>
                <a:latin typeface="Calibri"/>
              </a:rPr>
              <a:t>Methodology</a:t>
            </a:r>
          </a:p>
        </p:txBody>
      </p:sp>
      <p:sp>
        <p:nvSpPr>
          <p:cNvPr id="3" name="Rectangle 2"/>
          <p:cNvSpPr/>
          <p:nvPr/>
        </p:nvSpPr>
        <p:spPr>
          <a:xfrm>
            <a:off x="640080" y="1133856"/>
            <a:ext cx="10927080" cy="32004"/>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 number"/>
          <p:cNvSpPr txBox="1"/>
          <p:nvPr/>
        </p:nvSpPr>
        <p:spPr>
          <a:xfrm>
            <a:off x="11109960" y="6419088"/>
            <a:ext cx="438912" cy="219456"/>
          </a:xfrm>
          <a:prstGeom prst="rect">
            <a:avLst/>
          </a:prstGeom>
          <a:noFill/>
          <a:ln>
            <a:noFill/>
          </a:ln>
        </p:spPr>
        <p:txBody>
          <a:bodyPr wrap="square" anchor="ctr" lIns="0" rIns="0" tIns="0" bIns="0">
            <a:noAutofit/>
          </a:bodyPr>
          <a:lstStyle/>
          <a:p>
            <a:pPr algn="r">
              <a:lnSpc>
                <a:spcPct val="100000"/>
              </a:lnSpc>
              <a:spcBef>
                <a:spcPts val="0"/>
              </a:spcBef>
              <a:spcAft>
                <a:spcPts val="0"/>
              </a:spcAft>
            </a:pPr>
            <a:r>
              <a:rPr sz="1100" b="0" i="0">
                <a:solidFill>
                  <a:srgbClr val="444A52"/>
                </a:solidFill>
                <a:latin typeface="Calibri"/>
              </a:rPr>
              <a:t>4</a:t>
            </a:r>
          </a:p>
        </p:txBody>
      </p:sp>
      <p:sp>
        <p:nvSpPr>
          <p:cNvPr id="5" name="Rounded Rectangle 4"/>
          <p:cNvSpPr/>
          <p:nvPr/>
        </p:nvSpPr>
        <p:spPr>
          <a:xfrm>
            <a:off x="621792" y="1865376"/>
            <a:ext cx="2587752" cy="2907792"/>
          </a:xfrm>
          <a:prstGeom prst="roundRect">
            <a:avLst/>
          </a:prstGeom>
          <a:solidFill>
            <a:srgbClr val="F4F5F6"/>
          </a:solidFill>
          <a:ln w="1270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 y="1865376"/>
            <a:ext cx="2587752" cy="475488"/>
          </a:xfrm>
          <a:prstGeom prst="rect">
            <a:avLst/>
          </a:prstGeom>
          <a:solidFill>
            <a:srgbClr val="1F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01952"/>
            <a:ext cx="2368296" cy="384048"/>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600" b="1" i="0">
                <a:solidFill>
                  <a:srgbClr val="FFFFFF"/>
                </a:solidFill>
                <a:latin typeface="Calibri"/>
              </a:rPr>
              <a:t>Written interviews</a:t>
            </a:r>
          </a:p>
        </p:txBody>
      </p:sp>
      <p:sp>
        <p:nvSpPr>
          <p:cNvPr id="8" name="TextBox 7"/>
          <p:cNvSpPr txBox="1"/>
          <p:nvPr/>
        </p:nvSpPr>
        <p:spPr>
          <a:xfrm>
            <a:off x="786384" y="2496312"/>
            <a:ext cx="2258568" cy="2157984"/>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420" b="0" i="0">
                <a:solidFill>
                  <a:srgbClr val="444A52"/>
                </a:solidFill>
                <a:latin typeface="Calibri"/>
              </a:rPr>
              <a:t>Senior practitioners in architecture, technology, consulting supporting GRC</a:t>
            </a:r>
          </a:p>
          <a:p>
            <a:pPr algn="ctr">
              <a:lnSpc>
                <a:spcPct val="100000"/>
              </a:lnSpc>
              <a:spcBef>
                <a:spcPts val="0"/>
              </a:spcBef>
              <a:spcAft>
                <a:spcPts val="0"/>
              </a:spcAft>
            </a:pPr>
            <a:r>
              <a:rPr sz="1420" b="0" i="0">
                <a:solidFill>
                  <a:srgbClr val="444A52"/>
                </a:solidFill>
                <a:latin typeface="Calibri"/>
              </a:rPr>
              <a:t/>
            </a:r>
          </a:p>
          <a:p>
            <a:pPr algn="ctr">
              <a:lnSpc>
                <a:spcPct val="100000"/>
              </a:lnSpc>
              <a:spcBef>
                <a:spcPts val="0"/>
              </a:spcBef>
              <a:spcAft>
                <a:spcPts val="0"/>
              </a:spcAft>
            </a:pPr>
            <a:r>
              <a:rPr sz="1420" b="0" i="0">
                <a:solidFill>
                  <a:srgbClr val="444A52"/>
                </a:solidFill>
                <a:latin typeface="Calibri"/>
              </a:rPr>
              <a:t>Thematic analysis</a:t>
            </a:r>
          </a:p>
        </p:txBody>
      </p:sp>
      <p:sp>
        <p:nvSpPr>
          <p:cNvPr id="9" name="Rounded Rectangle 8"/>
          <p:cNvSpPr/>
          <p:nvPr/>
        </p:nvSpPr>
        <p:spPr>
          <a:xfrm>
            <a:off x="3410712" y="1865376"/>
            <a:ext cx="2587752" cy="2907792"/>
          </a:xfrm>
          <a:prstGeom prst="roundRect">
            <a:avLst/>
          </a:prstGeom>
          <a:solidFill>
            <a:srgbClr val="F4F5F6"/>
          </a:solidFill>
          <a:ln w="1270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10712" y="1865376"/>
            <a:ext cx="2587752" cy="585216"/>
          </a:xfrm>
          <a:prstGeom prst="rect">
            <a:avLst/>
          </a:prstGeom>
          <a:solidFill>
            <a:srgbClr val="1F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901952"/>
            <a:ext cx="2368296" cy="502920"/>
          </a:xfrm>
          <a:prstGeom prst="rect">
            <a:avLst/>
          </a:prstGeom>
          <a:noFill/>
          <a:ln>
            <a:noFill/>
          </a:ln>
        </p:spPr>
        <p:txBody>
          <a:bodyPr wrap="square" anchor="ctr" lIns="109728" rIns="109728" tIns="0" bIns="0">
            <a:noAutofit/>
          </a:bodyPr>
          <a:lstStyle/>
          <a:p>
            <a:pPr algn="ctr">
              <a:lnSpc>
                <a:spcPct val="100000"/>
              </a:lnSpc>
              <a:spcBef>
                <a:spcPts val="0"/>
              </a:spcBef>
              <a:spcAft>
                <a:spcPts val="0"/>
              </a:spcAft>
            </a:pPr>
            <a:r>
              <a:rPr sz="1600" b="1">
                <a:solidFill>
                  <a:srgbClr val="FFFFFF"/>
                </a:solidFill>
                <a:latin typeface="Calibri"/>
              </a:rPr>
              <a:t>Structured</a:t>
            </a:r>
          </a:p>
          <a:p>
            <a:pPr algn="ctr">
              <a:lnSpc>
                <a:spcPct val="100000"/>
              </a:lnSpc>
              <a:spcBef>
                <a:spcPts val="0"/>
              </a:spcBef>
              <a:spcAft>
                <a:spcPts val="0"/>
              </a:spcAft>
            </a:pPr>
            <a:r>
              <a:rPr sz="1600" b="1">
                <a:solidFill>
                  <a:srgbClr val="FFFFFF"/>
                </a:solidFill>
                <a:latin typeface="Calibri"/>
              </a:rPr>
              <a:t>questionnaire</a:t>
            </a:r>
          </a:p>
        </p:txBody>
      </p:sp>
      <p:sp>
        <p:nvSpPr>
          <p:cNvPr id="12" name="TextBox 11"/>
          <p:cNvSpPr txBox="1"/>
          <p:nvPr/>
        </p:nvSpPr>
        <p:spPr>
          <a:xfrm>
            <a:off x="3575304" y="2496312"/>
            <a:ext cx="2258568" cy="2157984"/>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420" b="0" i="0">
                <a:solidFill>
                  <a:srgbClr val="444A52"/>
                </a:solidFill>
                <a:latin typeface="Calibri"/>
              </a:rPr>
              <a:t>25 Likert items, 7 constructs (TAM, STARA, AI trust)</a:t>
            </a:r>
          </a:p>
          <a:p>
            <a:pPr algn="ctr">
              <a:lnSpc>
                <a:spcPct val="100000"/>
              </a:lnSpc>
              <a:spcBef>
                <a:spcPts val="0"/>
              </a:spcBef>
              <a:spcAft>
                <a:spcPts val="0"/>
              </a:spcAft>
            </a:pPr>
            <a:r>
              <a:rPr sz="1420" b="0" i="0">
                <a:solidFill>
                  <a:srgbClr val="444A52"/>
                </a:solidFill>
                <a:latin typeface="Calibri"/>
              </a:rPr>
              <a:t/>
            </a:r>
          </a:p>
          <a:p>
            <a:pPr algn="ctr">
              <a:lnSpc>
                <a:spcPct val="100000"/>
              </a:lnSpc>
              <a:spcBef>
                <a:spcPts val="0"/>
              </a:spcBef>
              <a:spcAft>
                <a:spcPts val="0"/>
              </a:spcAft>
            </a:pPr>
            <a:r>
              <a:rPr sz="1420" b="0" i="0">
                <a:solidFill>
                  <a:srgbClr val="444A52"/>
                </a:solidFill>
                <a:latin typeface="Calibri"/>
              </a:rPr>
              <a:t>Descriptive statistics</a:t>
            </a:r>
          </a:p>
        </p:txBody>
      </p:sp>
      <p:sp>
        <p:nvSpPr>
          <p:cNvPr id="13" name="Rounded Rectangle 12"/>
          <p:cNvSpPr/>
          <p:nvPr/>
        </p:nvSpPr>
        <p:spPr>
          <a:xfrm>
            <a:off x="6199632" y="1865376"/>
            <a:ext cx="2587752" cy="2907792"/>
          </a:xfrm>
          <a:prstGeom prst="roundRect">
            <a:avLst/>
          </a:prstGeom>
          <a:solidFill>
            <a:srgbClr val="F4F5F6"/>
          </a:solidFill>
          <a:ln w="1270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865376"/>
            <a:ext cx="2587752" cy="475488"/>
          </a:xfrm>
          <a:prstGeom prst="rect">
            <a:avLst/>
          </a:prstGeom>
          <a:solidFill>
            <a:srgbClr val="1F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901952"/>
            <a:ext cx="2368296" cy="384048"/>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600" b="1" i="0">
                <a:solidFill>
                  <a:srgbClr val="FFFFFF"/>
                </a:solidFill>
                <a:latin typeface="Calibri"/>
              </a:rPr>
              <a:t>Secondary data</a:t>
            </a:r>
          </a:p>
        </p:txBody>
      </p:sp>
      <p:sp>
        <p:nvSpPr>
          <p:cNvPr id="16" name="TextBox 15"/>
          <p:cNvSpPr txBox="1"/>
          <p:nvPr/>
        </p:nvSpPr>
        <p:spPr>
          <a:xfrm>
            <a:off x="6364224" y="2496312"/>
            <a:ext cx="2258568" cy="2157984"/>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420" b="0" i="0">
                <a:solidFill>
                  <a:srgbClr val="444A52"/>
                </a:solidFill>
                <a:latin typeface="Calibri"/>
              </a:rPr>
              <a:t>Regulation, supervisory surveys, public job postings, industry research</a:t>
            </a:r>
          </a:p>
          <a:p>
            <a:pPr algn="ctr">
              <a:lnSpc>
                <a:spcPct val="100000"/>
              </a:lnSpc>
              <a:spcBef>
                <a:spcPts val="0"/>
              </a:spcBef>
              <a:spcAft>
                <a:spcPts val="0"/>
              </a:spcAft>
            </a:pPr>
            <a:r>
              <a:rPr sz="1420" b="0" i="0">
                <a:solidFill>
                  <a:srgbClr val="444A52"/>
                </a:solidFill>
                <a:latin typeface="Calibri"/>
              </a:rPr>
              <a:t/>
            </a:r>
          </a:p>
          <a:p>
            <a:pPr algn="ctr">
              <a:lnSpc>
                <a:spcPct val="100000"/>
              </a:lnSpc>
              <a:spcBef>
                <a:spcPts val="0"/>
              </a:spcBef>
              <a:spcAft>
                <a:spcPts val="0"/>
              </a:spcAft>
            </a:pPr>
            <a:r>
              <a:rPr sz="1420" b="0" i="0">
                <a:solidFill>
                  <a:srgbClr val="444A52"/>
                </a:solidFill>
                <a:latin typeface="Calibri"/>
              </a:rPr>
              <a:t>Content analysis</a:t>
            </a:r>
          </a:p>
        </p:txBody>
      </p:sp>
      <p:sp>
        <p:nvSpPr>
          <p:cNvPr id="17" name="Rounded Rectangle 16"/>
          <p:cNvSpPr/>
          <p:nvPr/>
        </p:nvSpPr>
        <p:spPr>
          <a:xfrm>
            <a:off x="8988552" y="1865376"/>
            <a:ext cx="2587752" cy="2907792"/>
          </a:xfrm>
          <a:prstGeom prst="roundRect">
            <a:avLst/>
          </a:prstGeom>
          <a:solidFill>
            <a:srgbClr val="F4F5F6"/>
          </a:solidFill>
          <a:ln w="1270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88552" y="1865376"/>
            <a:ext cx="2587752" cy="475488"/>
          </a:xfrm>
          <a:prstGeom prst="rect">
            <a:avLst/>
          </a:prstGeom>
          <a:solidFill>
            <a:srgbClr val="1F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80" y="1901952"/>
            <a:ext cx="2368296" cy="384048"/>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600" b="1">
                <a:solidFill>
                  <a:srgbClr val="FFFFFF"/>
                </a:solidFill>
                <a:latin typeface="Calibri"/>
              </a:rPr>
              <a:t>Triangulation →</a:t>
            </a:r>
          </a:p>
        </p:txBody>
      </p:sp>
      <p:sp>
        <p:nvSpPr>
          <p:cNvPr id="20" name="TextBox 19"/>
          <p:cNvSpPr txBox="1"/>
          <p:nvPr/>
        </p:nvSpPr>
        <p:spPr>
          <a:xfrm>
            <a:off x="9153144" y="2496312"/>
            <a:ext cx="2258568" cy="2157984"/>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500">
                <a:solidFill>
                  <a:srgbClr val="444A52"/>
                </a:solidFill>
                <a:latin typeface="Calibri"/>
              </a:rPr>
              <a:t>Propositions P1–P4,</a:t>
            </a:r>
          </a:p>
          <a:p>
            <a:pPr algn="ctr">
              <a:spcAft>
                <a:spcPts val="0"/>
              </a:spcAft>
            </a:pPr>
            <a:r>
              <a:rPr sz="1500">
                <a:solidFill>
                  <a:srgbClr val="444A52"/>
                </a:solidFill>
                <a:latin typeface="Calibri"/>
              </a:rPr>
              <a:t>Hypotheses H1–H4</a:t>
            </a:r>
          </a:p>
        </p:txBody>
      </p:sp>
      <p:sp>
        <p:nvSpPr>
          <p:cNvPr id="21" name="Right Arrow 20"/>
          <p:cNvSpPr/>
          <p:nvPr/>
        </p:nvSpPr>
        <p:spPr>
          <a:xfrm>
            <a:off x="3241548" y="3154680"/>
            <a:ext cx="219456" cy="310896"/>
          </a:xfrm>
          <a:prstGeom prst="rightArrow">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6030468" y="3154680"/>
            <a:ext cx="219456" cy="310896"/>
          </a:xfrm>
          <a:prstGeom prst="rightArrow">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8819388" y="3154680"/>
            <a:ext cx="219456" cy="310896"/>
          </a:xfrm>
          <a:prstGeom prst="rightArrow">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084064"/>
            <a:ext cx="10881360" cy="896112"/>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420" b="1" i="0">
                <a:solidFill>
                  <a:srgbClr val="444A52"/>
                </a:solidFill>
                <a:latin typeface="Calibri"/>
              </a:rPr>
              <a:t>Purposive + snowball sampling • UK &amp; EU • Informed consent, fully anonymised • Analytical, not statistical, generalisation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640080" y="393192"/>
            <a:ext cx="10927080" cy="56692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2600" b="1" i="0">
                <a:solidFill>
                  <a:srgbClr val="1F2D3D"/>
                </a:solidFill>
                <a:latin typeface="Calibri"/>
              </a:rPr>
              <a:t>Key findings from practitioners</a:t>
            </a:r>
          </a:p>
        </p:txBody>
      </p:sp>
      <p:sp>
        <p:nvSpPr>
          <p:cNvPr id="3" name="Rectangle 2"/>
          <p:cNvSpPr/>
          <p:nvPr/>
        </p:nvSpPr>
        <p:spPr>
          <a:xfrm>
            <a:off x="640080" y="1133856"/>
            <a:ext cx="10927080" cy="32004"/>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 number"/>
          <p:cNvSpPr txBox="1"/>
          <p:nvPr/>
        </p:nvSpPr>
        <p:spPr>
          <a:xfrm>
            <a:off x="11109960" y="6419088"/>
            <a:ext cx="438912" cy="219456"/>
          </a:xfrm>
          <a:prstGeom prst="rect">
            <a:avLst/>
          </a:prstGeom>
          <a:noFill/>
          <a:ln>
            <a:noFill/>
          </a:ln>
        </p:spPr>
        <p:txBody>
          <a:bodyPr wrap="square" anchor="ctr" lIns="0" rIns="0" tIns="0" bIns="0">
            <a:noAutofit/>
          </a:bodyPr>
          <a:lstStyle/>
          <a:p>
            <a:pPr algn="r">
              <a:lnSpc>
                <a:spcPct val="100000"/>
              </a:lnSpc>
              <a:spcBef>
                <a:spcPts val="0"/>
              </a:spcBef>
              <a:spcAft>
                <a:spcPts val="0"/>
              </a:spcAft>
            </a:pPr>
            <a:r>
              <a:rPr sz="1100" b="0" i="0">
                <a:solidFill>
                  <a:srgbClr val="444A52"/>
                </a:solidFill>
                <a:latin typeface="Calibri"/>
              </a:rPr>
              <a:t>5</a:t>
            </a:r>
          </a:p>
        </p:txBody>
      </p:sp>
      <p:sp>
        <p:nvSpPr>
          <p:cNvPr id="5" name="TextBox 4"/>
          <p:cNvSpPr txBox="1"/>
          <p:nvPr/>
        </p:nvSpPr>
        <p:spPr>
          <a:xfrm>
            <a:off x="713232" y="1371600"/>
            <a:ext cx="5074920" cy="347472"/>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800" b="1" i="0">
                <a:solidFill>
                  <a:srgbClr val="1F2D3D"/>
                </a:solidFill>
                <a:latin typeface="Calibri"/>
              </a:rPr>
              <a:t>What we heard</a:t>
            </a:r>
          </a:p>
        </p:txBody>
      </p:sp>
      <p:sp>
        <p:nvSpPr>
          <p:cNvPr id="6" name="Oval 5"/>
          <p:cNvSpPr/>
          <p:nvPr/>
        </p:nvSpPr>
        <p:spPr>
          <a:xfrm>
            <a:off x="749808" y="1956816"/>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10512"/>
            <a:ext cx="4818888" cy="73152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80" b="0" i="0">
                <a:solidFill>
                  <a:srgbClr val="444A52"/>
                </a:solidFill>
                <a:latin typeface="Calibri"/>
              </a:rPr>
              <a:t>Automation is mature; AI is still mostly at pilot stage</a:t>
            </a:r>
          </a:p>
        </p:txBody>
      </p:sp>
      <p:sp>
        <p:nvSpPr>
          <p:cNvPr id="8" name="Oval 7"/>
          <p:cNvSpPr/>
          <p:nvPr/>
        </p:nvSpPr>
        <p:spPr>
          <a:xfrm>
            <a:off x="749808" y="2761488"/>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15184"/>
            <a:ext cx="4818888" cy="73152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80" b="0" i="0">
                <a:solidFill>
                  <a:srgbClr val="444A52"/>
                </a:solidFill>
                <a:latin typeface="Calibri"/>
              </a:rPr>
              <a:t>Routine reporting, reconciliation and monitoring are absorbed; judgement work resists</a:t>
            </a:r>
          </a:p>
        </p:txBody>
      </p:sp>
      <p:sp>
        <p:nvSpPr>
          <p:cNvPr id="10" name="Oval 9"/>
          <p:cNvSpPr/>
          <p:nvPr/>
        </p:nvSpPr>
        <p:spPr>
          <a:xfrm>
            <a:off x="749808" y="3566160"/>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419856"/>
            <a:ext cx="4818888" cy="73152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80" b="0" i="0">
                <a:solidFill>
                  <a:srgbClr val="444A52"/>
                </a:solidFill>
                <a:latin typeface="Calibri"/>
              </a:rPr>
              <a:t>Testing roles are contracting; review and design work is growing</a:t>
            </a:r>
          </a:p>
        </p:txBody>
      </p:sp>
      <p:sp>
        <p:nvSpPr>
          <p:cNvPr id="12" name="Oval 11"/>
          <p:cNvSpPr/>
          <p:nvPr/>
        </p:nvSpPr>
        <p:spPr>
          <a:xfrm>
            <a:off x="749808" y="4370832"/>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224528"/>
            <a:ext cx="4818888" cy="73152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80" b="0" i="0">
                <a:solidFill>
                  <a:srgbClr val="444A52"/>
                </a:solidFill>
                <a:latin typeface="Calibri"/>
              </a:rPr>
              <a:t>Expert human review of AI output is non-negotiable</a:t>
            </a:r>
          </a:p>
        </p:txBody>
      </p:sp>
      <p:sp>
        <p:nvSpPr>
          <p:cNvPr id="14" name="Oval 13"/>
          <p:cNvSpPr/>
          <p:nvPr/>
        </p:nvSpPr>
        <p:spPr>
          <a:xfrm>
            <a:off x="749808" y="5175504"/>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029200"/>
            <a:ext cx="4818888" cy="73152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80" b="0" i="0">
                <a:solidFill>
                  <a:srgbClr val="444A52"/>
                </a:solidFill>
                <a:latin typeface="Calibri"/>
              </a:rPr>
              <a:t>Biggest hidden risk: loss of institutional knowledge</a:t>
            </a:r>
          </a:p>
        </p:txBody>
      </p:sp>
      <p:sp>
        <p:nvSpPr>
          <p:cNvPr id="16" name="TextBox 15"/>
          <p:cNvSpPr txBox="1"/>
          <p:nvPr/>
        </p:nvSpPr>
        <p:spPr>
          <a:xfrm>
            <a:off x="6053328" y="1371600"/>
            <a:ext cx="5440680" cy="347472"/>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800" b="1" i="0">
                <a:solidFill>
                  <a:srgbClr val="1F2D3D"/>
                </a:solidFill>
                <a:latin typeface="Calibri"/>
              </a:rPr>
              <a:t>In their words</a:t>
            </a:r>
          </a:p>
        </p:txBody>
      </p:sp>
      <p:sp>
        <p:nvSpPr>
          <p:cNvPr id="17" name="Rounded Rectangle 16"/>
          <p:cNvSpPr/>
          <p:nvPr/>
        </p:nvSpPr>
        <p:spPr>
          <a:xfrm>
            <a:off x="6053328" y="1810512"/>
            <a:ext cx="5440680" cy="1115568"/>
          </a:xfrm>
          <a:prstGeom prst="roundRect">
            <a:avLst/>
          </a:prstGeom>
          <a:solidFill>
            <a:srgbClr val="E8F0F8"/>
          </a:solidFill>
          <a:ln w="1270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2784" y="1901952"/>
            <a:ext cx="5001768" cy="932688"/>
          </a:xfrm>
          <a:prstGeom prst="rect">
            <a:avLst/>
          </a:prstGeom>
          <a:noFill/>
          <a:ln>
            <a:noFill/>
          </a:ln>
        </p:spPr>
        <p:txBody>
          <a:bodyPr wrap="square" anchor="ctr" lIns="18288" rIns="18288" tIns="18288" bIns="18288">
            <a:noAutofit/>
          </a:bodyPr>
          <a:lstStyle/>
          <a:p>
            <a:pPr algn="l">
              <a:lnSpc>
                <a:spcPct val="100000"/>
              </a:lnSpc>
              <a:spcBef>
                <a:spcPts val="0"/>
              </a:spcBef>
              <a:spcAft>
                <a:spcPts val="0"/>
              </a:spcAft>
            </a:pPr>
            <a:r>
              <a:rPr sz="1620" b="0" i="1">
                <a:solidFill>
                  <a:srgbClr val="444A52"/>
                </a:solidFill>
                <a:latin typeface="Calibri"/>
              </a:rPr>
              <a:t>"C-level execs really do not understand what the AI is, and thus are likely to simply trust it."</a:t>
            </a:r>
          </a:p>
        </p:txBody>
      </p:sp>
      <p:sp>
        <p:nvSpPr>
          <p:cNvPr id="19" name="Rounded Rectangle 18"/>
          <p:cNvSpPr/>
          <p:nvPr/>
        </p:nvSpPr>
        <p:spPr>
          <a:xfrm>
            <a:off x="6053328" y="3172968"/>
            <a:ext cx="5440680" cy="1115568"/>
          </a:xfrm>
          <a:prstGeom prst="roundRect">
            <a:avLst/>
          </a:prstGeom>
          <a:solidFill>
            <a:srgbClr val="E8F0F8"/>
          </a:solidFill>
          <a:ln w="1270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2784" y="3264408"/>
            <a:ext cx="5001768" cy="932688"/>
          </a:xfrm>
          <a:prstGeom prst="rect">
            <a:avLst/>
          </a:prstGeom>
          <a:noFill/>
          <a:ln>
            <a:noFill/>
          </a:ln>
        </p:spPr>
        <p:txBody>
          <a:bodyPr wrap="square" anchor="ctr" lIns="18288" rIns="18288" tIns="18288" bIns="18288">
            <a:noAutofit/>
          </a:bodyPr>
          <a:lstStyle/>
          <a:p>
            <a:pPr algn="l">
              <a:lnSpc>
                <a:spcPct val="100000"/>
              </a:lnSpc>
              <a:spcBef>
                <a:spcPts val="0"/>
              </a:spcBef>
              <a:spcAft>
                <a:spcPts val="0"/>
              </a:spcAft>
            </a:pPr>
            <a:r>
              <a:rPr sz="1620" b="0" i="1">
                <a:solidFill>
                  <a:srgbClr val="444A52"/>
                </a:solidFill>
                <a:latin typeface="Calibri"/>
              </a:rPr>
              <a:t>"I would prioritise knowledge capture and transfer before any significant workforce reductions."</a:t>
            </a:r>
          </a:p>
        </p:txBody>
      </p:sp>
      <p:sp>
        <p:nvSpPr>
          <p:cNvPr id="21" name="Rounded Rectangle 20"/>
          <p:cNvSpPr/>
          <p:nvPr/>
        </p:nvSpPr>
        <p:spPr>
          <a:xfrm>
            <a:off x="6053328" y="4535424"/>
            <a:ext cx="5440680" cy="987552"/>
          </a:xfrm>
          <a:prstGeom prst="roundRect">
            <a:avLst/>
          </a:prstGeom>
          <a:solidFill>
            <a:srgbClr val="E8F0F8"/>
          </a:solidFill>
          <a:ln w="1270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72784" y="4626864"/>
            <a:ext cx="5001768" cy="804672"/>
          </a:xfrm>
          <a:prstGeom prst="rect">
            <a:avLst/>
          </a:prstGeom>
          <a:noFill/>
          <a:ln>
            <a:noFill/>
          </a:ln>
        </p:spPr>
        <p:txBody>
          <a:bodyPr wrap="square" anchor="ctr" lIns="18288" rIns="18288" tIns="18288" bIns="18288">
            <a:noAutofit/>
          </a:bodyPr>
          <a:lstStyle/>
          <a:p>
            <a:pPr algn="l">
              <a:lnSpc>
                <a:spcPct val="100000"/>
              </a:lnSpc>
              <a:spcBef>
                <a:spcPts val="0"/>
              </a:spcBef>
              <a:spcAft>
                <a:spcPts val="0"/>
              </a:spcAft>
            </a:pPr>
            <a:r>
              <a:rPr sz="1620" b="0" i="1">
                <a:solidFill>
                  <a:srgbClr val="444A52"/>
                </a:solidFill>
                <a:latin typeface="Calibri"/>
              </a:rPr>
              <a:t>"Business Change Management is Weak."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640080" y="393192"/>
            <a:ext cx="10927080" cy="56692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2600" b="1" i="0">
                <a:solidFill>
                  <a:srgbClr val="1F2D3D"/>
                </a:solidFill>
                <a:latin typeface="Calibri"/>
              </a:rPr>
              <a:t>Questionnaire results</a:t>
            </a:r>
          </a:p>
        </p:txBody>
      </p:sp>
      <p:sp>
        <p:nvSpPr>
          <p:cNvPr id="3" name="Rectangle 2"/>
          <p:cNvSpPr/>
          <p:nvPr/>
        </p:nvSpPr>
        <p:spPr>
          <a:xfrm>
            <a:off x="640080" y="1133856"/>
            <a:ext cx="10927080" cy="32004"/>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 number"/>
          <p:cNvSpPr txBox="1"/>
          <p:nvPr/>
        </p:nvSpPr>
        <p:spPr>
          <a:xfrm>
            <a:off x="11109960" y="6419088"/>
            <a:ext cx="438912" cy="219456"/>
          </a:xfrm>
          <a:prstGeom prst="rect">
            <a:avLst/>
          </a:prstGeom>
          <a:noFill/>
          <a:ln>
            <a:noFill/>
          </a:ln>
        </p:spPr>
        <p:txBody>
          <a:bodyPr wrap="square" anchor="ctr" lIns="0" rIns="0" tIns="0" bIns="0">
            <a:noAutofit/>
          </a:bodyPr>
          <a:lstStyle/>
          <a:p>
            <a:pPr algn="r">
              <a:lnSpc>
                <a:spcPct val="100000"/>
              </a:lnSpc>
              <a:spcBef>
                <a:spcPts val="0"/>
              </a:spcBef>
              <a:spcAft>
                <a:spcPts val="0"/>
              </a:spcAft>
            </a:pPr>
            <a:r>
              <a:rPr sz="1100" b="0" i="0">
                <a:solidFill>
                  <a:srgbClr val="444A52"/>
                </a:solidFill>
                <a:latin typeface="Calibri"/>
              </a:rPr>
              <a:t>6</a:t>
            </a:r>
          </a:p>
        </p:txBody>
      </p:sp>
      <p:graphicFrame>
        <p:nvGraphicFramePr>
          <p:cNvPr id="5" name="Chart 4"/>
          <p:cNvGraphicFramePr>
            <a:graphicFrameLocks noGrp="1"/>
          </p:cNvGraphicFramePr>
          <p:nvPr/>
        </p:nvGraphicFramePr>
        <p:xfrm>
          <a:off x="502920" y="1389888"/>
          <a:ext cx="6446520" cy="4498848"/>
        </p:xfrm>
        <a:graphic>
          <a:graphicData uri="http://schemas.openxmlformats.org/drawingml/2006/chart">
            <c:chart xmlns:c="http://schemas.openxmlformats.org/drawingml/2006/chart" r:id="rId3"/>
          </a:graphicData>
        </a:graphic>
      </p:graphicFrame>
      <p:sp>
        <p:nvSpPr>
          <p:cNvPr id="6" name="Oval 5"/>
          <p:cNvSpPr/>
          <p:nvPr/>
        </p:nvSpPr>
        <p:spPr>
          <a:xfrm>
            <a:off x="7114032" y="1719072"/>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70064" y="1572768"/>
            <a:ext cx="4151376" cy="877824"/>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80" b="0" i="0">
                <a:solidFill>
                  <a:srgbClr val="444A52"/>
                </a:solidFill>
                <a:latin typeface="Calibri"/>
              </a:rPr>
              <a:t>Usability–transparency gap: easy to use (4.33) but hard to see into (3.33)</a:t>
            </a:r>
          </a:p>
        </p:txBody>
      </p:sp>
      <p:sp>
        <p:nvSpPr>
          <p:cNvPr id="8" name="Oval 7"/>
          <p:cNvSpPr/>
          <p:nvPr/>
        </p:nvSpPr>
        <p:spPr>
          <a:xfrm>
            <a:off x="7114032" y="2724912"/>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70064" y="2578608"/>
            <a:ext cx="4151376" cy="877824"/>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80" b="0" i="0">
                <a:solidFill>
                  <a:srgbClr val="444A52"/>
                </a:solidFill>
                <a:latin typeface="Calibri"/>
              </a:rPr>
              <a:t>Role change expected (4.33); personal concern varies most</a:t>
            </a:r>
          </a:p>
        </p:txBody>
      </p:sp>
      <p:sp>
        <p:nvSpPr>
          <p:cNvPr id="10" name="Oval 9"/>
          <p:cNvSpPr/>
          <p:nvPr/>
        </p:nvSpPr>
        <p:spPr>
          <a:xfrm>
            <a:off x="7114032" y="3730752"/>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3584448"/>
            <a:ext cx="4151376" cy="877824"/>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80" b="0" i="0">
                <a:solidFill>
                  <a:srgbClr val="444A52"/>
                </a:solidFill>
                <a:latin typeface="Calibri"/>
              </a:rPr>
              <a:t>Training (3.33) lags rising data &amp; judgement skills (4.00)</a:t>
            </a:r>
          </a:p>
        </p:txBody>
      </p:sp>
      <p:sp>
        <p:nvSpPr>
          <p:cNvPr id="12" name="Oval 11"/>
          <p:cNvSpPr/>
          <p:nvPr/>
        </p:nvSpPr>
        <p:spPr>
          <a:xfrm>
            <a:off x="7114032" y="4736592"/>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0064" y="4590288"/>
            <a:ext cx="4151376" cy="877824"/>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580" b="0" i="0">
                <a:solidFill>
                  <a:srgbClr val="444A52"/>
                </a:solidFill>
                <a:latin typeface="Calibri"/>
              </a:rPr>
              <a:t>Oversight exists (4.00) but not clearly operationalised (3.67)</a:t>
            </a:r>
          </a:p>
        </p:txBody>
      </p:sp>
      <p:sp>
        <p:nvSpPr>
          <p:cNvPr id="14" name="TextBox 13"/>
          <p:cNvSpPr txBox="1"/>
          <p:nvPr/>
        </p:nvSpPr>
        <p:spPr>
          <a:xfrm>
            <a:off x="621792" y="5989320"/>
            <a:ext cx="9966960" cy="310896"/>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400" b="0" i="1">
                <a:solidFill>
                  <a:srgbClr val="444A52"/>
                </a:solidFill>
                <a:latin typeface="Calibri"/>
              </a:rPr>
              <a:t>Scale 1–5; replaceability higher = more concern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640080" y="393192"/>
            <a:ext cx="10927080" cy="56692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2600" b="1" i="0">
                <a:solidFill>
                  <a:srgbClr val="1F2D3D"/>
                </a:solidFill>
                <a:latin typeface="Calibri"/>
              </a:rPr>
              <a:t>How GRC jobs are changing</a:t>
            </a:r>
          </a:p>
        </p:txBody>
      </p:sp>
      <p:sp>
        <p:nvSpPr>
          <p:cNvPr id="3" name="Rectangle 2"/>
          <p:cNvSpPr/>
          <p:nvPr/>
        </p:nvSpPr>
        <p:spPr>
          <a:xfrm>
            <a:off x="640080" y="1133856"/>
            <a:ext cx="10927080" cy="32004"/>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 number"/>
          <p:cNvSpPr txBox="1"/>
          <p:nvPr/>
        </p:nvSpPr>
        <p:spPr>
          <a:xfrm>
            <a:off x="11109960" y="6419088"/>
            <a:ext cx="438912" cy="219456"/>
          </a:xfrm>
          <a:prstGeom prst="rect">
            <a:avLst/>
          </a:prstGeom>
          <a:noFill/>
          <a:ln>
            <a:noFill/>
          </a:ln>
        </p:spPr>
        <p:txBody>
          <a:bodyPr wrap="square" anchor="ctr" lIns="0" rIns="0" tIns="0" bIns="0">
            <a:noAutofit/>
          </a:bodyPr>
          <a:lstStyle/>
          <a:p>
            <a:pPr algn="r">
              <a:lnSpc>
                <a:spcPct val="100000"/>
              </a:lnSpc>
              <a:spcBef>
                <a:spcPts val="0"/>
              </a:spcBef>
              <a:spcAft>
                <a:spcPts val="0"/>
              </a:spcAft>
            </a:pPr>
            <a:r>
              <a:rPr sz="1100" b="0" i="0">
                <a:solidFill>
                  <a:srgbClr val="444A52"/>
                </a:solidFill>
                <a:latin typeface="Calibri"/>
              </a:rPr>
              <a:t>7</a:t>
            </a:r>
          </a:p>
        </p:txBody>
      </p:sp>
      <p:graphicFrame>
        <p:nvGraphicFramePr>
          <p:cNvPr id="5" name="Table 4"/>
          <p:cNvGraphicFramePr>
            <a:graphicFrameLocks noGrp="1"/>
          </p:cNvGraphicFramePr>
          <p:nvPr/>
        </p:nvGraphicFramePr>
        <p:xfrm>
          <a:off x="566928" y="1389888"/>
          <a:ext cx="7406640" cy="4251960"/>
        </p:xfrm>
        <a:graphic>
          <a:graphicData uri="http://schemas.openxmlformats.org/drawingml/2006/table">
            <a:tbl>
              <a:tblPr firstRow="1" bandRow="1">
                <a:tableStyleId>{5C22544A-7EE6-4342-B048-85BDC9FD1C3A}</a:tableStyleId>
              </a:tblPr>
              <a:tblGrid>
                <a:gridCol w="1572768"/>
                <a:gridCol w="2468880"/>
                <a:gridCol w="3364992"/>
              </a:tblGrid>
              <a:tr h="429768">
                <a:tc>
                  <a:txBody>
                    <a:bodyPr/>
                    <a:lstStyle/>
                    <a:p>
                      <a:pPr algn="l">
                        <a:lnSpc>
                          <a:spcPct val="95000"/>
                        </a:lnSpc>
                        <a:spcAft>
                          <a:spcPts val="0"/>
                        </a:spcAft>
                      </a:pPr>
                      <a:r>
                        <a:rPr sz="1200" b="1">
                          <a:solidFill>
                            <a:srgbClr val="FFFFFF"/>
                          </a:solidFill>
                          <a:latin typeface="Calibri"/>
                        </a:rPr>
                        <a:t>Role</a:t>
                      </a:r>
                    </a:p>
                  </a:txBody>
                  <a:tcPr marL="73152" marR="54864" marT="32004" marB="32004" anchor="ctr">
                    <a:solidFill>
                      <a:srgbClr val="1F2D3D"/>
                    </a:solidFill>
                  </a:tcPr>
                </a:tc>
                <a:tc>
                  <a:txBody>
                    <a:bodyPr/>
                    <a:lstStyle/>
                    <a:p>
                      <a:pPr algn="l">
                        <a:lnSpc>
                          <a:spcPct val="95000"/>
                        </a:lnSpc>
                        <a:spcAft>
                          <a:spcPts val="0"/>
                        </a:spcAft>
                      </a:pPr>
                      <a:r>
                        <a:rPr sz="1200" b="1">
                          <a:solidFill>
                            <a:srgbClr val="FFFFFF"/>
                          </a:solidFill>
                          <a:latin typeface="Calibri"/>
                        </a:rPr>
                        <a:t>From</a:t>
                      </a:r>
                    </a:p>
                  </a:txBody>
                  <a:tcPr marL="73152" marR="54864" marT="32004" marB="32004" anchor="ctr">
                    <a:solidFill>
                      <a:srgbClr val="1F2D3D"/>
                    </a:solidFill>
                  </a:tcPr>
                </a:tc>
                <a:tc>
                  <a:txBody>
                    <a:bodyPr/>
                    <a:lstStyle/>
                    <a:p>
                      <a:pPr algn="l">
                        <a:lnSpc>
                          <a:spcPct val="95000"/>
                        </a:lnSpc>
                        <a:spcAft>
                          <a:spcPts val="0"/>
                        </a:spcAft>
                      </a:pPr>
                      <a:r>
                        <a:rPr sz="1200" b="1">
                          <a:solidFill>
                            <a:srgbClr val="FFFFFF"/>
                          </a:solidFill>
                          <a:latin typeface="Calibri"/>
                        </a:rPr>
                        <a:t>To</a:t>
                      </a:r>
                    </a:p>
                  </a:txBody>
                  <a:tcPr marL="73152" marR="54864" marT="32004" marB="32004" anchor="ctr">
                    <a:solidFill>
                      <a:srgbClr val="1F2D3D"/>
                    </a:solidFill>
                  </a:tcPr>
                </a:tc>
              </a:tr>
              <a:tr h="749808">
                <a:tc>
                  <a:txBody>
                    <a:bodyPr/>
                    <a:lstStyle/>
                    <a:p>
                      <a:pPr algn="l">
                        <a:lnSpc>
                          <a:spcPct val="95000"/>
                        </a:lnSpc>
                        <a:spcAft>
                          <a:spcPts val="0"/>
                        </a:spcAft>
                      </a:pPr>
                      <a:r>
                        <a:rPr sz="1150" b="0">
                          <a:solidFill>
                            <a:srgbClr val="444A52"/>
                          </a:solidFill>
                          <a:latin typeface="Calibri"/>
                        </a:rPr>
                        <a:t>KYC / AML analyst</a:t>
                      </a:r>
                    </a:p>
                  </a:txBody>
                  <a:tcPr marL="73152" marR="54864" marT="32004" marB="32004" anchor="ctr">
                    <a:solidFill>
                      <a:srgbClr val="FFFFFF"/>
                    </a:solidFill>
                  </a:tcPr>
                </a:tc>
                <a:tc>
                  <a:txBody>
                    <a:bodyPr/>
                    <a:lstStyle/>
                    <a:p>
                      <a:pPr algn="l">
                        <a:lnSpc>
                          <a:spcPct val="95000"/>
                        </a:lnSpc>
                        <a:spcAft>
                          <a:spcPts val="0"/>
                        </a:spcAft>
                      </a:pPr>
                      <a:r>
                        <a:rPr sz="1150" b="0">
                          <a:solidFill>
                            <a:srgbClr val="444A52"/>
                          </a:solidFill>
                          <a:latin typeface="Calibri"/>
                        </a:rPr>
                        <a:t>Data entry, alert clearing</a:t>
                      </a:r>
                    </a:p>
                  </a:txBody>
                  <a:tcPr marL="73152" marR="54864" marT="32004" marB="32004" anchor="ctr">
                    <a:solidFill>
                      <a:srgbClr val="FFFFFF"/>
                    </a:solidFill>
                  </a:tcPr>
                </a:tc>
                <a:tc>
                  <a:txBody>
                    <a:bodyPr/>
                    <a:lstStyle/>
                    <a:p>
                      <a:pPr algn="l">
                        <a:lnSpc>
                          <a:spcPct val="95000"/>
                        </a:lnSpc>
                        <a:spcAft>
                          <a:spcPts val="0"/>
                        </a:spcAft>
                      </a:pPr>
                      <a:r>
                        <a:rPr sz="1150" b="0">
                          <a:solidFill>
                            <a:srgbClr val="444A52"/>
                          </a:solidFill>
                          <a:latin typeface="Calibri"/>
                        </a:rPr>
                        <a:t>Exception handling, investigating AI-prioritised cases</a:t>
                      </a:r>
                    </a:p>
                  </a:txBody>
                  <a:tcPr marL="73152" marR="54864" marT="32004" marB="32004" anchor="ctr">
                    <a:solidFill>
                      <a:srgbClr val="FFFFFF"/>
                    </a:solidFill>
                  </a:tcPr>
                </a:tc>
              </a:tr>
              <a:tr h="749808">
                <a:tc>
                  <a:txBody>
                    <a:bodyPr/>
                    <a:lstStyle/>
                    <a:p>
                      <a:pPr algn="l">
                        <a:lnSpc>
                          <a:spcPct val="95000"/>
                        </a:lnSpc>
                        <a:spcAft>
                          <a:spcPts val="0"/>
                        </a:spcAft>
                      </a:pPr>
                      <a:r>
                        <a:rPr sz="1150" b="0">
                          <a:solidFill>
                            <a:srgbClr val="444A52"/>
                          </a:solidFill>
                          <a:latin typeface="Calibri"/>
                        </a:rPr>
                        <a:t>Control testing</a:t>
                      </a:r>
                    </a:p>
                  </a:txBody>
                  <a:tcPr marL="73152" marR="54864" marT="32004" marB="32004" anchor="ctr">
                    <a:solidFill>
                      <a:srgbClr val="F4F5F6"/>
                    </a:solidFill>
                  </a:tcPr>
                </a:tc>
                <a:tc>
                  <a:txBody>
                    <a:bodyPr/>
                    <a:lstStyle/>
                    <a:p>
                      <a:pPr algn="l">
                        <a:lnSpc>
                          <a:spcPct val="95000"/>
                        </a:lnSpc>
                        <a:spcAft>
                          <a:spcPts val="0"/>
                        </a:spcAft>
                      </a:pPr>
                      <a:r>
                        <a:rPr sz="1150" b="0">
                          <a:solidFill>
                            <a:srgbClr val="444A52"/>
                          </a:solidFill>
                          <a:latin typeface="Calibri"/>
                        </a:rPr>
                        <a:t>Manual sample testing</a:t>
                      </a:r>
                    </a:p>
                  </a:txBody>
                  <a:tcPr marL="73152" marR="54864" marT="32004" marB="32004" anchor="ctr">
                    <a:solidFill>
                      <a:srgbClr val="F4F5F6"/>
                    </a:solidFill>
                  </a:tcPr>
                </a:tc>
                <a:tc>
                  <a:txBody>
                    <a:bodyPr/>
                    <a:lstStyle/>
                    <a:p>
                      <a:pPr algn="l">
                        <a:lnSpc>
                          <a:spcPct val="95000"/>
                        </a:lnSpc>
                        <a:spcAft>
                          <a:spcPts val="0"/>
                        </a:spcAft>
                      </a:pPr>
                      <a:r>
                        <a:rPr sz="1150" b="0">
                          <a:solidFill>
                            <a:srgbClr val="444A52"/>
                          </a:solidFill>
                          <a:latin typeface="Calibri"/>
                        </a:rPr>
                        <a:t>Continuous monitoring, validating automated tests</a:t>
                      </a:r>
                    </a:p>
                  </a:txBody>
                  <a:tcPr marL="73152" marR="54864" marT="32004" marB="32004" anchor="ctr">
                    <a:solidFill>
                      <a:srgbClr val="F4F5F6"/>
                    </a:solidFill>
                  </a:tcPr>
                </a:tc>
              </a:tr>
              <a:tr h="749808">
                <a:tc>
                  <a:txBody>
                    <a:bodyPr/>
                    <a:lstStyle/>
                    <a:p>
                      <a:pPr algn="l">
                        <a:lnSpc>
                          <a:spcPct val="95000"/>
                        </a:lnSpc>
                        <a:spcAft>
                          <a:spcPts val="0"/>
                        </a:spcAft>
                      </a:pPr>
                      <a:r>
                        <a:rPr sz="1150" b="0">
                          <a:solidFill>
                            <a:srgbClr val="444A52"/>
                          </a:solidFill>
                          <a:latin typeface="Calibri"/>
                        </a:rPr>
                        <a:t>Model validation</a:t>
                      </a:r>
                    </a:p>
                  </a:txBody>
                  <a:tcPr marL="73152" marR="54864" marT="32004" marB="32004" anchor="ctr">
                    <a:solidFill>
                      <a:srgbClr val="FFFFFF"/>
                    </a:solidFill>
                  </a:tcPr>
                </a:tc>
                <a:tc>
                  <a:txBody>
                    <a:bodyPr/>
                    <a:lstStyle/>
                    <a:p>
                      <a:pPr algn="l">
                        <a:lnSpc>
                          <a:spcPct val="95000"/>
                        </a:lnSpc>
                        <a:spcAft>
                          <a:spcPts val="0"/>
                        </a:spcAft>
                      </a:pPr>
                      <a:r>
                        <a:rPr sz="1150" b="0">
                          <a:solidFill>
                            <a:srgbClr val="444A52"/>
                          </a:solidFill>
                          <a:latin typeface="Calibri"/>
                        </a:rPr>
                        <a:t>Statistical models</a:t>
                      </a:r>
                    </a:p>
                  </a:txBody>
                  <a:tcPr marL="73152" marR="54864" marT="32004" marB="32004" anchor="ctr">
                    <a:solidFill>
                      <a:srgbClr val="FFFFFF"/>
                    </a:solidFill>
                  </a:tcPr>
                </a:tc>
                <a:tc>
                  <a:txBody>
                    <a:bodyPr/>
                    <a:lstStyle/>
                    <a:p>
                      <a:pPr algn="l">
                        <a:lnSpc>
                          <a:spcPct val="95000"/>
                        </a:lnSpc>
                        <a:spcAft>
                          <a:spcPts val="0"/>
                        </a:spcAft>
                      </a:pPr>
                      <a:r>
                        <a:rPr sz="1150" b="0">
                          <a:solidFill>
                            <a:srgbClr val="444A52"/>
                          </a:solidFill>
                          <a:latin typeface="Calibri"/>
                        </a:rPr>
                        <a:t>ML / GenAI, bias, explainability, LLM evaluation</a:t>
                      </a:r>
                    </a:p>
                  </a:txBody>
                  <a:tcPr marL="73152" marR="54864" marT="32004" marB="32004" anchor="ctr">
                    <a:solidFill>
                      <a:srgbClr val="FFFFFF"/>
                    </a:solidFill>
                  </a:tcPr>
                </a:tc>
              </a:tr>
              <a:tr h="749808">
                <a:tc>
                  <a:txBody>
                    <a:bodyPr/>
                    <a:lstStyle/>
                    <a:p>
                      <a:pPr algn="l">
                        <a:lnSpc>
                          <a:spcPct val="95000"/>
                        </a:lnSpc>
                        <a:spcAft>
                          <a:spcPts val="0"/>
                        </a:spcAft>
                      </a:pPr>
                      <a:r>
                        <a:rPr sz="1150" b="0">
                          <a:solidFill>
                            <a:srgbClr val="444A52"/>
                          </a:solidFill>
                          <a:latin typeface="Calibri"/>
                        </a:rPr>
                        <a:t>Regulatory change</a:t>
                      </a:r>
                    </a:p>
                  </a:txBody>
                  <a:tcPr marL="73152" marR="54864" marT="32004" marB="32004" anchor="ctr">
                    <a:solidFill>
                      <a:srgbClr val="F4F5F6"/>
                    </a:solidFill>
                  </a:tcPr>
                </a:tc>
                <a:tc>
                  <a:txBody>
                    <a:bodyPr/>
                    <a:lstStyle/>
                    <a:p>
                      <a:pPr algn="l">
                        <a:lnSpc>
                          <a:spcPct val="95000"/>
                        </a:lnSpc>
                        <a:spcAft>
                          <a:spcPts val="0"/>
                        </a:spcAft>
                      </a:pPr>
                      <a:r>
                        <a:rPr sz="1150" b="0">
                          <a:solidFill>
                            <a:srgbClr val="444A52"/>
                          </a:solidFill>
                          <a:latin typeface="Calibri"/>
                        </a:rPr>
                        <a:t>Reading &amp; summarising rules</a:t>
                      </a:r>
                    </a:p>
                  </a:txBody>
                  <a:tcPr marL="73152" marR="54864" marT="32004" marB="32004" anchor="ctr">
                    <a:solidFill>
                      <a:srgbClr val="F4F5F6"/>
                    </a:solidFill>
                  </a:tcPr>
                </a:tc>
                <a:tc>
                  <a:txBody>
                    <a:bodyPr/>
                    <a:lstStyle/>
                    <a:p>
                      <a:pPr algn="l">
                        <a:lnSpc>
                          <a:spcPct val="95000"/>
                        </a:lnSpc>
                        <a:spcAft>
                          <a:spcPts val="0"/>
                        </a:spcAft>
                      </a:pPr>
                      <a:r>
                        <a:rPr sz="1150" b="0">
                          <a:solidFill>
                            <a:srgbClr val="444A52"/>
                          </a:solidFill>
                          <a:latin typeface="Calibri"/>
                        </a:rPr>
                        <a:t>Validating AI obligation mapping, interpreting intent</a:t>
                      </a:r>
                    </a:p>
                  </a:txBody>
                  <a:tcPr marL="73152" marR="54864" marT="32004" marB="32004" anchor="ctr">
                    <a:solidFill>
                      <a:srgbClr val="F4F5F6"/>
                    </a:solidFill>
                  </a:tcPr>
                </a:tc>
              </a:tr>
              <a:tr h="822960">
                <a:tc>
                  <a:txBody>
                    <a:bodyPr/>
                    <a:lstStyle/>
                    <a:p>
                      <a:pPr algn="l">
                        <a:lnSpc>
                          <a:spcPct val="95000"/>
                        </a:lnSpc>
                        <a:spcAft>
                          <a:spcPts val="0"/>
                        </a:spcAft>
                      </a:pPr>
                      <a:r>
                        <a:rPr sz="1150" b="0">
                          <a:solidFill>
                            <a:srgbClr val="444A52"/>
                          </a:solidFill>
                          <a:latin typeface="Calibri"/>
                        </a:rPr>
                        <a:t>Internal audit</a:t>
                      </a:r>
                    </a:p>
                  </a:txBody>
                  <a:tcPr marL="73152" marR="54864" marT="32004" marB="32004" anchor="ctr">
                    <a:solidFill>
                      <a:srgbClr val="FFFFFF"/>
                    </a:solidFill>
                  </a:tcPr>
                </a:tc>
                <a:tc>
                  <a:txBody>
                    <a:bodyPr/>
                    <a:lstStyle/>
                    <a:p>
                      <a:pPr algn="l">
                        <a:lnSpc>
                          <a:spcPct val="95000"/>
                        </a:lnSpc>
                        <a:spcAft>
                          <a:spcPts val="0"/>
                        </a:spcAft>
                      </a:pPr>
                      <a:r>
                        <a:rPr sz="1150" b="0">
                          <a:solidFill>
                            <a:srgbClr val="444A52"/>
                          </a:solidFill>
                          <a:latin typeface="Calibri"/>
                        </a:rPr>
                        <a:t>Cyclical assurance</a:t>
                      </a:r>
                    </a:p>
                  </a:txBody>
                  <a:tcPr marL="73152" marR="54864" marT="32004" marB="32004" anchor="ctr">
                    <a:solidFill>
                      <a:srgbClr val="FFFFFF"/>
                    </a:solidFill>
                  </a:tcPr>
                </a:tc>
                <a:tc>
                  <a:txBody>
                    <a:bodyPr/>
                    <a:lstStyle/>
                    <a:p>
                      <a:pPr algn="l">
                        <a:lnSpc>
                          <a:spcPct val="95000"/>
                        </a:lnSpc>
                        <a:spcAft>
                          <a:spcPts val="0"/>
                        </a:spcAft>
                      </a:pPr>
                      <a:r>
                        <a:rPr sz="1150" b="0">
                          <a:solidFill>
                            <a:srgbClr val="444A52"/>
                          </a:solidFill>
                          <a:latin typeface="Calibri"/>
                        </a:rPr>
                        <a:t>Data-led auditing; advisory 24% → 41% (IIA, 2035)</a:t>
                      </a:r>
                    </a:p>
                  </a:txBody>
                  <a:tcPr marL="73152" marR="54864" marT="32004" marB="32004" anchor="ctr">
                    <a:solidFill>
                      <a:srgbClr val="FFFFFF"/>
                    </a:solidFill>
                  </a:tcPr>
                </a:tc>
              </a:tr>
            </a:tbl>
          </a:graphicData>
        </a:graphic>
      </p:graphicFrame>
      <p:sp>
        <p:nvSpPr>
          <p:cNvPr id="6" name="Rounded Rectangle 5"/>
          <p:cNvSpPr/>
          <p:nvPr/>
        </p:nvSpPr>
        <p:spPr>
          <a:xfrm>
            <a:off x="8229600" y="1389888"/>
            <a:ext cx="3364992" cy="4325112"/>
          </a:xfrm>
          <a:prstGeom prst="roundRect">
            <a:avLst/>
          </a:prstGeom>
          <a:solidFill>
            <a:srgbClr val="E8F0F8"/>
          </a:solidFill>
          <a:ln w="1270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94192" y="1527048"/>
            <a:ext cx="3035808" cy="685800"/>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500" b="1" i="0">
                <a:solidFill>
                  <a:srgbClr val="1F2D3D"/>
                </a:solidFill>
                <a:latin typeface="Calibri"/>
              </a:rPr>
              <a:t>New roles (share of AI risk postings, GSDC 2026)</a:t>
            </a:r>
          </a:p>
        </p:txBody>
      </p:sp>
      <p:sp>
        <p:nvSpPr>
          <p:cNvPr id="8" name="Oval 7"/>
          <p:cNvSpPr/>
          <p:nvPr/>
        </p:nvSpPr>
        <p:spPr>
          <a:xfrm>
            <a:off x="8394192" y="2496312"/>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50224" y="2350008"/>
            <a:ext cx="2779776" cy="530352"/>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420" b="0" i="0">
                <a:solidFill>
                  <a:srgbClr val="444A52"/>
                </a:solidFill>
                <a:latin typeface="Calibri"/>
              </a:rPr>
              <a:t>AI Compliance Officer 22%</a:t>
            </a:r>
          </a:p>
        </p:txBody>
      </p:sp>
      <p:sp>
        <p:nvSpPr>
          <p:cNvPr id="10" name="Oval 9"/>
          <p:cNvSpPr/>
          <p:nvPr/>
        </p:nvSpPr>
        <p:spPr>
          <a:xfrm>
            <a:off x="8394192" y="3099816"/>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50224" y="2953512"/>
            <a:ext cx="2779776" cy="530352"/>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420" b="0" i="0">
                <a:solidFill>
                  <a:srgbClr val="444A52"/>
                </a:solidFill>
                <a:latin typeface="Calibri"/>
              </a:rPr>
              <a:t>Model Risk Manager 18%</a:t>
            </a:r>
          </a:p>
        </p:txBody>
      </p:sp>
      <p:sp>
        <p:nvSpPr>
          <p:cNvPr id="12" name="Oval 11"/>
          <p:cNvSpPr/>
          <p:nvPr/>
        </p:nvSpPr>
        <p:spPr>
          <a:xfrm>
            <a:off x="8394192" y="3703320"/>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0224" y="3557015"/>
            <a:ext cx="2779776" cy="530352"/>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420" b="0" i="0">
                <a:solidFill>
                  <a:srgbClr val="444A52"/>
                </a:solidFill>
                <a:latin typeface="Calibri"/>
              </a:rPr>
              <a:t>Responsible AI Lead 14%</a:t>
            </a:r>
          </a:p>
        </p:txBody>
      </p:sp>
      <p:sp>
        <p:nvSpPr>
          <p:cNvPr id="14" name="Oval 13"/>
          <p:cNvSpPr/>
          <p:nvPr/>
        </p:nvSpPr>
        <p:spPr>
          <a:xfrm>
            <a:off x="8394192" y="4306824"/>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50224" y="4160520"/>
            <a:ext cx="2779776" cy="530352"/>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420" b="0" i="0">
                <a:solidFill>
                  <a:srgbClr val="444A52"/>
                </a:solidFill>
                <a:latin typeface="Calibri"/>
              </a:rPr>
              <a:t>AI Governance Analyst 12%</a:t>
            </a:r>
          </a:p>
        </p:txBody>
      </p:sp>
      <p:sp>
        <p:nvSpPr>
          <p:cNvPr id="16" name="Oval 15"/>
          <p:cNvSpPr/>
          <p:nvPr/>
        </p:nvSpPr>
        <p:spPr>
          <a:xfrm>
            <a:off x="8394192" y="4910328"/>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50224" y="4764024"/>
            <a:ext cx="2779776" cy="530352"/>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420" b="0" i="0">
                <a:solidFill>
                  <a:srgbClr val="444A52"/>
                </a:solidFill>
                <a:latin typeface="Calibri"/>
              </a:rPr>
              <a:t>AI Audit Lead 8%</a:t>
            </a:r>
          </a:p>
        </p:txBody>
      </p:sp>
      <p:sp>
        <p:nvSpPr>
          <p:cNvPr id="18" name="TextBox 17"/>
          <p:cNvSpPr txBox="1"/>
          <p:nvPr/>
        </p:nvSpPr>
        <p:spPr>
          <a:xfrm>
            <a:off x="731520" y="5852160"/>
            <a:ext cx="10835640" cy="329184"/>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550" b="1" i="0">
                <a:solidFill>
                  <a:srgbClr val="1F2D3D"/>
                </a:solidFill>
                <a:latin typeface="Calibri"/>
              </a:rPr>
              <a:t>Hybrid skills (regulation + model lifecycle) command a 24% premium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640080" y="393192"/>
            <a:ext cx="10927080" cy="56692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2600" b="1" i="0">
                <a:solidFill>
                  <a:srgbClr val="1F2D3D"/>
                </a:solidFill>
                <a:latin typeface="Calibri"/>
              </a:rPr>
              <a:t>Workforce transformation framework</a:t>
            </a:r>
          </a:p>
        </p:txBody>
      </p:sp>
      <p:sp>
        <p:nvSpPr>
          <p:cNvPr id="3" name="Rectangle 2"/>
          <p:cNvSpPr/>
          <p:nvPr/>
        </p:nvSpPr>
        <p:spPr>
          <a:xfrm>
            <a:off x="640080" y="1133856"/>
            <a:ext cx="10927080" cy="32004"/>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 number"/>
          <p:cNvSpPr txBox="1"/>
          <p:nvPr/>
        </p:nvSpPr>
        <p:spPr>
          <a:xfrm>
            <a:off x="11109960" y="6419088"/>
            <a:ext cx="438912" cy="219456"/>
          </a:xfrm>
          <a:prstGeom prst="rect">
            <a:avLst/>
          </a:prstGeom>
          <a:noFill/>
          <a:ln>
            <a:noFill/>
          </a:ln>
        </p:spPr>
        <p:txBody>
          <a:bodyPr wrap="square" anchor="ctr" lIns="0" rIns="0" tIns="0" bIns="0">
            <a:noAutofit/>
          </a:bodyPr>
          <a:lstStyle/>
          <a:p>
            <a:pPr algn="r">
              <a:lnSpc>
                <a:spcPct val="100000"/>
              </a:lnSpc>
              <a:spcBef>
                <a:spcPts val="0"/>
              </a:spcBef>
              <a:spcAft>
                <a:spcPts val="0"/>
              </a:spcAft>
            </a:pPr>
            <a:r>
              <a:rPr sz="1100" b="0" i="0">
                <a:solidFill>
                  <a:srgbClr val="444A52"/>
                </a:solidFill>
                <a:latin typeface="Calibri"/>
              </a:rPr>
              <a:t>8</a:t>
            </a:r>
          </a:p>
        </p:txBody>
      </p:sp>
      <p:sp>
        <p:nvSpPr>
          <p:cNvPr id="5" name="Rounded Rectangle 4"/>
          <p:cNvSpPr/>
          <p:nvPr/>
        </p:nvSpPr>
        <p:spPr>
          <a:xfrm>
            <a:off x="585216" y="1874519"/>
            <a:ext cx="1417320" cy="1920240"/>
          </a:xfrm>
          <a:prstGeom prst="roundRect">
            <a:avLst/>
          </a:prstGeom>
          <a:solidFill>
            <a:srgbClr val="E8F0F8"/>
          </a:solidFill>
          <a:ln w="1524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88136" y="2039112"/>
            <a:ext cx="411480" cy="41148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 y="2057400"/>
            <a:ext cx="411480" cy="365760"/>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600" b="1" i="0">
                <a:solidFill>
                  <a:srgbClr val="FFFFFF"/>
                </a:solidFill>
                <a:latin typeface="Calibri"/>
              </a:rPr>
              <a:t>1</a:t>
            </a:r>
          </a:p>
        </p:txBody>
      </p:sp>
      <p:sp>
        <p:nvSpPr>
          <p:cNvPr id="8" name="TextBox 7"/>
          <p:cNvSpPr txBox="1"/>
          <p:nvPr/>
        </p:nvSpPr>
        <p:spPr>
          <a:xfrm>
            <a:off x="676656" y="2587752"/>
            <a:ext cx="1234440" cy="1024128"/>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410" b="1" i="0">
                <a:solidFill>
                  <a:srgbClr val="1F2D3D"/>
                </a:solidFill>
                <a:latin typeface="Calibri"/>
              </a:rPr>
              <a:t>Diagnose</a:t>
            </a:r>
          </a:p>
        </p:txBody>
      </p:sp>
      <p:sp>
        <p:nvSpPr>
          <p:cNvPr id="9" name="Right Arrow 8"/>
          <p:cNvSpPr/>
          <p:nvPr/>
        </p:nvSpPr>
        <p:spPr>
          <a:xfrm>
            <a:off x="2016252" y="2715768"/>
            <a:ext cx="155448" cy="228600"/>
          </a:xfrm>
          <a:prstGeom prst="rightArrow">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185416" y="1874519"/>
            <a:ext cx="1417320" cy="1920240"/>
          </a:xfrm>
          <a:prstGeom prst="roundRect">
            <a:avLst/>
          </a:prstGeom>
          <a:solidFill>
            <a:srgbClr val="DBEAF8"/>
          </a:solidFill>
          <a:ln w="1524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88336" y="2039112"/>
            <a:ext cx="411480" cy="411480"/>
          </a:xfrm>
          <a:prstGeom prst="ellipse">
            <a:avLst/>
          </a:prstGeom>
          <a:solidFill>
            <a:srgbClr val="1F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88336" y="2057400"/>
            <a:ext cx="411480" cy="365760"/>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600" b="1" i="0">
                <a:solidFill>
                  <a:srgbClr val="FFFFFF"/>
                </a:solidFill>
                <a:latin typeface="Calibri"/>
              </a:rPr>
              <a:t>2</a:t>
            </a:r>
          </a:p>
        </p:txBody>
      </p:sp>
      <p:sp>
        <p:nvSpPr>
          <p:cNvPr id="13" name="TextBox 12"/>
          <p:cNvSpPr txBox="1"/>
          <p:nvPr/>
        </p:nvSpPr>
        <p:spPr>
          <a:xfrm>
            <a:off x="2276856" y="2587752"/>
            <a:ext cx="1234440" cy="1024128"/>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410" b="1" i="0">
                <a:solidFill>
                  <a:srgbClr val="1F2D3D"/>
                </a:solidFill>
                <a:latin typeface="Calibri"/>
              </a:rPr>
              <a:t>Protect knowledge</a:t>
            </a:r>
          </a:p>
        </p:txBody>
      </p:sp>
      <p:sp>
        <p:nvSpPr>
          <p:cNvPr id="14" name="Right Arrow 13"/>
          <p:cNvSpPr/>
          <p:nvPr/>
        </p:nvSpPr>
        <p:spPr>
          <a:xfrm>
            <a:off x="3616452" y="2715768"/>
            <a:ext cx="155448" cy="228600"/>
          </a:xfrm>
          <a:prstGeom prst="rightArrow">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785615" y="1874519"/>
            <a:ext cx="1417320" cy="1920240"/>
          </a:xfrm>
          <a:prstGeom prst="roundRect">
            <a:avLst/>
          </a:prstGeom>
          <a:solidFill>
            <a:srgbClr val="E8F0F8"/>
          </a:solidFill>
          <a:ln w="1524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288536" y="2039112"/>
            <a:ext cx="411480" cy="41148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88536" y="2057400"/>
            <a:ext cx="411480" cy="365760"/>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600" b="1" i="0">
                <a:solidFill>
                  <a:srgbClr val="FFFFFF"/>
                </a:solidFill>
                <a:latin typeface="Calibri"/>
              </a:rPr>
              <a:t>3</a:t>
            </a:r>
          </a:p>
        </p:txBody>
      </p:sp>
      <p:sp>
        <p:nvSpPr>
          <p:cNvPr id="18" name="TextBox 17"/>
          <p:cNvSpPr txBox="1"/>
          <p:nvPr/>
        </p:nvSpPr>
        <p:spPr>
          <a:xfrm>
            <a:off x="3877055" y="2587752"/>
            <a:ext cx="1234440" cy="1024128"/>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410" b="1" i="0">
                <a:solidFill>
                  <a:srgbClr val="1F2D3D"/>
                </a:solidFill>
                <a:latin typeface="Calibri"/>
              </a:rPr>
              <a:t>Redesign roles</a:t>
            </a:r>
          </a:p>
        </p:txBody>
      </p:sp>
      <p:sp>
        <p:nvSpPr>
          <p:cNvPr id="19" name="Right Arrow 18"/>
          <p:cNvSpPr/>
          <p:nvPr/>
        </p:nvSpPr>
        <p:spPr>
          <a:xfrm>
            <a:off x="5216651" y="2715768"/>
            <a:ext cx="155448" cy="228600"/>
          </a:xfrm>
          <a:prstGeom prst="rightArrow">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385816" y="1874519"/>
            <a:ext cx="1417320" cy="1920240"/>
          </a:xfrm>
          <a:prstGeom prst="roundRect">
            <a:avLst/>
          </a:prstGeom>
          <a:solidFill>
            <a:srgbClr val="E8F0F8"/>
          </a:solidFill>
          <a:ln w="1524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88736" y="2039112"/>
            <a:ext cx="411480" cy="41148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88736" y="2057400"/>
            <a:ext cx="411480" cy="365760"/>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600" b="1" i="0">
                <a:solidFill>
                  <a:srgbClr val="FFFFFF"/>
                </a:solidFill>
                <a:latin typeface="Calibri"/>
              </a:rPr>
              <a:t>4</a:t>
            </a:r>
          </a:p>
        </p:txBody>
      </p:sp>
      <p:sp>
        <p:nvSpPr>
          <p:cNvPr id="23" name="TextBox 22"/>
          <p:cNvSpPr txBox="1"/>
          <p:nvPr/>
        </p:nvSpPr>
        <p:spPr>
          <a:xfrm>
            <a:off x="5477255" y="2587752"/>
            <a:ext cx="1234440" cy="1024128"/>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410" b="1" i="0">
                <a:solidFill>
                  <a:srgbClr val="1F2D3D"/>
                </a:solidFill>
                <a:latin typeface="Calibri"/>
              </a:rPr>
              <a:t>Build oversight competence</a:t>
            </a:r>
          </a:p>
        </p:txBody>
      </p:sp>
      <p:sp>
        <p:nvSpPr>
          <p:cNvPr id="24" name="Right Arrow 23"/>
          <p:cNvSpPr/>
          <p:nvPr/>
        </p:nvSpPr>
        <p:spPr>
          <a:xfrm>
            <a:off x="6816851" y="2715768"/>
            <a:ext cx="155448" cy="228600"/>
          </a:xfrm>
          <a:prstGeom prst="rightArrow">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986016" y="1874519"/>
            <a:ext cx="1417320" cy="1920240"/>
          </a:xfrm>
          <a:prstGeom prst="roundRect">
            <a:avLst/>
          </a:prstGeom>
          <a:solidFill>
            <a:srgbClr val="E8F0F8"/>
          </a:solidFill>
          <a:ln w="1524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488936" y="2039112"/>
            <a:ext cx="411480" cy="41148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88936" y="2057400"/>
            <a:ext cx="411480" cy="365760"/>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600" b="1" i="0">
                <a:solidFill>
                  <a:srgbClr val="FFFFFF"/>
                </a:solidFill>
                <a:latin typeface="Calibri"/>
              </a:rPr>
              <a:t>5</a:t>
            </a:r>
          </a:p>
        </p:txBody>
      </p:sp>
      <p:sp>
        <p:nvSpPr>
          <p:cNvPr id="28" name="TextBox 27"/>
          <p:cNvSpPr txBox="1"/>
          <p:nvPr/>
        </p:nvSpPr>
        <p:spPr>
          <a:xfrm>
            <a:off x="7077455" y="2587752"/>
            <a:ext cx="1234440" cy="1024128"/>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410" b="1" i="0">
                <a:solidFill>
                  <a:srgbClr val="1F2D3D"/>
                </a:solidFill>
                <a:latin typeface="Calibri"/>
              </a:rPr>
              <a:t>Reskill &amp; source</a:t>
            </a:r>
          </a:p>
          <a:p>
            <a:pPr algn="ctr">
              <a:lnSpc>
                <a:spcPct val="100000"/>
              </a:lnSpc>
              <a:spcBef>
                <a:spcPts val="0"/>
              </a:spcBef>
              <a:spcAft>
                <a:spcPts val="0"/>
              </a:spcAft>
            </a:pPr>
            <a:r>
              <a:rPr sz="1410" b="1" i="0">
                <a:solidFill>
                  <a:srgbClr val="1F2D3D"/>
                </a:solidFill>
                <a:latin typeface="Calibri"/>
              </a:rPr>
              <a:t>(build/buy/borrow)</a:t>
            </a:r>
          </a:p>
        </p:txBody>
      </p:sp>
      <p:sp>
        <p:nvSpPr>
          <p:cNvPr id="29" name="Right Arrow 28"/>
          <p:cNvSpPr/>
          <p:nvPr/>
        </p:nvSpPr>
        <p:spPr>
          <a:xfrm>
            <a:off x="8417052" y="2715768"/>
            <a:ext cx="155448" cy="228600"/>
          </a:xfrm>
          <a:prstGeom prst="rightArrow">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586216" y="1874519"/>
            <a:ext cx="1417320" cy="1920240"/>
          </a:xfrm>
          <a:prstGeom prst="roundRect">
            <a:avLst/>
          </a:prstGeom>
          <a:solidFill>
            <a:srgbClr val="E8F0F8"/>
          </a:solidFill>
          <a:ln w="1524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089136" y="2039112"/>
            <a:ext cx="411480" cy="41148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89136" y="2057400"/>
            <a:ext cx="411480" cy="365760"/>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600" b="1" i="0">
                <a:solidFill>
                  <a:srgbClr val="FFFFFF"/>
                </a:solidFill>
                <a:latin typeface="Calibri"/>
              </a:rPr>
              <a:t>6</a:t>
            </a:r>
          </a:p>
        </p:txBody>
      </p:sp>
      <p:sp>
        <p:nvSpPr>
          <p:cNvPr id="33" name="TextBox 32"/>
          <p:cNvSpPr txBox="1"/>
          <p:nvPr/>
        </p:nvSpPr>
        <p:spPr>
          <a:xfrm>
            <a:off x="8677656" y="2587752"/>
            <a:ext cx="1234440" cy="1024128"/>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410" b="1" i="0">
                <a:solidFill>
                  <a:srgbClr val="1F2D3D"/>
                </a:solidFill>
                <a:latin typeface="Calibri"/>
              </a:rPr>
              <a:t>Secure trust &amp; adoption</a:t>
            </a:r>
          </a:p>
        </p:txBody>
      </p:sp>
      <p:sp>
        <p:nvSpPr>
          <p:cNvPr id="34" name="Right Arrow 33"/>
          <p:cNvSpPr/>
          <p:nvPr/>
        </p:nvSpPr>
        <p:spPr>
          <a:xfrm>
            <a:off x="10017252" y="2715768"/>
            <a:ext cx="155448" cy="228600"/>
          </a:xfrm>
          <a:prstGeom prst="rightArrow">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86416" y="1874519"/>
            <a:ext cx="1417320" cy="1920240"/>
          </a:xfrm>
          <a:prstGeom prst="roundRect">
            <a:avLst/>
          </a:prstGeom>
          <a:solidFill>
            <a:srgbClr val="E8F0F8"/>
          </a:solidFill>
          <a:ln w="1524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689336" y="2039112"/>
            <a:ext cx="411480" cy="411480"/>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89336" y="2057400"/>
            <a:ext cx="411480" cy="365760"/>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600" b="1" i="0">
                <a:solidFill>
                  <a:srgbClr val="FFFFFF"/>
                </a:solidFill>
                <a:latin typeface="Calibri"/>
              </a:rPr>
              <a:t>7</a:t>
            </a:r>
          </a:p>
        </p:txBody>
      </p:sp>
      <p:sp>
        <p:nvSpPr>
          <p:cNvPr id="38" name="TextBox 37"/>
          <p:cNvSpPr txBox="1"/>
          <p:nvPr/>
        </p:nvSpPr>
        <p:spPr>
          <a:xfrm>
            <a:off x="10277856" y="2587752"/>
            <a:ext cx="1234440" cy="1024128"/>
          </a:xfrm>
          <a:prstGeom prst="rect">
            <a:avLst/>
          </a:prstGeom>
          <a:noFill/>
          <a:ln>
            <a:noFill/>
          </a:ln>
        </p:spPr>
        <p:txBody>
          <a:bodyPr wrap="square" anchor="ctr" lIns="18288" rIns="18288" tIns="18288" bIns="18288">
            <a:noAutofit/>
          </a:bodyPr>
          <a:lstStyle/>
          <a:p>
            <a:pPr algn="ctr">
              <a:lnSpc>
                <a:spcPct val="100000"/>
              </a:lnSpc>
              <a:spcBef>
                <a:spcPts val="0"/>
              </a:spcBef>
              <a:spcAft>
                <a:spcPts val="0"/>
              </a:spcAft>
            </a:pPr>
            <a:r>
              <a:rPr sz="1410" b="1" i="0">
                <a:solidFill>
                  <a:srgbClr val="1F2D3D"/>
                </a:solidFill>
                <a:latin typeface="Calibri"/>
              </a:rPr>
              <a:t>Lead change &amp; retain talent</a:t>
            </a:r>
          </a:p>
        </p:txBody>
      </p:sp>
      <p:sp>
        <p:nvSpPr>
          <p:cNvPr id="39" name="Rounded Rectangle 38"/>
          <p:cNvSpPr/>
          <p:nvPr/>
        </p:nvSpPr>
        <p:spPr>
          <a:xfrm>
            <a:off x="1664208" y="4105656"/>
            <a:ext cx="2962656" cy="640080"/>
          </a:xfrm>
          <a:prstGeom prst="roundRect">
            <a:avLst/>
          </a:prstGeom>
          <a:solidFill>
            <a:srgbClr val="F4F5F6"/>
          </a:solidFill>
          <a:ln w="1397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92224" y="4169663"/>
            <a:ext cx="2706624" cy="512064"/>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400" b="1" i="0">
                <a:solidFill>
                  <a:srgbClr val="1F2D3D"/>
                </a:solidFill>
                <a:latin typeface="Calibri"/>
              </a:rPr>
              <a:t>Knowledge capture before restructuring</a:t>
            </a:r>
          </a:p>
        </p:txBody>
      </p:sp>
      <p:cxnSp>
        <p:nvCxnSpPr>
          <p:cNvPr id="41" name="Connector 40"/>
          <p:cNvCxnSpPr/>
          <p:nvPr/>
        </p:nvCxnSpPr>
        <p:spPr>
          <a:xfrm flipV="1">
            <a:off x="3145536" y="3813048"/>
            <a:ext cx="0" cy="292608"/>
          </a:xfrm>
          <a:prstGeom prst="line">
            <a:avLst/>
          </a:prstGeom>
          <a:ln w="17780">
            <a:solidFill>
              <a:srgbClr val="1B4F8A"/>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40080" y="5093208"/>
            <a:ext cx="10927080" cy="667512"/>
          </a:xfrm>
          <a:prstGeom prst="roundRect">
            <a:avLst/>
          </a:prstGeom>
          <a:solidFill>
            <a:srgbClr val="F4F5F6"/>
          </a:solidFill>
          <a:ln w="12700">
            <a:solidFill>
              <a:srgbClr val="CF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2" y="5175504"/>
            <a:ext cx="10607040" cy="502920"/>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420" b="1" i="0">
                <a:solidFill>
                  <a:srgbClr val="444A52"/>
                </a:solidFill>
                <a:latin typeface="Calibri"/>
              </a:rPr>
              <a:t>Enablers: data quality &amp; lineage • clear accountability mapping • continuous monitoring</a:t>
            </a:r>
          </a:p>
        </p:txBody>
      </p:sp>
      <p:sp>
        <p:nvSpPr>
          <p:cNvPr id="44" name="Up Arrow 43"/>
          <p:cNvSpPr/>
          <p:nvPr/>
        </p:nvSpPr>
        <p:spPr>
          <a:xfrm>
            <a:off x="3044952" y="3794760"/>
            <a:ext cx="201168" cy="310896"/>
          </a:xfrm>
          <a:prstGeom prst="upArrow">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640080" y="393192"/>
            <a:ext cx="10927080" cy="56692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2600" b="1" i="0">
                <a:solidFill>
                  <a:srgbClr val="1F2D3D"/>
                </a:solidFill>
                <a:latin typeface="Calibri"/>
              </a:rPr>
              <a:t>Conclusions &amp; next steps</a:t>
            </a:r>
          </a:p>
        </p:txBody>
      </p:sp>
      <p:sp>
        <p:nvSpPr>
          <p:cNvPr id="3" name="Rectangle 2"/>
          <p:cNvSpPr/>
          <p:nvPr/>
        </p:nvSpPr>
        <p:spPr>
          <a:xfrm>
            <a:off x="640080" y="1133856"/>
            <a:ext cx="10927080" cy="32004"/>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 number"/>
          <p:cNvSpPr txBox="1"/>
          <p:nvPr/>
        </p:nvSpPr>
        <p:spPr>
          <a:xfrm>
            <a:off x="11109960" y="6419088"/>
            <a:ext cx="438912" cy="219456"/>
          </a:xfrm>
          <a:prstGeom prst="rect">
            <a:avLst/>
          </a:prstGeom>
          <a:noFill/>
          <a:ln>
            <a:noFill/>
          </a:ln>
        </p:spPr>
        <p:txBody>
          <a:bodyPr wrap="square" anchor="ctr" lIns="0" rIns="0" tIns="0" bIns="0">
            <a:noAutofit/>
          </a:bodyPr>
          <a:lstStyle/>
          <a:p>
            <a:pPr algn="r">
              <a:lnSpc>
                <a:spcPct val="100000"/>
              </a:lnSpc>
              <a:spcBef>
                <a:spcPts val="0"/>
              </a:spcBef>
              <a:spcAft>
                <a:spcPts val="0"/>
              </a:spcAft>
            </a:pPr>
            <a:r>
              <a:rPr sz="1100" b="0" i="0">
                <a:solidFill>
                  <a:srgbClr val="444A52"/>
                </a:solidFill>
                <a:latin typeface="Calibri"/>
              </a:rPr>
              <a:t>9</a:t>
            </a:r>
          </a:p>
        </p:txBody>
      </p:sp>
      <p:sp>
        <p:nvSpPr>
          <p:cNvPr id="5" name="TextBox 4"/>
          <p:cNvSpPr txBox="1"/>
          <p:nvPr/>
        </p:nvSpPr>
        <p:spPr>
          <a:xfrm>
            <a:off x="713232" y="1389888"/>
            <a:ext cx="5166360" cy="36576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800" b="1" i="0">
                <a:solidFill>
                  <a:srgbClr val="1F2D3D"/>
                </a:solidFill>
                <a:latin typeface="Calibri"/>
              </a:rPr>
              <a:t>Conclusions</a:t>
            </a:r>
          </a:p>
        </p:txBody>
      </p:sp>
      <p:sp>
        <p:nvSpPr>
          <p:cNvPr id="6" name="Oval 5"/>
          <p:cNvSpPr/>
          <p:nvPr/>
        </p:nvSpPr>
        <p:spPr>
          <a:xfrm>
            <a:off x="749808" y="1993392"/>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47088"/>
            <a:ext cx="4910328" cy="74980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00" b="0" i="0">
                <a:solidFill>
                  <a:srgbClr val="444A52"/>
                </a:solidFill>
                <a:latin typeface="Calibri"/>
              </a:rPr>
              <a:t>Routine GRC work automated first; judgement work augmented (P1 supported)</a:t>
            </a:r>
          </a:p>
        </p:txBody>
      </p:sp>
      <p:sp>
        <p:nvSpPr>
          <p:cNvPr id="8" name="Oval 7"/>
          <p:cNvSpPr/>
          <p:nvPr/>
        </p:nvSpPr>
        <p:spPr>
          <a:xfrm>
            <a:off x="749808" y="2825496"/>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79192"/>
            <a:ext cx="4910328" cy="74980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00" b="0" i="0">
                <a:solidFill>
                  <a:srgbClr val="444A52"/>
                </a:solidFill>
                <a:latin typeface="Calibri"/>
              </a:rPr>
              <a:t>Regulation makes competence and oversight mandatory, but practice lags (P2)</a:t>
            </a:r>
          </a:p>
        </p:txBody>
      </p:sp>
      <p:sp>
        <p:nvSpPr>
          <p:cNvPr id="10" name="Oval 9"/>
          <p:cNvSpPr/>
          <p:nvPr/>
        </p:nvSpPr>
        <p:spPr>
          <a:xfrm>
            <a:off x="749808" y="3657600"/>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511296"/>
            <a:ext cx="4910328" cy="74980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00" b="0" i="0">
                <a:solidFill>
                  <a:srgbClr val="444A52"/>
                </a:solidFill>
                <a:latin typeface="Calibri"/>
              </a:rPr>
              <a:t>Hybrid technical + domain skills are now essential (P3)</a:t>
            </a:r>
          </a:p>
        </p:txBody>
      </p:sp>
      <p:sp>
        <p:nvSpPr>
          <p:cNvPr id="12" name="Oval 11"/>
          <p:cNvSpPr/>
          <p:nvPr/>
        </p:nvSpPr>
        <p:spPr>
          <a:xfrm>
            <a:off x="749808" y="4489704"/>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43400"/>
            <a:ext cx="4910328" cy="74980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00" b="0" i="0">
                <a:solidFill>
                  <a:srgbClr val="444A52"/>
                </a:solidFill>
                <a:latin typeface="Calibri"/>
              </a:rPr>
              <a:t>Knowledge loss is a material, under-recognised risk (P4)</a:t>
            </a:r>
          </a:p>
        </p:txBody>
      </p:sp>
      <p:sp>
        <p:nvSpPr>
          <p:cNvPr id="14" name="TextBox 13"/>
          <p:cNvSpPr txBox="1"/>
          <p:nvPr/>
        </p:nvSpPr>
        <p:spPr>
          <a:xfrm>
            <a:off x="6172200" y="1389888"/>
            <a:ext cx="5303520" cy="365760"/>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800" b="1" i="0">
                <a:solidFill>
                  <a:srgbClr val="1F2D3D"/>
                </a:solidFill>
                <a:latin typeface="Calibri"/>
              </a:rPr>
              <a:t>Work to be done</a:t>
            </a:r>
          </a:p>
        </p:txBody>
      </p:sp>
      <p:sp>
        <p:nvSpPr>
          <p:cNvPr id="15" name="Oval 14"/>
          <p:cNvSpPr/>
          <p:nvPr/>
        </p:nvSpPr>
        <p:spPr>
          <a:xfrm>
            <a:off x="6199632" y="1993392"/>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5664" y="1847088"/>
            <a:ext cx="5047488" cy="74980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00" b="0" i="0">
                <a:solidFill>
                  <a:srgbClr val="444A52"/>
                </a:solidFill>
                <a:latin typeface="Calibri"/>
              </a:rPr>
              <a:t>Additional respondents: compliance, financial crime, HR</a:t>
            </a:r>
          </a:p>
        </p:txBody>
      </p:sp>
      <p:sp>
        <p:nvSpPr>
          <p:cNvPr id="17" name="Oval 16"/>
          <p:cNvSpPr/>
          <p:nvPr/>
        </p:nvSpPr>
        <p:spPr>
          <a:xfrm>
            <a:off x="6199632" y="2825496"/>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679192"/>
            <a:ext cx="5047488" cy="74980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00" b="0" i="0">
                <a:solidFill>
                  <a:srgbClr val="444A52"/>
                </a:solidFill>
                <a:latin typeface="Calibri"/>
              </a:rPr>
              <a:t>Reliability (Cronbach's alpha) and Wilcoxon tests on final data</a:t>
            </a:r>
          </a:p>
        </p:txBody>
      </p:sp>
      <p:sp>
        <p:nvSpPr>
          <p:cNvPr id="19" name="Oval 18"/>
          <p:cNvSpPr/>
          <p:nvPr/>
        </p:nvSpPr>
        <p:spPr>
          <a:xfrm>
            <a:off x="6199632" y="3657600"/>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3511296"/>
            <a:ext cx="5047488" cy="74980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00" b="0" i="0">
                <a:solidFill>
                  <a:srgbClr val="444A52"/>
                </a:solidFill>
                <a:latin typeface="Calibri"/>
              </a:rPr>
              <a:t>Anonymised analysis of bank disclosures</a:t>
            </a:r>
          </a:p>
        </p:txBody>
      </p:sp>
      <p:sp>
        <p:nvSpPr>
          <p:cNvPr id="21" name="Oval 20"/>
          <p:cNvSpPr/>
          <p:nvPr/>
        </p:nvSpPr>
        <p:spPr>
          <a:xfrm>
            <a:off x="6199632" y="4489704"/>
            <a:ext cx="100584" cy="100584"/>
          </a:xfrm>
          <a:prstGeom prst="ellipse">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4343400"/>
            <a:ext cx="5047488" cy="749808"/>
          </a:xfrm>
          <a:prstGeom prst="rect">
            <a:avLst/>
          </a:prstGeom>
          <a:noFill/>
          <a:ln>
            <a:noFill/>
          </a:ln>
        </p:spPr>
        <p:txBody>
          <a:bodyPr wrap="square" anchor="ctr" lIns="0" rIns="0" tIns="0" bIns="0">
            <a:noAutofit/>
          </a:bodyPr>
          <a:lstStyle/>
          <a:p>
            <a:pPr algn="l">
              <a:lnSpc>
                <a:spcPct val="100000"/>
              </a:lnSpc>
              <a:spcBef>
                <a:spcPts val="0"/>
              </a:spcBef>
              <a:spcAft>
                <a:spcPts val="0"/>
              </a:spcAft>
            </a:pPr>
            <a:r>
              <a:rPr sz="1600" b="0" i="0">
                <a:solidFill>
                  <a:srgbClr val="444A52"/>
                </a:solidFill>
                <a:latin typeface="Calibri"/>
              </a:rPr>
              <a:t>Validate framework; final report by 26 Oct 2026</a:t>
            </a:r>
          </a:p>
        </p:txBody>
      </p:sp>
      <p:sp>
        <p:nvSpPr>
          <p:cNvPr id="23" name="TextBox 22"/>
          <p:cNvSpPr txBox="1"/>
          <p:nvPr/>
        </p:nvSpPr>
        <p:spPr>
          <a:xfrm>
            <a:off x="731520" y="5632704"/>
            <a:ext cx="10835640" cy="493776"/>
          </a:xfrm>
          <a:prstGeom prst="rect">
            <a:avLst/>
          </a:prstGeom>
          <a:noFill/>
          <a:ln>
            <a:noFill/>
          </a:ln>
        </p:spPr>
        <p:txBody>
          <a:bodyPr wrap="square" anchor="ctr" lIns="0" rIns="0" tIns="0" bIns="0">
            <a:noAutofit/>
          </a:bodyPr>
          <a:lstStyle/>
          <a:p>
            <a:pPr algn="ctr">
              <a:lnSpc>
                <a:spcPct val="100000"/>
              </a:lnSpc>
              <a:spcBef>
                <a:spcPts val="0"/>
              </a:spcBef>
              <a:spcAft>
                <a:spcPts val="0"/>
              </a:spcAft>
            </a:pPr>
            <a:r>
              <a:rPr sz="1900" b="1" i="0">
                <a:solidFill>
                  <a:srgbClr val="1B4F8A"/>
                </a:solidFill>
                <a:latin typeface="Calibr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108</TotalTime>
  <Words>1772</Words>
  <Application>Microsoft Office PowerPoint</Application>
  <PresentationFormat>Widescreen</PresentationFormat>
  <Paragraphs>96</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Deep Dreamer</cp:lastModifiedBy>
  <cp:revision>5</cp:revision>
  <dcterms:created xsi:type="dcterms:W3CDTF">2013-01-27T09:14:16Z</dcterms:created>
  <dcterms:modified xsi:type="dcterms:W3CDTF">2026-08-22T06:16:09Z</dcterms:modified>
  <cp:category/>
</cp:coreProperties>
</file>